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2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3.png"/><Relationship Id="rId6" Type="http://schemas.openxmlformats.org/officeDocument/2006/relationships/image" Target="../media/image-2-6.png"/><Relationship Id="rId7" Type="http://schemas.openxmlformats.org/officeDocument/2006/relationships/image" Target="../media/image-2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58921499-5e30-5e49-a717-63e63c139736/scratchpad/gvsu_deck/orb_teal.png">    </p:cNvPr>
          <p:cNvPicPr>
            <a:picLocks noChangeAspect="1"/>
          </p:cNvPicPr>
          <p:nvPr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10698480" y="-1005840"/>
            <a:ext cx="2743200" cy="2743200"/>
          </a:xfrm>
          <a:prstGeom prst="rect">
            <a:avLst/>
          </a:prstGeom>
        </p:spPr>
      </p:pic>
      <p:pic>
        <p:nvPicPr>
          <p:cNvPr id="3" name="Image 1" descr="/tmp/claude-0/-home-claude/58921499-5e30-5e49-a717-63e63c139736/scratchpad/gvsu_deck/orb_link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-1188720" y="5394960"/>
            <a:ext cx="2377440" cy="23774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8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F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VALLEY STATE UNIVERSITY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640080" y="231343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3DD1CC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40080" y="231343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3D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SLIDE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621792" y="26517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Trust, But Verify</a:t>
            </a:r>
            <a:endParaRPr lang="en-US" sz="5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3657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&amp; Correction of LLM Hallucinations in Automotive AI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Thesis Defense  •  Paper #465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5074920"/>
            <a:ext cx="7863840" cy="1051560"/>
          </a:xfrm>
          <a:prstGeom prst="roundRect">
            <a:avLst>
              <a:gd name="adj" fmla="val 10435"/>
            </a:avLst>
          </a:prstGeom>
          <a:solidFill>
            <a:srgbClr val="141A4A"/>
          </a:solidFill>
          <a:ln w="12700">
            <a:solidFill>
              <a:srgbClr val="2A3373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914400" y="507492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Jaweher Hichri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B9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 Dr. Sameh Mansour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E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Valley State University</a:t>
            </a:r>
            <a:endParaRPr lang="en-US" sz="1600" dirty="0"/>
          </a:p>
        </p:txBody>
      </p:sp>
      <p:pic>
        <p:nvPicPr>
          <p:cNvPr id="14" name="Image 2" descr="/tmp/claude-0/-home-claude/58921499-5e30-5e49-a717-63e63c139736/scratchpad/gvsu_deck/orb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5166360"/>
            <a:ext cx="868680" cy="868680"/>
          </a:xfrm>
          <a:prstGeom prst="rect">
            <a:avLst/>
          </a:prstGeom>
        </p:spPr>
      </p:pic>
      <p:pic>
        <p:nvPicPr>
          <p:cNvPr id="15" name="Image 3" descr="/tmp/claude-0/-home-claude/58921499-5e30-5e49-a717-63e63c139736/scratchpad/gvsu_deck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5615" y="5287975"/>
            <a:ext cx="625450" cy="625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Thesis Defense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MOTIVATION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AI Sounds Sure — But Isn't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are entering safety-critical engineering work. They can also be confidently wrong.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3453384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10" name="Image 0" descr="/tmp/claude-0/-home-claude/58921499-5e30-5e49-a717-63e63c139736/scratchpad/gvsu_deck/orb_midn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876" y="2404872"/>
            <a:ext cx="621792" cy="621792"/>
          </a:xfrm>
          <a:prstGeom prst="rect">
            <a:avLst/>
          </a:prstGeom>
        </p:spPr>
      </p:pic>
      <p:pic>
        <p:nvPicPr>
          <p:cNvPr id="11" name="Image 1" descr="/tmp/claude-0/-home-claude/58921499-5e30-5e49-a717-63e63c139736/scratchpad/gvsu_deck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927" y="2491923"/>
            <a:ext cx="447690" cy="4476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22960" y="3200400"/>
            <a:ext cx="308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447288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trike="sngStrike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Vehicle.Motor.Velocity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023360"/>
            <a:ext cx="308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2702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Vehicle.Speed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367784" y="2148840"/>
            <a:ext cx="3453384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17" name="Image 2" descr="/tmp/claude-0/-home-claude/58921499-5e30-5e49-a717-63e63c139736/scratchpad/gvsu_deck/orb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3580" y="2404872"/>
            <a:ext cx="621792" cy="621792"/>
          </a:xfrm>
          <a:prstGeom prst="rect">
            <a:avLst/>
          </a:prstGeom>
        </p:spPr>
      </p:pic>
      <p:pic>
        <p:nvPicPr>
          <p:cNvPr id="18" name="Image 3" descr="/tmp/claude-0/-home-claude/58921499-5e30-5e49-a717-63e63c139736/scratchpad/gvsu_deck/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631" y="2491923"/>
            <a:ext cx="447690" cy="44769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550664" y="3200400"/>
            <a:ext cx="308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4550664" y="3447288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trike="sngStrike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 Latency, Fabricated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4550664" y="4023360"/>
            <a:ext cx="308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4550664" y="42702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such spec exists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8095488" y="2148840"/>
            <a:ext cx="3453384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24" name="Image 4" descr="/tmp/claude-0/-home-claude/58921499-5e30-5e49-a717-63e63c139736/scratchpad/gvsu_deck/orb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1284" y="2404872"/>
            <a:ext cx="621792" cy="621792"/>
          </a:xfrm>
          <a:prstGeom prst="rect">
            <a:avLst/>
          </a:prstGeom>
        </p:spPr>
      </p:pic>
      <p:pic>
        <p:nvPicPr>
          <p:cNvPr id="25" name="Image 5" descr="/tmp/claude-0/-home-claude/58921499-5e30-5e49-a717-63e63c139736/scratchpad/gvsu_deck/warn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8335" y="2491923"/>
            <a:ext cx="447690" cy="44769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278368" y="3200400"/>
            <a:ext cx="308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8278368" y="3447288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trike="sngStrike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 Z</a:t>
            </a:r>
            <a:endParaRPr lang="en-US" sz="1350" dirty="0"/>
          </a:p>
        </p:txBody>
      </p:sp>
      <p:sp>
        <p:nvSpPr>
          <p:cNvPr id="28" name="Text 20"/>
          <p:cNvSpPr txBox="1"/>
          <p:nvPr/>
        </p:nvSpPr>
        <p:spPr>
          <a:xfrm>
            <a:off x="8278368" y="4023360"/>
            <a:ext cx="3087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D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8278368" y="42702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A – D exist</a:t>
            </a:r>
            <a:endParaRPr lang="en-US" sz="1500" dirty="0"/>
          </a:p>
        </p:txBody>
      </p:sp>
      <p:sp>
        <p:nvSpPr>
          <p:cNvPr id="30" name="Shape 22"/>
          <p:cNvSpPr/>
          <p:nvPr/>
        </p:nvSpPr>
        <p:spPr>
          <a:xfrm>
            <a:off x="640080" y="5029200"/>
            <a:ext cx="10908792" cy="1051560"/>
          </a:xfrm>
          <a:prstGeom prst="roundRect">
            <a:avLst>
              <a:gd name="adj" fmla="val 10435"/>
            </a:avLst>
          </a:prstGeom>
          <a:solidFill>
            <a:srgbClr val="0C1450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31" name="Text 23"/>
          <p:cNvSpPr txBox="1"/>
          <p:nvPr/>
        </p:nvSpPr>
        <p:spPr>
          <a:xfrm>
            <a:off x="1005840" y="50292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35–60%</a:t>
            </a:r>
            <a:endParaRPr lang="en-US" sz="3800" dirty="0"/>
          </a:p>
        </p:txBody>
      </p:sp>
      <p:sp>
        <p:nvSpPr>
          <p:cNvPr id="32" name="Text 24"/>
          <p:cNvSpPr txBox="1"/>
          <p:nvPr/>
        </p:nvSpPr>
        <p:spPr>
          <a:xfrm>
            <a:off x="4114800" y="502920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hallucination errors with hybrid RAG systems like ours, compared to a language model alone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10195560" y="502920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[Joshi, 2025]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Thesis Defense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 AND KEY CONTRIBUTIONS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Causal Taxonomy. Two Gaps Remain.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16642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 et al., 2022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848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/ Extrinsic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55448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17720" y="16642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Huang et al., 2024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0848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Factuality / Faithfulness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155448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0C1450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58200" y="16642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 / Reasoning-Driven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20848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— this work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15544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15544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" y="2697480"/>
            <a:ext cx="52578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20" name="Image 0" descr="/tmp/claude-0/-home-claude/58921499-5e30-5e49-a717-63e63c139736/scratchpad/gvsu_deck/orb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3154680"/>
            <a:ext cx="1280160" cy="1280160"/>
          </a:xfrm>
          <a:prstGeom prst="rect">
            <a:avLst/>
          </a:prstGeom>
        </p:spPr>
      </p:pic>
      <p:pic>
        <p:nvPicPr>
          <p:cNvPr id="21" name="Image 1" descr="/tmp/claude-0/-home-claude/58921499-5e30-5e49-a717-63e63c139736/scratchpad/gvsu_deck/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262" y="3333902"/>
            <a:ext cx="921715" cy="92171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051560" y="46177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1188720" y="49834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Subdomain Gap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6217920" y="2697480"/>
            <a:ext cx="52578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25" name="Image 2" descr="/tmp/claude-0/-home-claude/58921499-5e30-5e49-a717-63e63c139736/scratchpad/gvsu_deck/orb_midn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3154680"/>
            <a:ext cx="1280160" cy="1280160"/>
          </a:xfrm>
          <a:prstGeom prst="rect">
            <a:avLst/>
          </a:prstGeom>
        </p:spPr>
      </p:pic>
      <p:pic>
        <p:nvPicPr>
          <p:cNvPr id="26" name="Image 3" descr="/tmp/claude-0/-home-claude/58921499-5e30-5e49-a717-63e63c139736/scratchpad/gvsu_deck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3102" y="3333902"/>
            <a:ext cx="921715" cy="92171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629400" y="46177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766560" y="49834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Usability Gap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Thesis Defense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 AND KEY CONTRIBUTIONS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Contributions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3456432" cy="36118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9" name="Image 0" descr="/tmp/claude-0/-home-claude/58921499-5e30-5e49-a717-63e63c139736/scratchpad/gvsu_deck/orb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6" y="2697480"/>
            <a:ext cx="914400" cy="914400"/>
          </a:xfrm>
          <a:prstGeom prst="rect">
            <a:avLst/>
          </a:prstGeom>
        </p:spPr>
      </p:pic>
      <p:pic>
        <p:nvPicPr>
          <p:cNvPr id="10" name="Image 1" descr="/tmp/claude-0/-home-claude/58921499-5e30-5e49-a717-63e63c139736/scratchpad/gvsu_deck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112" y="282549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14400" y="3840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175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papers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297680" y="2194560"/>
            <a:ext cx="3456432" cy="36118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14" name="Image 2" descr="/tmp/claude-0/-home-claude/58921499-5e30-5e49-a717-63e63c139736/scratchpad/gvsu_deck/orb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696" y="2697480"/>
            <a:ext cx="914400" cy="914400"/>
          </a:xfrm>
          <a:prstGeom prst="rect">
            <a:avLst/>
          </a:prstGeom>
        </p:spPr>
      </p:pic>
      <p:pic>
        <p:nvPicPr>
          <p:cNvPr id="15" name="Image 3" descr="/tmp/claude-0/-home-claude/58921499-5e30-5e49-a717-63e63c139736/scratchpad/gvsu_deck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2" y="2825496"/>
            <a:ext cx="658368" cy="6583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572000" y="3840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Verifier</a:t>
            </a:r>
            <a:endParaRPr lang="en-US" sz="1750" dirty="0"/>
          </a:p>
        </p:txBody>
      </p:sp>
      <p:sp>
        <p:nvSpPr>
          <p:cNvPr id="17" name="Text 11"/>
          <p:cNvSpPr txBox="1"/>
          <p:nvPr/>
        </p:nvSpPr>
        <p:spPr>
          <a:xfrm>
            <a:off x="457200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+ Dashboard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7955280" y="2194560"/>
            <a:ext cx="3456432" cy="36118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19" name="Image 4" descr="/tmp/claude-0/-home-claude/58921499-5e30-5e49-a717-63e63c139736/scratchpad/gvsu_deck/orb_midn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6296" y="2697480"/>
            <a:ext cx="914400" cy="914400"/>
          </a:xfrm>
          <a:prstGeom prst="rect">
            <a:avLst/>
          </a:prstGeom>
        </p:spPr>
      </p:pic>
      <p:pic>
        <p:nvPicPr>
          <p:cNvPr id="20" name="Image 5" descr="/tmp/claude-0/-home-claude/58921499-5e30-5e49-a717-63e63c139736/scratchpad/gvsu_deck/datab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312" y="2825496"/>
            <a:ext cx="658368" cy="65836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229600" y="3840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300-Case Corpus</a:t>
            </a:r>
            <a:endParaRPr lang="en-US" sz="1750" dirty="0"/>
          </a:p>
        </p:txBody>
      </p:sp>
      <p:sp>
        <p:nvSpPr>
          <p:cNvPr id="22" name="Text 14"/>
          <p:cNvSpPr txBox="1"/>
          <p:nvPr/>
        </p:nvSpPr>
        <p:spPr>
          <a:xfrm>
            <a:off x="822960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subdomains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Thesis Defense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METHODOLOGY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Seven-Stage Hybrid Pipeline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108813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9" name="Image 0" descr="/tmp/claude-0/-home-claude/58921499-5e30-5e49-a717-63e63c139736/scratchpad/gvsu_deck/pipeline_pa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965960"/>
            <a:ext cx="640080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5349240"/>
            <a:ext cx="254889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04672" y="5422392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5660136"/>
            <a:ext cx="22197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ms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" y="5971032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precision — 25 rules + 7 regexes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417570" y="5349240"/>
            <a:ext cx="254889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582162" y="5422392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582162" y="5660136"/>
            <a:ext cx="22197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5 ms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582162" y="5971032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retrieval, top-5 KB matches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195060" y="5349240"/>
            <a:ext cx="254889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359652" y="5422392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359652" y="5660136"/>
            <a:ext cx="22197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300–400 ms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359652" y="5971032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judge, model-agnostic (gpt-oss-120B via Groq)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972550" y="5349240"/>
            <a:ext cx="254889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9137142" y="5422392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137142" y="5660136"/>
            <a:ext cx="22197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Fusion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137142" y="5971032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rule-layer match always overrides the judge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Thesis Defense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METHODOLOGY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108813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9" name="Image 0" descr="/tmp/claude-0/-home-claude/58921499-5e30-5e49-a717-63e63c139736/scratchpad/gvsu_deck/architecture_pa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" y="1965960"/>
            <a:ext cx="9848088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534924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0C1450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960120" y="53492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FastAPI backend (Python 3.11, /verify and /history) sits between the Chrome extension and the Streamlit dashboard — the seven-stage pipeline it runs is grounded throughout by the 146-entry knowledge base, and every verdict is logged for the dashboard's live metrics.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Thesis Defense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METHODOLOGY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Truth, Fixed in Advance</a:t>
            </a:r>
            <a:endParaRPr lang="en-US" sz="3000" dirty="0"/>
          </a:p>
        </p:txBody>
      </p:sp>
      <p:pic>
        <p:nvPicPr>
          <p:cNvPr id="8" name="Image 0" descr="/tmp/claude-0/-home-claude/58921499-5e30-5e49-a717-63e63c139736/scratchpad/gvsu_deck/orb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743200"/>
            <a:ext cx="1737360" cy="1737360"/>
          </a:xfrm>
          <a:prstGeom prst="rect">
            <a:avLst/>
          </a:prstGeom>
        </p:spPr>
      </p:pic>
      <p:pic>
        <p:nvPicPr>
          <p:cNvPr id="9" name="Image 1" descr="/tmp/claude-0/-home-claude/58921499-5e30-5e49-a717-63e63c139736/scratchpad/gvsu_deck/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006" y="3160166"/>
            <a:ext cx="903427" cy="9034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 Fixed Before Any Run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212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auditable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92240" y="1783080"/>
            <a:ext cx="2423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92240" y="20116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098280" y="1783080"/>
            <a:ext cx="2423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9098280" y="20116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4000" dirty="0"/>
          </a:p>
        </p:txBody>
      </p:sp>
      <p:sp>
        <p:nvSpPr>
          <p:cNvPr id="17" name="Text 13"/>
          <p:cNvSpPr txBox="1"/>
          <p:nvPr/>
        </p:nvSpPr>
        <p:spPr>
          <a:xfrm>
            <a:off x="909828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subdomain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92240" y="3749040"/>
            <a:ext cx="2423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492240" y="39776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</a:t>
            </a:r>
            <a:endParaRPr lang="en-US" sz="4000" dirty="0"/>
          </a:p>
        </p:txBody>
      </p:sp>
      <p:sp>
        <p:nvSpPr>
          <p:cNvPr id="20" name="Text 16"/>
          <p:cNvSpPr txBox="1"/>
          <p:nvPr/>
        </p:nvSpPr>
        <p:spPr>
          <a:xfrm>
            <a:off x="6492240" y="4892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9098280" y="3749040"/>
            <a:ext cx="24231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9098280" y="39776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</a:t>
            </a:r>
            <a:endParaRPr lang="en-US" sz="4000" dirty="0"/>
          </a:p>
        </p:txBody>
      </p:sp>
      <p:sp>
        <p:nvSpPr>
          <p:cNvPr id="23" name="Text 19"/>
          <p:cNvSpPr txBox="1"/>
          <p:nvPr/>
        </p:nvSpPr>
        <p:spPr>
          <a:xfrm>
            <a:off x="9098280" y="4892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controls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Thesis Defense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Results — All 300 Cases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2240280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004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64992" y="20116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364992" y="2240280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364992" y="32004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89904" y="20116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089904" y="2240280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0.761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089904" y="32004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814816" y="20116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814816" y="2240280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0.854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8814816" y="32004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100" kern="0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C1450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0080" y="45720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 / 184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349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AF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43400" y="43891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C1450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343400" y="45720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5349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AF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46720" y="43891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C1450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046720" y="45720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C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1.26s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5349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AF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Thesis Defense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Across Subdomains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5257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by Subdomain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97480" y="2834640"/>
            <a:ext cx="2834640" cy="256032"/>
          </a:xfrm>
          <a:prstGeom prst="roundRect">
            <a:avLst>
              <a:gd name="adj" fmla="val 17857"/>
            </a:avLst>
          </a:prstGeom>
          <a:solidFill>
            <a:srgbClr val="E7EBF7"/>
          </a:solidFill>
          <a:ln/>
        </p:spPr>
      </p:sp>
      <p:sp>
        <p:nvSpPr>
          <p:cNvPr id="12" name="Shape 10"/>
          <p:cNvSpPr/>
          <p:nvPr/>
        </p:nvSpPr>
        <p:spPr>
          <a:xfrm>
            <a:off x="2697480" y="2834640"/>
            <a:ext cx="2494483" cy="256032"/>
          </a:xfrm>
          <a:prstGeom prst="roundRect">
            <a:avLst>
              <a:gd name="adj" fmla="val 17857"/>
            </a:avLst>
          </a:prstGeom>
          <a:solidFill>
            <a:srgbClr val="0032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23560" y="2788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0.880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97480" y="3566160"/>
            <a:ext cx="2834640" cy="256032"/>
          </a:xfrm>
          <a:prstGeom prst="roundRect">
            <a:avLst>
              <a:gd name="adj" fmla="val 17857"/>
            </a:avLst>
          </a:prstGeom>
          <a:solidFill>
            <a:srgbClr val="E7EBF7"/>
          </a:solidFill>
          <a:ln/>
        </p:spPr>
      </p:sp>
      <p:sp>
        <p:nvSpPr>
          <p:cNvPr id="16" name="Shape 14"/>
          <p:cNvSpPr/>
          <p:nvPr/>
        </p:nvSpPr>
        <p:spPr>
          <a:xfrm>
            <a:off x="2697480" y="3566160"/>
            <a:ext cx="2494483" cy="256032"/>
          </a:xfrm>
          <a:prstGeom prst="roundRect">
            <a:avLst>
              <a:gd name="adj" fmla="val 17857"/>
            </a:avLst>
          </a:prstGeom>
          <a:solidFill>
            <a:srgbClr val="0032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23560" y="3520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0.880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97480" y="4297680"/>
            <a:ext cx="2834640" cy="256032"/>
          </a:xfrm>
          <a:prstGeom prst="roundRect">
            <a:avLst>
              <a:gd name="adj" fmla="val 17857"/>
            </a:avLst>
          </a:prstGeom>
          <a:solidFill>
            <a:srgbClr val="E7EBF7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4297680"/>
            <a:ext cx="2381098" cy="256032"/>
          </a:xfrm>
          <a:prstGeom prst="roundRect">
            <a:avLst>
              <a:gd name="adj" fmla="val 17857"/>
            </a:avLst>
          </a:prstGeom>
          <a:solidFill>
            <a:srgbClr val="0032A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23560" y="4251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0.840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4983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97480" y="5029200"/>
            <a:ext cx="2834640" cy="256032"/>
          </a:xfrm>
          <a:prstGeom prst="roundRect">
            <a:avLst>
              <a:gd name="adj" fmla="val 17857"/>
            </a:avLst>
          </a:prstGeom>
          <a:solidFill>
            <a:srgbClr val="E7EBF7"/>
          </a:solidFill>
          <a:ln/>
        </p:spPr>
      </p:sp>
      <p:sp>
        <p:nvSpPr>
          <p:cNvPr id="24" name="Shape 22"/>
          <p:cNvSpPr/>
          <p:nvPr/>
        </p:nvSpPr>
        <p:spPr>
          <a:xfrm>
            <a:off x="2697480" y="5029200"/>
            <a:ext cx="2230862" cy="256032"/>
          </a:xfrm>
          <a:prstGeom prst="roundRect">
            <a:avLst>
              <a:gd name="adj" fmla="val 17857"/>
            </a:avLst>
          </a:prstGeom>
          <a:solidFill>
            <a:srgbClr val="0032A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23560" y="4983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1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0.787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1920240"/>
            <a:ext cx="5285232" cy="3886200"/>
          </a:xfrm>
          <a:prstGeom prst="roundRect">
            <a:avLst>
              <a:gd name="adj" fmla="val 2824"/>
            </a:avLst>
          </a:prstGeom>
          <a:solidFill>
            <a:srgbClr val="0C1450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Hybrid Matters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2788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Only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31089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0.033 recall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4114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Hybrid System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44348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0.761 recall</a:t>
            </a:r>
            <a:endParaRPr lang="en-US" sz="4200" dirty="0"/>
          </a:p>
        </p:txBody>
      </p:sp>
      <p:sp>
        <p:nvSpPr>
          <p:cNvPr id="32" name="Text 30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Thesis Defense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Honest Calibration Finding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5257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9" name="Image 0" descr="/tmp/claude-0/-home-claude/58921499-5e30-5e49-a717-63e63c139736/scratchpad/gvsu_deck/orb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2194560"/>
            <a:ext cx="868680" cy="868680"/>
          </a:xfrm>
          <a:prstGeom prst="rect">
            <a:avLst/>
          </a:prstGeom>
        </p:spPr>
      </p:pic>
      <p:pic>
        <p:nvPicPr>
          <p:cNvPr id="10" name="Image 1" descr="/tmp/claude-0/-home-claude/58921499-5e30-5e49-a717-63e63c139736/scratchpad/gvsu_deck/light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055" y="2316175"/>
            <a:ext cx="625450" cy="6254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60120" y="3200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Recalibration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960120" y="3794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 →  11 caught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960120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  →  140 caught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960120" y="5212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openly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63640" y="1920240"/>
            <a:ext cx="5285232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pic>
        <p:nvPicPr>
          <p:cNvPr id="16" name="Image 2" descr="/tmp/claude-0/-home-claude/58921499-5e30-5e49-a717-63e63c139736/scratchpad/gvsu_deck/orb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94560"/>
            <a:ext cx="777240" cy="777240"/>
          </a:xfrm>
          <a:prstGeom prst="rect">
            <a:avLst/>
          </a:prstGeom>
        </p:spPr>
      </p:pic>
      <p:pic>
        <p:nvPicPr>
          <p:cNvPr id="17" name="Image 3" descr="/tmp/claude-0/-home-claude/58921499-5e30-5e49-a717-63e63c139736/scratchpad/gvsu_deck/site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494" y="2303374"/>
            <a:ext cx="559613" cy="55961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98080" y="2286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6583680" y="32004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Fault-injected, not live-harvested cases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6583680" y="37673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Single-reviewer labels (standards-auditable)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6583680" y="43342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146-entry KB — a curated slice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583680" y="52120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dense retrieval  •  local model  •  new domains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3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Thesis Defense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53035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0032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303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0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68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Verifier Compares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0881360" cy="502920"/>
          </a:xfrm>
          <a:prstGeom prst="roundRect">
            <a:avLst>
              <a:gd name="adj" fmla="val 21818"/>
            </a:avLst>
          </a:prstGeom>
          <a:solidFill>
            <a:srgbClr val="0C1450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17520" y="1828800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143500" y="1828800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828800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2s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395460" y="1828800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Automotive-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42316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24231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SelfCheckGPT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246888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278892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check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143500" y="246888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143500" y="278892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only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246888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278892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1.5–4 s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9395460" y="246888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95460" y="278892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 only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315468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68680" y="31546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 Validation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017520" y="320040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017520" y="352044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only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5143500" y="320040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143500" y="352044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fixes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7269480" y="320040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352044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reported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9395460" y="320040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395460" y="352044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code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0080" y="388620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68680" y="38862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Naïve RAG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017520" y="393192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3017520" y="425196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reported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5143500" y="393192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143500" y="425196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reported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7269480" y="393192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425196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reported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9395460" y="393192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9395460" y="425196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0080" y="461772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EAF7F5"/>
          </a:solidFill>
          <a:ln w="12700">
            <a:solidFill>
              <a:srgbClr val="3DD1CC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868680" y="46177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Verifier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3017520" y="466344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3017520" y="498348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Reasoning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5143500" y="466344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5143500" y="498348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 scored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7269480" y="466344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7269480" y="498348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1.26 s mean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9395460" y="4663440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9395460" y="4983480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standards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SelfCheckGPT reports 91.43% recall, but on one subdomain (ADAS) at 1.5–4 s latency — a simpler, single-category task. Figures above are each measured on the original authors' own datasets, not a controlled re-run on our corpus; that re-run is planned future work.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0" y="292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GVSU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621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9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Thesis Defense  •  Paper #465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3DD1C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188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3D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DIRECTIONS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5448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Trust,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Verified.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832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speed. A grounded LLM for judgment.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18120" y="3063240"/>
            <a:ext cx="3703320" cy="3246120"/>
          </a:xfrm>
          <a:prstGeom prst="roundRect">
            <a:avLst>
              <a:gd name="adj" fmla="val 3380"/>
            </a:avLst>
          </a:prstGeom>
          <a:solidFill>
            <a:srgbClr val="141A4A"/>
          </a:solidFill>
          <a:ln w="12700">
            <a:solidFill>
              <a:srgbClr val="2A3373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92440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0.840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555480" y="33649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4069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9555480" y="41422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4846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0.761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555480" y="49194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5623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1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555480" y="56967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E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58921499-5e30-5e49-a717-63e63c139736/scratchpad/gvsu_deck/orb_teal.png">    </p:cNvPr>
          <p:cNvPicPr>
            <a:picLocks noChangeAspect="1"/>
          </p:cNvPicPr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9692640" y="-1280160"/>
            <a:ext cx="3291840" cy="3291840"/>
          </a:xfrm>
          <a:prstGeom prst="rect">
            <a:avLst/>
          </a:prstGeom>
        </p:spPr>
      </p:pic>
      <p:pic>
        <p:nvPicPr>
          <p:cNvPr id="3" name="Image 1" descr="/tmp/claude-0/-home-claude/58921499-5e30-5e49-a717-63e63c139736/scratchpad/gvsu_deck/orb_link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-1463040" y="4846320"/>
            <a:ext cx="2926080" cy="29260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2450592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3DD1CC"/>
          </a:solidFill>
          <a:ln/>
        </p:spPr>
      </p:sp>
      <p:sp>
        <p:nvSpPr>
          <p:cNvPr id="5" name="Text 1"/>
          <p:cNvSpPr txBox="1"/>
          <p:nvPr/>
        </p:nvSpPr>
        <p:spPr>
          <a:xfrm>
            <a:off x="640080" y="245059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1143000" y="2468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3D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621792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5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40080" y="4892040"/>
            <a:ext cx="7498080" cy="1234440"/>
          </a:xfrm>
          <a:prstGeom prst="roundRect">
            <a:avLst>
              <a:gd name="adj" fmla="val 8889"/>
            </a:avLst>
          </a:prstGeom>
          <a:solidFill>
            <a:srgbClr val="141A4A"/>
          </a:solidFill>
          <a:ln w="12700">
            <a:solidFill>
              <a:srgbClr val="2A3373"/>
            </a:solidFill>
            <a:prstDash val="solid"/>
          </a:ln>
          <a:effectLst>
            <a:outerShdw sx="100000" sy="100000" kx="0" ky="0" algn="bl" rotWithShape="0" blurRad="127000" dist="50800" dir="5400000">
              <a:srgbClr val="0A0A2E">
                <a:alpha val="2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914400" y="489204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Jaweher Hichri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9C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Valley State University</a:t>
            </a:r>
            <a:endParaRPr lang="en-US" sz="1500" dirty="0"/>
          </a:p>
        </p:txBody>
      </p:sp>
      <p:pic>
        <p:nvPicPr>
          <p:cNvPr id="11" name="Image 2" descr="/tmp/claude-0/-home-claude/58921499-5e30-5e49-a717-63e63c139736/scratchpad/gvsu_deck/orb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5074920"/>
            <a:ext cx="868680" cy="868680"/>
          </a:xfrm>
          <a:prstGeom prst="rect">
            <a:avLst/>
          </a:prstGeom>
        </p:spPr>
      </p:pic>
      <p:pic>
        <p:nvPicPr>
          <p:cNvPr id="12" name="Image 3" descr="/tmp/claude-0/-home-claude/58921499-5e30-5e49-a717-63e63c139736/scratchpad/gvsu_deck/comm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6975" y="5196535"/>
            <a:ext cx="625450" cy="62545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E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2026-09-05T06:11:38Z</dcterms:created>
  <dcterms:modified xsi:type="dcterms:W3CDTF">2026-09-05T06:11:38Z</dcterms:modified>
</cp:coreProperties>
</file>