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Recall %</c:v>
                </c:pt>
              </c:strCache>
            </c:strRef>
          </c:tx>
          <c:spPr>
            <a:solidFill>
              <a:srgbClr val="13205C"/>
            </a:solidFill>
            <a:effectLst/>
          </c:spPr>
          <c:invertIfNegative val="0"/>
          <c:dLbls>
            <c:numFmt formatCode="0.0&quot;%&quot;" sourceLinked="0"/>
            <c:txPr>
              <a:bodyPr/>
              <a:lstStyle/>
              <a:p>
                <a:pPr>
                  <a:defRPr b="0" i="0" strike="noStrike" sz="1200" u="none">
                    <a:solidFill>
                      <a:srgbClr val="13205C"/>
                    </a:solidFill>
                    <a:latin typeface="Arial"/>
                  </a:defRPr>
                </a:pPr>
              </a:p>
            </c:txPr>
            <c:showLegendKey val="0"/>
            <c:showVal val="1"/>
            <c:showCatName val="0"/>
            <c:showSerName val="0"/>
            <c:showPercent val="0"/>
            <c:showBubbleSize val="0"/>
            <c:showLeaderLines val="0"/>
          </c:dLbls>
          <c:dPt>
            <c:idx val="0"/>
            <c:invertIfNegative val="0"/>
            <c:bubble3D val="0"/>
            <c:spPr>
              <a:solidFill>
                <a:srgbClr val="13205C"/>
              </a:solidFill>
              <a:effectLst/>
            </c:spPr>
          </c:dPt>
          <c:dPt>
            <c:idx val="1"/>
            <c:invertIfNegative val="0"/>
            <c:bubble3D val="0"/>
            <c:spPr>
              <a:solidFill>
                <a:srgbClr val="B9C0CC"/>
              </a:solidFill>
              <a:effectLst/>
            </c:spPr>
          </c:dPt>
          <c:dPt>
            <c:idx val="2"/>
            <c:invertIfNegative val="0"/>
            <c:bubble3D val="0"/>
            <c:spPr>
              <a:solidFill>
                <a:srgbClr val="B9C0CC"/>
              </a:solidFill>
              <a:effectLst/>
            </c:spPr>
          </c:dPt>
          <c:cat>
            <c:multiLvlStrRef>
              <c:f>Sheet1!$A$2:$A$4</c:f>
              <c:multiLvlStrCache>
                <c:ptCount val="3"/>
                <c:lvl>
                  <c:pt idx="0">
                    <c:v>The Verifier</c:v>
                  </c:pt>
                  <c:pt idx="1">
                    <c:v>SelfCheckGPT</c:v>
                  </c:pt>
                  <c:pt idx="2">
                    <c:v>AST checking</c:v>
                  </c:pt>
                </c:lvl>
              </c:multiLvlStrCache>
            </c:multiLvlStrRef>
          </c:cat>
          <c:val>
            <c:numRef>
              <c:f>Sheet1!$B$2:$B$4</c:f>
              <c:numCache>
                <c:formatCode>General</c:formatCode>
                <c:ptCount val="3"/>
                <c:pt idx="0">
                  <c:v>76.1</c:v>
                </c:pt>
                <c:pt idx="1">
                  <c:v>91.43</c:v>
                </c:pt>
                <c:pt idx="2">
                  <c:v>87.6</c:v>
                </c:pt>
              </c:numCache>
            </c:numRef>
          </c:val>
        </c:ser>
        <c:dLbls>
          <c:numFmt formatCode="0.0&quot;%&quot;" sourceLinked="0"/>
          <c:txPr>
            <a:bodyPr/>
            <a:lstStyle/>
            <a:p>
              <a:pPr>
                <a:defRPr b="0" i="0" strike="noStrike" sz="1200" u="none">
                  <a:solidFill>
                    <a:srgbClr val="13205C"/>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2"/>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7EA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472"/>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everyone. I am Jaweher Hichri, presenting joint work with my co-author, Dr. Samah Mansour, from Grand Valley State University. Our paper is titled "Trust, But Verify: A Hybrid RAG System for Real-Time Detection and Correction of LLM Hallucinations in Automotive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Automotive engineers use large language models more and more. They use them to write code, understand requirements, and check standards like ISO 26262. But these models can make mistakes. They can hallucinate — they give confident, clear answers that are simply wrong. In a safety-critical field, this is a real problem.
Consider three concrete examples. A model may invent a signal path — a mistake type that Pavel et al. found in their study. A model may also give the wrong response time for a braking system. Or it may talk about "ASIL Z," a level that does not exist cz ISO 26262 only has levels A to D. Each example sounds right, but each one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where our work fits, we reviewed fourteen papers on LLM hallucination, published from 2022 to 2026. We used an existing way to sort these errors as a hallucination taxonomy. Ji et al. first split errors into two types: intrinsic and extrinsic. Huang et al. then split them into factuality and faithfulness. Zeng et al. went further and grouped errors by their cause: Data-Driven errors, where the model never learned the fact, and Reasoning-Driven errors, where the model has the right facts but reasons about them wrong. This is the same split our system is built around: a rule engine for Data-Driven errors, and a language model for Reasoning-Driven.
Only three of the fourteen papers look at automotive work directly — Pavel et al., Balu et al., and Mahawatta Dona et al. — and each one looks at just one small area.
This leaves two gaps. First, a Subdomain Gap: no study covers mechanical, electrical, software, and safety together. Second, a Usability Gap: no deployable real-time tool actually detects, tests, and fixes these errors.
Other research also shows that systems like ours — combining a knowledge base with a language model — can lower hallucination errors by 35 to 60 percent. This supported the direction we chose.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leads to our three contributions. First, the structured review itself, which makes these two gaps explicit. Second, The Verifier: a real-time detection-and-correction pipeline, delivered as a Chrome extension with a live dashboard, so it fits into the engineer's normal workflow. Third, a 300-case evaluation corpus, span all four subdomains at once.
To be precise, our contribution is not a new detection algorithm — it is a working system, built on an established hallucination taxonomy, and tested carefully.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paper sets three design goals: catch both types of error, respond in under two seconds, and stay simple, with no special training needed.
Here's how a request actually moves through the system. Stage 1 is a local, deterministic pattern layer — it scans the text against known wrong facts. Step two, the system searches our knowledge base and pulls out the five facts that match best using TF-IDF search. Stage 3 is where an LLM judge — if the rules found nothing, a language model reads those facts and checks the text — this takes about a third to half a second. Step four is decision fusion: combines both results — if the rule check already found a mistake, its answer always wins over the language model's answer. Step five scores how well the fix matches our sources, to confirm it is grounded. Steps six and seven save the result and update the live dashboard, so an engineer can see it right away.
The key design idea: deterministic checks run first and are trusted completely; the probabilistic judge only handles what survives them. This maps directly onto the two root causes of hallucination we drew from prior work: data-driven errors, where the model never learned a fact and defaults to something plausible-sounding, and reasoning-driven errors, where the model knows the right pieces but fails to connect them correctly — for example assigning ASIL D without ever checking that a hazard analysis was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this works without reliable facts behind it. The knowledge base contains 146 curated facts, drawn from six standards, including COVESA VSS, ISO 26262, SOTIF, CAN, AUTOSAR, and HaluEval patterns. Every entry is bidirectional: it states the correct fact and the common hallucinated variant, side by side, which keeps the system fast to check and easy to update as standards change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logic maps onto four physical pieces. A Chrome extension is the engineer's front door and a Streamlit dashboard is the reporting side. Both talk to a single FastAPI backend, which fans each request out to the three engines you just heard about — all grounded in the same version-controlled, six-standard knowledge base. Every verdict is logged to SQLite, which is what feeds the dashboard's live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our calibrated threshold, across all 300 cases, the system reaches 0.840 accuracy, 0.972 precision, 0.761 recall, and an F1 score of 0.854. In practical terms, it correctly identifies 140 of 184 hallucinations, with only four false alarms out of 116 correct statements. Average response time is 1.26 seconds, comfortably within our two-second target for real-time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stays strong across all four subdomains, ranging from 0.787 to 0.880, so there is no clear weak spot.
And here's the ablation that I think matters most: the rule layer alone gets 0.033 recall — essentially nothing — but zero false positives. The full pipeline, adding the LLM judge, jumps to 0.761 recall. That number answers a real question: is the hybrid design actually necessary, or could you get away with just the deterministic rules? The answer is no — the LLM judge is doing the large majority of the detection work, and the rule layer's job is precision, not coverage. In other words, the language model provides most of the detection power, and the rules exist mainly to keep the system precise.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finding is worth sharing directly. At first, our alert setting was too strict, so it only caught eleven cases. We lowered it, based on how the model actually scores things, and it then caught 140 cases. We are open about this: it's a real limitation that we found and fixed, not just a good final number we're showing you.
We also acknowledge clear limitations. Before building our formal test set, we first tried the system on real, live answers from an LLM, on common automotive questions. It gave zero false alarms — a good early sign the system doesn't over-flag correct answers. After that early check, we built our main 300-case test set ourselves, instead of only collecting cases from live use, so we could control the exact mix of hallucinated and correct examples across all four subdomains. One person did the labeling, though every label can still be checked against a public standard.
This is the same approach used by two benchmarks our evaluation is built on, HaluEval and TruthfulQA, and by Mahawatta Dona et al. in the automotive space — they also build a labeled test set from known facts, not only from live model output.
A full test on real, live hallucinated output is still future work — something we haven't done yet. Looking ahead, our next steps are: better search methods, a model that runs locally to protect data privacy, and using this same approach in other safety-critical fields besides cars.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Comparing The Verifier to other tools like SelfCheckGPT, a code-checker called AST validation, and plain RAG. Only ours catches both kinds of error, gives a checked fix, answers in under two seconds, and is built just for cars and automotive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recall is 0.76, lower than SelfCheckGPT's 0.91. But their number comes from just one small area, is slower, and is an easier task. These are two separate tests, not one shared test run on the same data. Running that shared test is planned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summary: a fast rule check stops clear, well-known mistakes right away, and a language model, grounded in our sources, catches the harder mistakes that need reasoning — both working inside the engineer's normal workflow, and tested fairly against an independent, standards-based check, not the system's own judgment.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and attention. I'd also like to thank my co-author, Dr. Sameh Mansour, and everyone who supported this work along the way. It's been a privilege to present this research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FFFFFF"/>
          </a:solidFill>
          <a:ln w="25400">
            <a:solidFill>
              <a:srgbClr val="1F4FD8"/>
            </a:solidFill>
            <a:prstDash val="solid"/>
          </a:ln>
        </p:spPr>
      </p:sp>
      <p:sp>
        <p:nvSpPr>
          <p:cNvPr id="3" name="Text 1"/>
          <p:cNvSpPr txBox="1"/>
          <p:nvPr/>
        </p:nvSpPr>
        <p:spPr>
          <a:xfrm>
            <a:off x="548640" y="502920"/>
            <a:ext cx="457200" cy="457200"/>
          </a:xfrm>
          <a:prstGeom prst="rect">
            <a:avLst/>
          </a:prstGeom>
          <a:noFill/>
          <a:ln/>
        </p:spPr>
        <p:txBody>
          <a:bodyPr wrap="square" lIns="0" tIns="0" rIns="0" bIns="0" rtlCol="0" anchor="ctr"/>
          <a:lstStyle/>
          <a:p>
            <a:pPr algn="ctr" indent="0" marL="0">
              <a:buNone/>
            </a:pPr>
            <a:r>
              <a:rPr lang="en-US" sz="1200" b="1" dirty="0">
                <a:solidFill>
                  <a:srgbClr val="1F4FD8"/>
                </a:solidFill>
                <a:latin typeface="Calibri" pitchFamily="34" charset="0"/>
                <a:ea typeface="Calibri" pitchFamily="34" charset="-122"/>
                <a:cs typeface="Calibri" pitchFamily="34" charset="-120"/>
              </a:rPr>
              <a:t>GV</a:t>
            </a:r>
            <a:endParaRPr lang="en-US" sz="1200" dirty="0"/>
          </a:p>
        </p:txBody>
      </p:sp>
      <p:sp>
        <p:nvSpPr>
          <p:cNvPr id="4" name="Text 2"/>
          <p:cNvSpPr txBox="1"/>
          <p:nvPr/>
        </p:nvSpPr>
        <p:spPr>
          <a:xfrm>
            <a:off x="1097280" y="502920"/>
            <a:ext cx="2377440" cy="457200"/>
          </a:xfrm>
          <a:prstGeom prst="rect">
            <a:avLst/>
          </a:prstGeom>
          <a:noFill/>
          <a:ln/>
        </p:spPr>
        <p:txBody>
          <a:bodyPr wrap="square" lIns="0" tIns="0" rIns="0" bIns="0" rtlCol="0" anchor="ctr"/>
          <a:lstStyle/>
          <a:p>
            <a:pPr indent="0" marL="0">
              <a:lnSpc>
                <a:spcPts val="900"/>
              </a:lnSpc>
              <a:buNone/>
            </a:pPr>
            <a:r>
              <a:rPr lang="en-US" sz="800" b="1" dirty="0">
                <a:solidFill>
                  <a:srgbClr val="13205C"/>
                </a:solidFill>
                <a:latin typeface="Calibri" pitchFamily="34" charset="0"/>
                <a:ea typeface="Calibri" pitchFamily="34" charset="-122"/>
                <a:cs typeface="Calibri" pitchFamily="34" charset="-120"/>
              </a:rPr>
              <a:t>GRAND VALLEY</a:t>
            </a:r>
            <a:endParaRPr lang="en-US" sz="800" dirty="0"/>
          </a:p>
          <a:p>
            <a:pPr indent="0" marL="0">
              <a:lnSpc>
                <a:spcPts val="900"/>
              </a:lnSpc>
              <a:buNone/>
            </a:pPr>
            <a:r>
              <a:rPr lang="en-US" sz="800" b="1" dirty="0">
                <a:solidFill>
                  <a:srgbClr val="13205C"/>
                </a:solidFill>
                <a:latin typeface="Calibri" pitchFamily="34" charset="0"/>
                <a:ea typeface="Calibri" pitchFamily="34" charset="-122"/>
                <a:cs typeface="Calibri" pitchFamily="34" charset="-120"/>
              </a:rPr>
              <a:t>STATE UNIVERSITY</a:t>
            </a:r>
            <a:endParaRPr lang="en-US" sz="800" dirty="0"/>
          </a:p>
        </p:txBody>
      </p:sp>
      <p:sp>
        <p:nvSpPr>
          <p:cNvPr id="5" name="Shape 3"/>
          <p:cNvSpPr/>
          <p:nvPr/>
        </p:nvSpPr>
        <p:spPr>
          <a:xfrm>
            <a:off x="10881360" y="411480"/>
            <a:ext cx="822960" cy="822960"/>
          </a:xfrm>
          <a:prstGeom prst="ellipse">
            <a:avLst/>
          </a:prstGeom>
          <a:solidFill>
            <a:srgbClr val="FFFFFF"/>
          </a:solidFill>
          <a:ln w="19050">
            <a:solidFill>
              <a:srgbClr val="13205C"/>
            </a:solidFill>
            <a:prstDash val="solid"/>
          </a:ln>
        </p:spPr>
      </p:sp>
      <p:sp>
        <p:nvSpPr>
          <p:cNvPr id="6" name="Text 4"/>
          <p:cNvSpPr txBox="1"/>
          <p:nvPr/>
        </p:nvSpPr>
        <p:spPr>
          <a:xfrm>
            <a:off x="10881360" y="411480"/>
            <a:ext cx="822960" cy="822960"/>
          </a:xfrm>
          <a:prstGeom prst="rect">
            <a:avLst/>
          </a:prstGeom>
          <a:noFill/>
          <a:ln/>
        </p:spPr>
        <p:txBody>
          <a:bodyPr wrap="square" lIns="0" tIns="0" rIns="0" bIns="0" rtlCol="0" anchor="ctr"/>
          <a:lstStyle/>
          <a:p>
            <a:pPr algn="ctr" indent="0" marL="0">
              <a:lnSpc>
                <a:spcPts val="900"/>
              </a:lnSpc>
              <a:buNone/>
            </a:pPr>
            <a:r>
              <a:rPr lang="en-US" sz="800" b="1" dirty="0">
                <a:solidFill>
                  <a:srgbClr val="13205C"/>
                </a:solidFill>
                <a:latin typeface="Calibri" pitchFamily="34" charset="0"/>
                <a:ea typeface="Calibri" pitchFamily="34" charset="-122"/>
                <a:cs typeface="Calibri" pitchFamily="34" charset="-120"/>
              </a:rPr>
              <a:t>AIB</a:t>
            </a:r>
            <a:endParaRPr lang="en-US" sz="800" dirty="0"/>
          </a:p>
          <a:p>
            <a:pPr algn="ctr" indent="0" marL="0">
              <a:lnSpc>
                <a:spcPts val="900"/>
              </a:lnSpc>
              <a:buNone/>
            </a:pPr>
            <a:r>
              <a:rPr lang="en-US" sz="800" b="1" dirty="0">
                <a:solidFill>
                  <a:srgbClr val="13205C"/>
                </a:solidFill>
                <a:latin typeface="Calibri" pitchFamily="34" charset="0"/>
                <a:ea typeface="Calibri" pitchFamily="34" charset="-122"/>
                <a:cs typeface="Calibri" pitchFamily="34" charset="-120"/>
              </a:rPr>
              <a:t>THINGS</a:t>
            </a:r>
            <a:endParaRPr lang="en-US" sz="800" dirty="0"/>
          </a:p>
        </p:txBody>
      </p:sp>
      <p:sp>
        <p:nvSpPr>
          <p:cNvPr id="7" name="Text 5"/>
          <p:cNvSpPr txBox="1"/>
          <p:nvPr/>
        </p:nvSpPr>
        <p:spPr>
          <a:xfrm>
            <a:off x="0" y="1737360"/>
            <a:ext cx="12191695" cy="320040"/>
          </a:xfrm>
          <a:prstGeom prst="rect">
            <a:avLst/>
          </a:prstGeom>
          <a:noFill/>
          <a:ln/>
        </p:spPr>
        <p:txBody>
          <a:bodyPr wrap="square" lIns="0" tIns="0" rIns="0" bIns="0" rtlCol="0" anchor="ctr"/>
          <a:lstStyle/>
          <a:p>
            <a:pPr algn="ctr" indent="0" marL="0">
              <a:buNone/>
            </a:pPr>
            <a:r>
              <a:rPr lang="en-US" sz="1200" b="1" spc="200" kern="0" dirty="0">
                <a:solidFill>
                  <a:srgbClr val="5B6472"/>
                </a:solidFill>
                <a:latin typeface="Calibri" pitchFamily="34" charset="0"/>
                <a:ea typeface="Calibri" pitchFamily="34" charset="-122"/>
                <a:cs typeface="Calibri" pitchFamily="34" charset="-120"/>
              </a:rPr>
              <a:t>AIBTHINGS 2026  •  PAPER #465</a:t>
            </a:r>
            <a:endParaRPr lang="en-US" sz="1200" dirty="0"/>
          </a:p>
        </p:txBody>
      </p:sp>
      <p:sp>
        <p:nvSpPr>
          <p:cNvPr id="8" name="Shape 6"/>
          <p:cNvSpPr/>
          <p:nvPr/>
        </p:nvSpPr>
        <p:spPr>
          <a:xfrm>
            <a:off x="1005840" y="2148840"/>
            <a:ext cx="640080" cy="1234440"/>
          </a:xfrm>
          <a:prstGeom prst="rect">
            <a:avLst/>
          </a:prstGeom>
          <a:solidFill>
            <a:srgbClr val="13205C"/>
          </a:solidFill>
          <a:ln/>
        </p:spPr>
      </p:sp>
      <p:sp>
        <p:nvSpPr>
          <p:cNvPr id="9" name="Shape 7"/>
          <p:cNvSpPr/>
          <p:nvPr/>
        </p:nvSpPr>
        <p:spPr>
          <a:xfrm>
            <a:off x="10545775" y="2148840"/>
            <a:ext cx="640080" cy="1234440"/>
          </a:xfrm>
          <a:prstGeom prst="rect">
            <a:avLst/>
          </a:prstGeom>
          <a:solidFill>
            <a:srgbClr val="13205C"/>
          </a:solidFill>
          <a:ln/>
        </p:spPr>
      </p:sp>
      <p:sp>
        <p:nvSpPr>
          <p:cNvPr id="10" name="Text 8"/>
          <p:cNvSpPr txBox="1"/>
          <p:nvPr/>
        </p:nvSpPr>
        <p:spPr>
          <a:xfrm>
            <a:off x="1645920" y="2148840"/>
            <a:ext cx="8899855" cy="914400"/>
          </a:xfrm>
          <a:prstGeom prst="rect">
            <a:avLst/>
          </a:prstGeom>
          <a:noFill/>
          <a:ln/>
        </p:spPr>
        <p:txBody>
          <a:bodyPr wrap="square" lIns="0" tIns="0" rIns="0" bIns="0" rtlCol="0" anchor="ctr"/>
          <a:lstStyle/>
          <a:p>
            <a:pPr algn="ctr" indent="0" marL="0">
              <a:buNone/>
            </a:pPr>
            <a:r>
              <a:rPr lang="en-US" sz="4800" b="1" dirty="0">
                <a:solidFill>
                  <a:srgbClr val="1E49E2"/>
                </a:solidFill>
                <a:latin typeface="Cambria" pitchFamily="34" charset="0"/>
                <a:ea typeface="Cambria" pitchFamily="34" charset="-122"/>
                <a:cs typeface="Cambria" pitchFamily="34" charset="-120"/>
              </a:rPr>
              <a:t>TRUST, BUT VERIFY</a:t>
            </a:r>
            <a:endParaRPr lang="en-US" sz="4800" dirty="0"/>
          </a:p>
        </p:txBody>
      </p:sp>
      <p:sp>
        <p:nvSpPr>
          <p:cNvPr id="11" name="Text 9"/>
          <p:cNvSpPr txBox="1"/>
          <p:nvPr/>
        </p:nvSpPr>
        <p:spPr>
          <a:xfrm>
            <a:off x="1645920" y="3063240"/>
            <a:ext cx="8899855" cy="640080"/>
          </a:xfrm>
          <a:prstGeom prst="rect">
            <a:avLst/>
          </a:prstGeom>
          <a:noFill/>
          <a:ln/>
        </p:spPr>
        <p:txBody>
          <a:bodyPr wrap="square" lIns="0" tIns="0" rIns="0" bIns="0" rtlCol="0" anchor="ctr"/>
          <a:lstStyle/>
          <a:p>
            <a:pPr algn="ctr" indent="0" marL="0">
              <a:lnSpc>
                <a:spcPts val="1800"/>
              </a:lnSpc>
              <a:buNone/>
            </a:pPr>
            <a:r>
              <a:rPr lang="en-US" sz="1400" i="1" dirty="0">
                <a:solidFill>
                  <a:srgbClr val="1E49E2"/>
                </a:solidFill>
                <a:latin typeface="Calibri" pitchFamily="34" charset="0"/>
                <a:ea typeface="Calibri" pitchFamily="34" charset="-122"/>
                <a:cs typeface="Calibri" pitchFamily="34" charset="-120"/>
              </a:rPr>
              <a:t>A Hybrid RAG System for Real-Time Detection and Correction of</a:t>
            </a:r>
            <a:endParaRPr lang="en-US" sz="1400" dirty="0"/>
          </a:p>
          <a:p>
            <a:pPr algn="ctr" indent="0" marL="0">
              <a:lnSpc>
                <a:spcPts val="1800"/>
              </a:lnSpc>
              <a:buNone/>
            </a:pPr>
            <a:r>
              <a:rPr lang="en-US" sz="1400" i="1" dirty="0">
                <a:solidFill>
                  <a:srgbClr val="1E49E2"/>
                </a:solidFill>
                <a:latin typeface="Calibri" pitchFamily="34" charset="0"/>
                <a:ea typeface="Calibri" pitchFamily="34" charset="-122"/>
                <a:cs typeface="Calibri" pitchFamily="34" charset="-120"/>
              </a:rPr>
              <a:t>LLM Hallucinations in Automotive Engineering.</a:t>
            </a:r>
            <a:endParaRPr lang="en-US" sz="1400" dirty="0"/>
          </a:p>
        </p:txBody>
      </p:sp>
      <p:sp>
        <p:nvSpPr>
          <p:cNvPr id="12" name="Text 10"/>
          <p:cNvSpPr txBox="1"/>
          <p:nvPr/>
        </p:nvSpPr>
        <p:spPr>
          <a:xfrm>
            <a:off x="0" y="4160520"/>
            <a:ext cx="12191695" cy="274320"/>
          </a:xfrm>
          <a:prstGeom prst="rect">
            <a:avLst/>
          </a:prstGeom>
          <a:noFill/>
          <a:ln/>
        </p:spPr>
        <p:txBody>
          <a:bodyPr wrap="square" lIns="0" tIns="0" rIns="0" bIns="0" rtlCol="0" anchor="ctr"/>
          <a:lstStyle/>
          <a:p>
            <a:pPr algn="ctr" indent="0" marL="0">
              <a:buNone/>
            </a:pPr>
            <a:r>
              <a:rPr lang="en-US" sz="1100" dirty="0">
                <a:solidFill>
                  <a:srgbClr val="5B6472"/>
                </a:solidFill>
                <a:latin typeface="Calibri" pitchFamily="34" charset="0"/>
                <a:ea typeface="Calibri" pitchFamily="34" charset="-122"/>
                <a:cs typeface="Calibri" pitchFamily="34" charset="-120"/>
              </a:rPr>
              <a:t>Prepared by :</a:t>
            </a:r>
            <a:endParaRPr lang="en-US" sz="1100" dirty="0"/>
          </a:p>
        </p:txBody>
      </p:sp>
      <p:sp>
        <p:nvSpPr>
          <p:cNvPr id="13" name="Text 11"/>
          <p:cNvSpPr txBox="1"/>
          <p:nvPr/>
        </p:nvSpPr>
        <p:spPr>
          <a:xfrm>
            <a:off x="0" y="4434840"/>
            <a:ext cx="12191695" cy="365760"/>
          </a:xfrm>
          <a:prstGeom prst="rect">
            <a:avLst/>
          </a:prstGeom>
          <a:noFill/>
          <a:ln/>
        </p:spPr>
        <p:txBody>
          <a:bodyPr wrap="square" lIns="0" tIns="0" rIns="0" bIns="0" rtlCol="0" anchor="ctr"/>
          <a:lstStyle/>
          <a:p>
            <a:pPr algn="ctr" indent="0" marL="0">
              <a:buNone/>
            </a:pPr>
            <a:r>
              <a:rPr lang="en-US" sz="1800" b="1" dirty="0">
                <a:solidFill>
                  <a:srgbClr val="13205C"/>
                </a:solidFill>
                <a:latin typeface="Cambria" pitchFamily="34" charset="0"/>
                <a:ea typeface="Cambria" pitchFamily="34" charset="-122"/>
                <a:cs typeface="Cambria" pitchFamily="34" charset="-120"/>
              </a:rPr>
              <a:t>Hichri Jaweher &amp; Dr. Samah Mansour</a:t>
            </a:r>
            <a:endParaRPr lang="en-US" sz="1800" dirty="0"/>
          </a:p>
        </p:txBody>
      </p:sp>
      <p:sp>
        <p:nvSpPr>
          <p:cNvPr id="14" name="Text 12"/>
          <p:cNvSpPr txBox="1"/>
          <p:nvPr/>
        </p:nvSpPr>
        <p:spPr>
          <a:xfrm>
            <a:off x="0" y="4800600"/>
            <a:ext cx="12191695" cy="274320"/>
          </a:xfrm>
          <a:prstGeom prst="rect">
            <a:avLst/>
          </a:prstGeom>
          <a:noFill/>
          <a:ln/>
        </p:spPr>
        <p:txBody>
          <a:bodyPr wrap="square" lIns="0" tIns="0" rIns="0" bIns="0" rtlCol="0" anchor="ctr"/>
          <a:lstStyle/>
          <a:p>
            <a:pPr algn="ctr" indent="0" marL="0">
              <a:buNone/>
            </a:pPr>
            <a:r>
              <a:rPr lang="en-US" sz="1100" dirty="0">
                <a:solidFill>
                  <a:srgbClr val="5B6472"/>
                </a:solidFill>
                <a:latin typeface="Calibri" pitchFamily="34" charset="0"/>
                <a:ea typeface="Calibri" pitchFamily="34" charset="-122"/>
                <a:cs typeface="Calibri" pitchFamily="34" charset="-120"/>
              </a:rPr>
              <a:t>Grand Valley State University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7315200" cy="274320"/>
          </a:xfrm>
          <a:prstGeom prst="rect">
            <a:avLst/>
          </a:prstGeom>
          <a:noFill/>
          <a:ln/>
        </p:spPr>
        <p:txBody>
          <a:bodyPr wrap="square" lIns="0" tIns="0" rIns="0" bIns="0" rtlCol="0" anchor="ctr"/>
          <a:lstStyle/>
          <a:p>
            <a:pPr indent="0" marL="0">
              <a:buNone/>
            </a:pPr>
            <a:r>
              <a:rPr lang="en-US" sz="1050" b="1" spc="200" kern="0" dirty="0">
                <a:solidFill>
                  <a:srgbClr val="2C5FB8"/>
                </a:solidFill>
                <a:latin typeface="Calibri" pitchFamily="34" charset="0"/>
                <a:ea typeface="Calibri" pitchFamily="34" charset="-122"/>
                <a:cs typeface="Calibri" pitchFamily="34" charset="-120"/>
              </a:rPr>
              <a:t>INTRODUCTION &amp; MOTIVATION</a:t>
            </a:r>
            <a:endParaRPr lang="en-US" sz="1050" dirty="0"/>
          </a:p>
        </p:txBody>
      </p:sp>
      <p:sp>
        <p:nvSpPr>
          <p:cNvPr id="3" name="Text 1"/>
          <p:cNvSpPr txBox="1"/>
          <p:nvPr/>
        </p:nvSpPr>
        <p:spPr>
          <a:xfrm>
            <a:off x="457200" y="566928"/>
            <a:ext cx="9601200" cy="640080"/>
          </a:xfrm>
          <a:prstGeom prst="rect">
            <a:avLst/>
          </a:prstGeom>
          <a:noFill/>
          <a:ln/>
        </p:spPr>
        <p:txBody>
          <a:bodyPr wrap="square" lIns="0" tIns="0" rIns="0" bIns="0" rtlCol="0" anchor="ctr"/>
          <a:lstStyle/>
          <a:p>
            <a:pPr indent="0" marL="0">
              <a:buNone/>
            </a:pPr>
            <a:r>
              <a:rPr lang="en-US" sz="2600" b="1" dirty="0">
                <a:solidFill>
                  <a:srgbClr val="16255E"/>
                </a:solidFill>
                <a:latin typeface="Cambria" pitchFamily="34" charset="0"/>
                <a:ea typeface="Cambria" pitchFamily="34" charset="-122"/>
                <a:cs typeface="Cambria" pitchFamily="34" charset="-120"/>
              </a:rPr>
              <a:t>When LLMs Get Automotive Facts Wrong</a:t>
            </a:r>
            <a:endParaRPr lang="en-US" sz="2600" dirty="0"/>
          </a:p>
        </p:txBody>
      </p:sp>
      <p:sp>
        <p:nvSpPr>
          <p:cNvPr id="4" name="Shape 2"/>
          <p:cNvSpPr/>
          <p:nvPr/>
        </p:nvSpPr>
        <p:spPr>
          <a:xfrm>
            <a:off x="11109960" y="256032"/>
            <a:ext cx="685800" cy="685800"/>
          </a:xfrm>
          <a:prstGeom prst="ellipse">
            <a:avLst/>
          </a:prstGeom>
          <a:solidFill>
            <a:srgbClr val="FFFFFF"/>
          </a:solidFill>
          <a:ln w="19050">
            <a:solidFill>
              <a:srgbClr val="13205C"/>
            </a:solidFill>
            <a:prstDash val="solid"/>
          </a:ln>
        </p:spPr>
      </p:sp>
      <p:sp>
        <p:nvSpPr>
          <p:cNvPr id="5" name="Text 3"/>
          <p:cNvSpPr txBox="1"/>
          <p:nvPr/>
        </p:nvSpPr>
        <p:spPr>
          <a:xfrm>
            <a:off x="11109960" y="256032"/>
            <a:ext cx="685800" cy="685800"/>
          </a:xfrm>
          <a:prstGeom prst="rect">
            <a:avLst/>
          </a:prstGeom>
          <a:noFill/>
          <a:ln/>
        </p:spPr>
        <p:txBody>
          <a:bodyPr wrap="square" lIns="0" tIns="0" rIns="0" bIns="0" rtlCol="0" anchor="ctr"/>
          <a:lstStyle/>
          <a:p>
            <a:pPr algn="ctr" indent="0" marL="0">
              <a:lnSpc>
                <a:spcPts val="800"/>
              </a:lnSpc>
              <a:buNone/>
            </a:pPr>
            <a:r>
              <a:rPr lang="en-US" sz="700" b="1" dirty="0">
                <a:solidFill>
                  <a:srgbClr val="13205C"/>
                </a:solidFill>
                <a:latin typeface="Calibri" pitchFamily="34" charset="0"/>
                <a:ea typeface="Calibri" pitchFamily="34" charset="-122"/>
                <a:cs typeface="Calibri" pitchFamily="34" charset="-120"/>
              </a:rPr>
              <a:t>AIB</a:t>
            </a:r>
            <a:endParaRPr lang="en-US" sz="700" dirty="0"/>
          </a:p>
          <a:p>
            <a:pPr algn="ctr" indent="0" marL="0">
              <a:lnSpc>
                <a:spcPts val="800"/>
              </a:lnSpc>
              <a:buNone/>
            </a:pPr>
            <a:r>
              <a:rPr lang="en-US" sz="700" b="1" dirty="0">
                <a:solidFill>
                  <a:srgbClr val="13205C"/>
                </a:solidFill>
                <a:latin typeface="Calibri" pitchFamily="34" charset="0"/>
                <a:ea typeface="Calibri" pitchFamily="34" charset="-122"/>
                <a:cs typeface="Calibri" pitchFamily="34" charset="-120"/>
              </a:rPr>
              <a:t>THINGS</a:t>
            </a:r>
            <a:endParaRPr lang="en-US" sz="700" dirty="0"/>
          </a:p>
        </p:txBody>
      </p:sp>
      <p:sp>
        <p:nvSpPr>
          <p:cNvPr id="6" name="Shape 4"/>
          <p:cNvSpPr/>
          <p:nvPr/>
        </p:nvSpPr>
        <p:spPr>
          <a:xfrm>
            <a:off x="0" y="6400800"/>
            <a:ext cx="12191695" cy="457200"/>
          </a:xfrm>
          <a:prstGeom prst="rect">
            <a:avLst/>
          </a:prstGeom>
          <a:solidFill>
            <a:srgbClr val="13205C"/>
          </a:solidFill>
          <a:ln/>
        </p:spPr>
      </p:sp>
      <p:sp>
        <p:nvSpPr>
          <p:cNvPr id="7" name="Text 5"/>
          <p:cNvSpPr txBox="1"/>
          <p:nvPr/>
        </p:nvSpPr>
        <p:spPr>
          <a:xfrm>
            <a:off x="457200" y="6400800"/>
            <a:ext cx="5486400"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AIBTHINGS 2026  •  PAPER #465</a:t>
            </a:r>
            <a:endParaRPr lang="en-US" sz="1000" dirty="0"/>
          </a:p>
        </p:txBody>
      </p:sp>
      <p:sp>
        <p:nvSpPr>
          <p:cNvPr id="8" name="Shape 6"/>
          <p:cNvSpPr/>
          <p:nvPr/>
        </p:nvSpPr>
        <p:spPr>
          <a:xfrm>
            <a:off x="11475720" y="6199632"/>
            <a:ext cx="566928" cy="566928"/>
          </a:xfrm>
          <a:prstGeom prst="ellipse">
            <a:avLst/>
          </a:prstGeom>
          <a:solidFill>
            <a:srgbClr val="FFFFFF"/>
          </a:solidFill>
          <a:ln w="19050">
            <a:solidFill>
              <a:srgbClr val="13205C"/>
            </a:solidFill>
            <a:prstDash val="solid"/>
          </a:ln>
        </p:spPr>
      </p:sp>
      <p:sp>
        <p:nvSpPr>
          <p:cNvPr id="9" name="Text 7"/>
          <p:cNvSpPr txBox="1"/>
          <p:nvPr/>
        </p:nvSpPr>
        <p:spPr>
          <a:xfrm>
            <a:off x="11475720" y="6199632"/>
            <a:ext cx="566928" cy="566928"/>
          </a:xfrm>
          <a:prstGeom prst="rect">
            <a:avLst/>
          </a:prstGeom>
          <a:noFill/>
          <a:ln/>
        </p:spPr>
        <p:txBody>
          <a:bodyPr wrap="square" lIns="0" tIns="0" rIns="0" bIns="0" rtlCol="0" anchor="ctr"/>
          <a:lstStyle/>
          <a:p>
            <a:pPr algn="ctr" indent="0" marL="0">
              <a:buNone/>
            </a:pPr>
            <a:r>
              <a:rPr lang="en-US" sz="1500" b="1" dirty="0">
                <a:solidFill>
                  <a:srgbClr val="13205C"/>
                </a:solidFill>
                <a:latin typeface="Cambria" pitchFamily="34" charset="0"/>
                <a:ea typeface="Cambria" pitchFamily="34" charset="-122"/>
                <a:cs typeface="Cambria" pitchFamily="34" charset="-120"/>
              </a:rPr>
              <a:t>1</a:t>
            </a:r>
            <a:endParaRPr lang="en-US" sz="1500" dirty="0"/>
          </a:p>
        </p:txBody>
      </p:sp>
      <p:sp>
        <p:nvSpPr>
          <p:cNvPr id="10" name="Shape 8"/>
          <p:cNvSpPr/>
          <p:nvPr/>
        </p:nvSpPr>
        <p:spPr>
          <a:xfrm>
            <a:off x="457200" y="1371600"/>
            <a:ext cx="5120640" cy="4206240"/>
          </a:xfrm>
          <a:prstGeom prst="rect">
            <a:avLst/>
          </a:prstGeom>
          <a:solidFill>
            <a:srgbClr val="0F1B44"/>
          </a:solidFill>
          <a:ln/>
        </p:spPr>
      </p:sp>
      <p:sp>
        <p:nvSpPr>
          <p:cNvPr id="11" name="Shape 9"/>
          <p:cNvSpPr/>
          <p:nvPr/>
        </p:nvSpPr>
        <p:spPr>
          <a:xfrm>
            <a:off x="1737360" y="3063240"/>
            <a:ext cx="2560320" cy="822960"/>
          </a:xfrm>
          <a:prstGeom prst="roundRect">
            <a:avLst>
              <a:gd name="adj" fmla="val 6667"/>
            </a:avLst>
          </a:prstGeom>
          <a:solidFill>
            <a:srgbClr val="FFFFFF"/>
          </a:solidFill>
          <a:ln/>
        </p:spPr>
      </p:sp>
      <p:sp>
        <p:nvSpPr>
          <p:cNvPr id="12" name="Text 10"/>
          <p:cNvSpPr txBox="1"/>
          <p:nvPr/>
        </p:nvSpPr>
        <p:spPr>
          <a:xfrm>
            <a:off x="1737360" y="3063240"/>
            <a:ext cx="2560320" cy="502920"/>
          </a:xfrm>
          <a:prstGeom prst="rect">
            <a:avLst/>
          </a:prstGeom>
          <a:noFill/>
          <a:ln/>
        </p:spPr>
        <p:txBody>
          <a:bodyPr wrap="square" lIns="0" tIns="0" rIns="0" bIns="0" rtlCol="0" anchor="ctr"/>
          <a:lstStyle/>
          <a:p>
            <a:pPr algn="ctr" indent="0" marL="0">
              <a:buNone/>
            </a:pPr>
            <a:r>
              <a:rPr lang="en-US" sz="2200" b="1" dirty="0">
                <a:solidFill>
                  <a:srgbClr val="0F1B44"/>
                </a:solidFill>
                <a:latin typeface="Cambria" pitchFamily="34" charset="0"/>
                <a:ea typeface="Cambria" pitchFamily="34" charset="-122"/>
                <a:cs typeface="Cambria" pitchFamily="34" charset="-120"/>
              </a:rPr>
              <a:t>LLM</a:t>
            </a:r>
            <a:endParaRPr lang="en-US" sz="2200" dirty="0"/>
          </a:p>
        </p:txBody>
      </p:sp>
      <p:sp>
        <p:nvSpPr>
          <p:cNvPr id="13" name="Text 11"/>
          <p:cNvSpPr txBox="1"/>
          <p:nvPr/>
        </p:nvSpPr>
        <p:spPr>
          <a:xfrm>
            <a:off x="1737360" y="3611880"/>
            <a:ext cx="2560320" cy="274320"/>
          </a:xfrm>
          <a:prstGeom prst="rect">
            <a:avLst/>
          </a:prstGeom>
          <a:noFill/>
          <a:ln/>
        </p:spPr>
        <p:txBody>
          <a:bodyPr wrap="square" lIns="0" tIns="0" rIns="0" bIns="0" rtlCol="0" anchor="ctr"/>
          <a:lstStyle/>
          <a:p>
            <a:pPr algn="ctr" indent="0" marL="0">
              <a:buNone/>
            </a:pPr>
            <a:r>
              <a:rPr lang="en-US" sz="800" spc="100" kern="0" dirty="0">
                <a:solidFill>
                  <a:srgbClr val="0F1B44"/>
                </a:solidFill>
                <a:latin typeface="Calibri" pitchFamily="34" charset="0"/>
                <a:ea typeface="Calibri" pitchFamily="34" charset="-122"/>
                <a:cs typeface="Calibri" pitchFamily="34" charset="-120"/>
              </a:rPr>
              <a:t>LARGE LANGUAGE MODEL</a:t>
            </a:r>
            <a:endParaRPr lang="en-US" sz="800" dirty="0"/>
          </a:p>
        </p:txBody>
      </p:sp>
      <p:sp>
        <p:nvSpPr>
          <p:cNvPr id="14" name="Shape 12"/>
          <p:cNvSpPr/>
          <p:nvPr/>
        </p:nvSpPr>
        <p:spPr>
          <a:xfrm>
            <a:off x="1097280" y="1828800"/>
            <a:ext cx="164592" cy="164592"/>
          </a:xfrm>
          <a:prstGeom prst="ellipse">
            <a:avLst/>
          </a:prstGeom>
          <a:solidFill>
            <a:srgbClr val="8FA3E8"/>
          </a:solidFill>
          <a:ln/>
        </p:spPr>
      </p:sp>
      <p:sp>
        <p:nvSpPr>
          <p:cNvPr id="15" name="Shape 13"/>
          <p:cNvSpPr/>
          <p:nvPr/>
        </p:nvSpPr>
        <p:spPr>
          <a:xfrm>
            <a:off x="2926080" y="1737360"/>
            <a:ext cx="164592" cy="164592"/>
          </a:xfrm>
          <a:prstGeom prst="ellipse">
            <a:avLst/>
          </a:prstGeom>
          <a:solidFill>
            <a:srgbClr val="8FA3E8"/>
          </a:solidFill>
          <a:ln/>
        </p:spPr>
      </p:sp>
      <p:sp>
        <p:nvSpPr>
          <p:cNvPr id="16" name="Shape 14"/>
          <p:cNvSpPr/>
          <p:nvPr/>
        </p:nvSpPr>
        <p:spPr>
          <a:xfrm>
            <a:off x="4572000" y="2011680"/>
            <a:ext cx="164592" cy="164592"/>
          </a:xfrm>
          <a:prstGeom prst="ellipse">
            <a:avLst/>
          </a:prstGeom>
          <a:solidFill>
            <a:srgbClr val="8FA3E8"/>
          </a:solidFill>
          <a:ln/>
        </p:spPr>
      </p:sp>
      <p:sp>
        <p:nvSpPr>
          <p:cNvPr id="17" name="Shape 15"/>
          <p:cNvSpPr/>
          <p:nvPr/>
        </p:nvSpPr>
        <p:spPr>
          <a:xfrm>
            <a:off x="914400" y="4206240"/>
            <a:ext cx="164592" cy="164592"/>
          </a:xfrm>
          <a:prstGeom prst="ellipse">
            <a:avLst/>
          </a:prstGeom>
          <a:solidFill>
            <a:srgbClr val="8FA3E8"/>
          </a:solidFill>
          <a:ln/>
        </p:spPr>
      </p:sp>
      <p:sp>
        <p:nvSpPr>
          <p:cNvPr id="18" name="Shape 16"/>
          <p:cNvSpPr/>
          <p:nvPr/>
        </p:nvSpPr>
        <p:spPr>
          <a:xfrm>
            <a:off x="4846320" y="4297680"/>
            <a:ext cx="164592" cy="164592"/>
          </a:xfrm>
          <a:prstGeom prst="ellipse">
            <a:avLst/>
          </a:prstGeom>
          <a:solidFill>
            <a:srgbClr val="8FA3E8"/>
          </a:solidFill>
          <a:ln/>
        </p:spPr>
      </p:sp>
      <p:sp>
        <p:nvSpPr>
          <p:cNvPr id="19" name="Shape 17"/>
          <p:cNvSpPr/>
          <p:nvPr/>
        </p:nvSpPr>
        <p:spPr>
          <a:xfrm>
            <a:off x="1280160" y="5120640"/>
            <a:ext cx="164592" cy="164592"/>
          </a:xfrm>
          <a:prstGeom prst="ellipse">
            <a:avLst/>
          </a:prstGeom>
          <a:solidFill>
            <a:srgbClr val="8FA3E8"/>
          </a:solidFill>
          <a:ln/>
        </p:spPr>
      </p:sp>
      <p:sp>
        <p:nvSpPr>
          <p:cNvPr id="20" name="Shape 18"/>
          <p:cNvSpPr/>
          <p:nvPr/>
        </p:nvSpPr>
        <p:spPr>
          <a:xfrm>
            <a:off x="4389120" y="5120640"/>
            <a:ext cx="164592" cy="164592"/>
          </a:xfrm>
          <a:prstGeom prst="ellipse">
            <a:avLst/>
          </a:prstGeom>
          <a:solidFill>
            <a:srgbClr val="8FA3E8"/>
          </a:solidFill>
          <a:ln/>
        </p:spPr>
      </p:sp>
      <p:sp>
        <p:nvSpPr>
          <p:cNvPr id="21" name="Shape 19"/>
          <p:cNvSpPr/>
          <p:nvPr/>
        </p:nvSpPr>
        <p:spPr>
          <a:xfrm>
            <a:off x="3017520" y="5394960"/>
            <a:ext cx="164592" cy="164592"/>
          </a:xfrm>
          <a:prstGeom prst="ellipse">
            <a:avLst/>
          </a:prstGeom>
          <a:solidFill>
            <a:srgbClr val="8FA3E8"/>
          </a:solidFill>
          <a:ln/>
        </p:spPr>
      </p:sp>
      <p:sp>
        <p:nvSpPr>
          <p:cNvPr id="22" name="Shape 20"/>
          <p:cNvSpPr/>
          <p:nvPr/>
        </p:nvSpPr>
        <p:spPr>
          <a:xfrm>
            <a:off x="5760720" y="1417320"/>
            <a:ext cx="5943600" cy="1234440"/>
          </a:xfrm>
          <a:prstGeom prst="roundRect">
            <a:avLst>
              <a:gd name="adj" fmla="val 4444"/>
            </a:avLst>
          </a:prstGeom>
          <a:solidFill>
            <a:srgbClr val="F5F6FA"/>
          </a:solidFill>
          <a:ln w="12700">
            <a:solidFill>
              <a:srgbClr val="E4E9F5"/>
            </a:solidFill>
            <a:prstDash val="solid"/>
          </a:ln>
        </p:spPr>
      </p:sp>
      <p:sp>
        <p:nvSpPr>
          <p:cNvPr id="23" name="Shape 21"/>
          <p:cNvSpPr/>
          <p:nvPr/>
        </p:nvSpPr>
        <p:spPr>
          <a:xfrm>
            <a:off x="5760720" y="1417320"/>
            <a:ext cx="64008" cy="1234440"/>
          </a:xfrm>
          <a:prstGeom prst="rect">
            <a:avLst/>
          </a:prstGeom>
          <a:solidFill>
            <a:srgbClr val="13205C"/>
          </a:solidFill>
          <a:ln/>
        </p:spPr>
      </p:sp>
      <p:sp>
        <p:nvSpPr>
          <p:cNvPr id="24" name="Text 22"/>
          <p:cNvSpPr txBox="1"/>
          <p:nvPr/>
        </p:nvSpPr>
        <p:spPr>
          <a:xfrm>
            <a:off x="5989320" y="1508760"/>
            <a:ext cx="5577840" cy="365760"/>
          </a:xfrm>
          <a:prstGeom prst="rect">
            <a:avLst/>
          </a:prstGeom>
          <a:noFill/>
          <a:ln/>
        </p:spPr>
        <p:txBody>
          <a:bodyPr wrap="square" lIns="0" tIns="0" rIns="0" bIns="0" rtlCol="0" anchor="ctr"/>
          <a:lstStyle/>
          <a:p>
            <a:pPr indent="0" marL="0">
              <a:buNone/>
            </a:pPr>
            <a:r>
              <a:rPr lang="en-US" sz="1400" b="1" strike="sngStrike" dirty="0">
                <a:solidFill>
                  <a:srgbClr val="C0392B"/>
                </a:solidFill>
                <a:latin typeface="Calibri" pitchFamily="34" charset="0"/>
                <a:ea typeface="Calibri" pitchFamily="34" charset="-122"/>
                <a:cs typeface="Calibri" pitchFamily="34" charset="-120"/>
              </a:rPr>
              <a:t>"Vehicle.Motor.Velocity"</a:t>
            </a:r>
            <a:endParaRPr lang="en-US" sz="1400" dirty="0"/>
          </a:p>
        </p:txBody>
      </p:sp>
      <p:sp>
        <p:nvSpPr>
          <p:cNvPr id="25" name="Text 23"/>
          <p:cNvSpPr txBox="1"/>
          <p:nvPr/>
        </p:nvSpPr>
        <p:spPr>
          <a:xfrm>
            <a:off x="5989320" y="1874520"/>
            <a:ext cx="5577840" cy="365760"/>
          </a:xfrm>
          <a:prstGeom prst="rect">
            <a:avLst/>
          </a:prstGeom>
          <a:noFill/>
          <a:ln/>
        </p:spPr>
        <p:txBody>
          <a:bodyPr wrap="square" lIns="0" tIns="0" rIns="0" bIns="0" rtlCol="0" anchor="ctr"/>
          <a:lstStyle/>
          <a:p>
            <a:pPr indent="0" marL="0">
              <a:buNone/>
            </a:pPr>
            <a:r>
              <a:rPr lang="en-US" sz="1150" dirty="0">
                <a:solidFill>
                  <a:srgbClr val="1F9D63"/>
                </a:solidFill>
                <a:latin typeface="Calibri" pitchFamily="34" charset="0"/>
                <a:ea typeface="Calibri" pitchFamily="34" charset="-122"/>
                <a:cs typeface="Calibri" pitchFamily="34" charset="-120"/>
              </a:rPr>
              <a:t>Invented VSS path — the real one is Vehicle.Speed</a:t>
            </a:r>
            <a:endParaRPr lang="en-US" sz="1150" dirty="0"/>
          </a:p>
        </p:txBody>
      </p:sp>
      <p:sp>
        <p:nvSpPr>
          <p:cNvPr id="26" name="Text 24"/>
          <p:cNvSpPr txBox="1"/>
          <p:nvPr/>
        </p:nvSpPr>
        <p:spPr>
          <a:xfrm>
            <a:off x="5989320" y="2286000"/>
            <a:ext cx="5577840" cy="274320"/>
          </a:xfrm>
          <a:prstGeom prst="rect">
            <a:avLst/>
          </a:prstGeom>
          <a:noFill/>
          <a:ln/>
        </p:spPr>
        <p:txBody>
          <a:bodyPr wrap="square" lIns="0" tIns="0" rIns="0" bIns="0" rtlCol="0" anchor="ctr"/>
          <a:lstStyle/>
          <a:p>
            <a:pPr indent="0" marL="0">
              <a:buNone/>
            </a:pPr>
            <a:r>
              <a:rPr lang="en-US" sz="900" i="1" dirty="0">
                <a:solidFill>
                  <a:srgbClr val="5B6472"/>
                </a:solidFill>
                <a:latin typeface="Calibri" pitchFamily="34" charset="0"/>
                <a:ea typeface="Calibri" pitchFamily="34" charset="-122"/>
                <a:cs typeface="Calibri" pitchFamily="34" charset="-120"/>
              </a:rPr>
              <a:t>COVESA VSS 4.0</a:t>
            </a:r>
            <a:endParaRPr lang="en-US" sz="900" dirty="0"/>
          </a:p>
        </p:txBody>
      </p:sp>
      <p:sp>
        <p:nvSpPr>
          <p:cNvPr id="27" name="Shape 25"/>
          <p:cNvSpPr/>
          <p:nvPr/>
        </p:nvSpPr>
        <p:spPr>
          <a:xfrm>
            <a:off x="5760720" y="2834640"/>
            <a:ext cx="5943600" cy="1234440"/>
          </a:xfrm>
          <a:prstGeom prst="roundRect">
            <a:avLst>
              <a:gd name="adj" fmla="val 4444"/>
            </a:avLst>
          </a:prstGeom>
          <a:solidFill>
            <a:srgbClr val="F5F6FA"/>
          </a:solidFill>
          <a:ln w="12700">
            <a:solidFill>
              <a:srgbClr val="E4E9F5"/>
            </a:solidFill>
            <a:prstDash val="solid"/>
          </a:ln>
        </p:spPr>
      </p:sp>
      <p:sp>
        <p:nvSpPr>
          <p:cNvPr id="28" name="Shape 26"/>
          <p:cNvSpPr/>
          <p:nvPr/>
        </p:nvSpPr>
        <p:spPr>
          <a:xfrm>
            <a:off x="5760720" y="2834640"/>
            <a:ext cx="64008" cy="1234440"/>
          </a:xfrm>
          <a:prstGeom prst="rect">
            <a:avLst/>
          </a:prstGeom>
          <a:solidFill>
            <a:srgbClr val="13205C"/>
          </a:solidFill>
          <a:ln/>
        </p:spPr>
      </p:sp>
      <p:sp>
        <p:nvSpPr>
          <p:cNvPr id="29" name="Text 27"/>
          <p:cNvSpPr txBox="1"/>
          <p:nvPr/>
        </p:nvSpPr>
        <p:spPr>
          <a:xfrm>
            <a:off x="5989320" y="2926080"/>
            <a:ext cx="5577840" cy="365760"/>
          </a:xfrm>
          <a:prstGeom prst="rect">
            <a:avLst/>
          </a:prstGeom>
          <a:noFill/>
          <a:ln/>
        </p:spPr>
        <p:txBody>
          <a:bodyPr wrap="square" lIns="0" tIns="0" rIns="0" bIns="0" rtlCol="0" anchor="ctr"/>
          <a:lstStyle/>
          <a:p>
            <a:pPr indent="0" marL="0">
              <a:buNone/>
            </a:pPr>
            <a:r>
              <a:rPr lang="en-US" sz="1400" b="1" strike="sngStrike" dirty="0">
                <a:solidFill>
                  <a:srgbClr val="C0392B"/>
                </a:solidFill>
                <a:latin typeface="Calibri" pitchFamily="34" charset="0"/>
                <a:ea typeface="Calibri" pitchFamily="34" charset="-122"/>
                <a:cs typeface="Calibri" pitchFamily="34" charset="-120"/>
              </a:rPr>
              <a:t>"ABS responds in 1 ms"</a:t>
            </a:r>
            <a:endParaRPr lang="en-US" sz="1400" dirty="0"/>
          </a:p>
        </p:txBody>
      </p:sp>
      <p:sp>
        <p:nvSpPr>
          <p:cNvPr id="30" name="Text 28"/>
          <p:cNvSpPr txBox="1"/>
          <p:nvPr/>
        </p:nvSpPr>
        <p:spPr>
          <a:xfrm>
            <a:off x="5989320" y="3291840"/>
            <a:ext cx="5577840" cy="365760"/>
          </a:xfrm>
          <a:prstGeom prst="rect">
            <a:avLst/>
          </a:prstGeom>
          <a:noFill/>
          <a:ln/>
        </p:spPr>
        <p:txBody>
          <a:bodyPr wrap="square" lIns="0" tIns="0" rIns="0" bIns="0" rtlCol="0" anchor="ctr"/>
          <a:lstStyle/>
          <a:p>
            <a:pPr indent="0" marL="0">
              <a:buNone/>
            </a:pPr>
            <a:r>
              <a:rPr lang="en-US" sz="1150" dirty="0">
                <a:solidFill>
                  <a:srgbClr val="1F9D63"/>
                </a:solidFill>
                <a:latin typeface="Calibri" pitchFamily="34" charset="0"/>
                <a:ea typeface="Calibri" pitchFamily="34" charset="-122"/>
                <a:cs typeface="Calibri" pitchFamily="34" charset="-120"/>
              </a:rPr>
              <a:t>Real validated range is 50–150 ms</a:t>
            </a:r>
            <a:endParaRPr lang="en-US" sz="1150" dirty="0"/>
          </a:p>
        </p:txBody>
      </p:sp>
      <p:sp>
        <p:nvSpPr>
          <p:cNvPr id="31" name="Shape 29"/>
          <p:cNvSpPr/>
          <p:nvPr/>
        </p:nvSpPr>
        <p:spPr>
          <a:xfrm>
            <a:off x="5760720" y="4251960"/>
            <a:ext cx="5943600" cy="1234440"/>
          </a:xfrm>
          <a:prstGeom prst="roundRect">
            <a:avLst>
              <a:gd name="adj" fmla="val 4444"/>
            </a:avLst>
          </a:prstGeom>
          <a:solidFill>
            <a:srgbClr val="F5F6FA"/>
          </a:solidFill>
          <a:ln w="12700">
            <a:solidFill>
              <a:srgbClr val="E4E9F5"/>
            </a:solidFill>
            <a:prstDash val="solid"/>
          </a:ln>
        </p:spPr>
      </p:sp>
      <p:sp>
        <p:nvSpPr>
          <p:cNvPr id="32" name="Shape 30"/>
          <p:cNvSpPr/>
          <p:nvPr/>
        </p:nvSpPr>
        <p:spPr>
          <a:xfrm>
            <a:off x="5760720" y="4251960"/>
            <a:ext cx="64008" cy="1234440"/>
          </a:xfrm>
          <a:prstGeom prst="rect">
            <a:avLst/>
          </a:prstGeom>
          <a:solidFill>
            <a:srgbClr val="13205C"/>
          </a:solidFill>
          <a:ln/>
        </p:spPr>
      </p:sp>
      <p:sp>
        <p:nvSpPr>
          <p:cNvPr id="33" name="Text 31"/>
          <p:cNvSpPr txBox="1"/>
          <p:nvPr/>
        </p:nvSpPr>
        <p:spPr>
          <a:xfrm>
            <a:off x="5989320" y="4343400"/>
            <a:ext cx="5577840" cy="365760"/>
          </a:xfrm>
          <a:prstGeom prst="rect">
            <a:avLst/>
          </a:prstGeom>
          <a:noFill/>
          <a:ln/>
        </p:spPr>
        <p:txBody>
          <a:bodyPr wrap="square" lIns="0" tIns="0" rIns="0" bIns="0" rtlCol="0" anchor="ctr"/>
          <a:lstStyle/>
          <a:p>
            <a:pPr indent="0" marL="0">
              <a:buNone/>
            </a:pPr>
            <a:r>
              <a:rPr lang="en-US" sz="1400" b="1" strike="sngStrike" dirty="0">
                <a:solidFill>
                  <a:srgbClr val="C0392B"/>
                </a:solidFill>
                <a:latin typeface="Calibri" pitchFamily="34" charset="0"/>
                <a:ea typeface="Calibri" pitchFamily="34" charset="-122"/>
                <a:cs typeface="Calibri" pitchFamily="34" charset="-120"/>
              </a:rPr>
              <a:t>"ASIL Z"</a:t>
            </a:r>
            <a:endParaRPr lang="en-US" sz="1400" dirty="0"/>
          </a:p>
        </p:txBody>
      </p:sp>
      <p:sp>
        <p:nvSpPr>
          <p:cNvPr id="34" name="Text 32"/>
          <p:cNvSpPr txBox="1"/>
          <p:nvPr/>
        </p:nvSpPr>
        <p:spPr>
          <a:xfrm>
            <a:off x="5989320" y="4709160"/>
            <a:ext cx="5577840" cy="365760"/>
          </a:xfrm>
          <a:prstGeom prst="rect">
            <a:avLst/>
          </a:prstGeom>
          <a:noFill/>
          <a:ln/>
        </p:spPr>
        <p:txBody>
          <a:bodyPr wrap="square" lIns="0" tIns="0" rIns="0" bIns="0" rtlCol="0" anchor="ctr"/>
          <a:lstStyle/>
          <a:p>
            <a:pPr indent="0" marL="0">
              <a:buNone/>
            </a:pPr>
            <a:r>
              <a:rPr lang="en-US" sz="1150" dirty="0">
                <a:solidFill>
                  <a:srgbClr val="1F9D63"/>
                </a:solidFill>
                <a:latin typeface="Calibri" pitchFamily="34" charset="0"/>
                <a:ea typeface="Calibri" pitchFamily="34" charset="-122"/>
                <a:cs typeface="Calibri" pitchFamily="34" charset="-120"/>
              </a:rPr>
              <a:t>Does not exist — only A, B, C, D are valid</a:t>
            </a:r>
            <a:endParaRPr lang="en-US" sz="1150" dirty="0"/>
          </a:p>
        </p:txBody>
      </p:sp>
      <p:sp>
        <p:nvSpPr>
          <p:cNvPr id="35" name="Text 33"/>
          <p:cNvSpPr txBox="1"/>
          <p:nvPr/>
        </p:nvSpPr>
        <p:spPr>
          <a:xfrm>
            <a:off x="5989320" y="5120640"/>
            <a:ext cx="5577840" cy="274320"/>
          </a:xfrm>
          <a:prstGeom prst="rect">
            <a:avLst/>
          </a:prstGeom>
          <a:noFill/>
          <a:ln/>
        </p:spPr>
        <p:txBody>
          <a:bodyPr wrap="square" lIns="0" tIns="0" rIns="0" bIns="0" rtlCol="0" anchor="ctr"/>
          <a:lstStyle/>
          <a:p>
            <a:pPr indent="0" marL="0">
              <a:buNone/>
            </a:pPr>
            <a:r>
              <a:rPr lang="en-US" sz="900" i="1" dirty="0">
                <a:solidFill>
                  <a:srgbClr val="5B6472"/>
                </a:solidFill>
                <a:latin typeface="Calibri" pitchFamily="34" charset="0"/>
                <a:ea typeface="Calibri" pitchFamily="34" charset="-122"/>
                <a:cs typeface="Calibri" pitchFamily="34" charset="-120"/>
              </a:rPr>
              <a:t>ISO 26262:2018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7315200" cy="274320"/>
          </a:xfrm>
          <a:prstGeom prst="rect">
            <a:avLst/>
          </a:prstGeom>
          <a:noFill/>
          <a:ln/>
        </p:spPr>
        <p:txBody>
          <a:bodyPr wrap="square" lIns="0" tIns="0" rIns="0" bIns="0" rtlCol="0" anchor="ctr"/>
          <a:lstStyle/>
          <a:p>
            <a:pPr indent="0" marL="0">
              <a:buNone/>
            </a:pPr>
            <a:r>
              <a:rPr lang="en-US" sz="1050" b="1" spc="200" kern="0" dirty="0">
                <a:solidFill>
                  <a:srgbClr val="2C5FB8"/>
                </a:solidFill>
                <a:latin typeface="Calibri" pitchFamily="34" charset="0"/>
                <a:ea typeface="Calibri" pitchFamily="34" charset="-122"/>
                <a:cs typeface="Calibri" pitchFamily="34" charset="-120"/>
              </a:rPr>
              <a:t>RESEARCH OBJECTIVES &amp; KEY CONTRIBUTIONS</a:t>
            </a:r>
            <a:endParaRPr lang="en-US" sz="1050" dirty="0"/>
          </a:p>
        </p:txBody>
      </p:sp>
      <p:sp>
        <p:nvSpPr>
          <p:cNvPr id="3" name="Text 1"/>
          <p:cNvSpPr txBox="1"/>
          <p:nvPr/>
        </p:nvSpPr>
        <p:spPr>
          <a:xfrm>
            <a:off x="457200" y="566928"/>
            <a:ext cx="9601200" cy="640080"/>
          </a:xfrm>
          <a:prstGeom prst="rect">
            <a:avLst/>
          </a:prstGeom>
          <a:noFill/>
          <a:ln/>
        </p:spPr>
        <p:txBody>
          <a:bodyPr wrap="square" lIns="0" tIns="0" rIns="0" bIns="0" rtlCol="0" anchor="ctr"/>
          <a:lstStyle/>
          <a:p>
            <a:pPr indent="0" marL="0">
              <a:buNone/>
            </a:pPr>
            <a:r>
              <a:rPr lang="en-US" sz="2600" b="1" dirty="0">
                <a:solidFill>
                  <a:srgbClr val="16255E"/>
                </a:solidFill>
                <a:latin typeface="Cambria" pitchFamily="34" charset="0"/>
                <a:ea typeface="Cambria" pitchFamily="34" charset="-122"/>
                <a:cs typeface="Cambria" pitchFamily="34" charset="-120"/>
              </a:rPr>
              <a:t>14 Papers Reviewed</a:t>
            </a:r>
            <a:endParaRPr lang="en-US" sz="2600" dirty="0"/>
          </a:p>
        </p:txBody>
      </p:sp>
      <p:sp>
        <p:nvSpPr>
          <p:cNvPr id="4" name="Shape 2"/>
          <p:cNvSpPr/>
          <p:nvPr/>
        </p:nvSpPr>
        <p:spPr>
          <a:xfrm>
            <a:off x="11109960" y="256032"/>
            <a:ext cx="685800" cy="685800"/>
          </a:xfrm>
          <a:prstGeom prst="ellipse">
            <a:avLst/>
          </a:prstGeom>
          <a:solidFill>
            <a:srgbClr val="FFFFFF"/>
          </a:solidFill>
          <a:ln w="19050">
            <a:solidFill>
              <a:srgbClr val="13205C"/>
            </a:solidFill>
            <a:prstDash val="solid"/>
          </a:ln>
        </p:spPr>
      </p:sp>
      <p:sp>
        <p:nvSpPr>
          <p:cNvPr id="5" name="Text 3"/>
          <p:cNvSpPr txBox="1"/>
          <p:nvPr/>
        </p:nvSpPr>
        <p:spPr>
          <a:xfrm>
            <a:off x="11109960" y="256032"/>
            <a:ext cx="685800" cy="685800"/>
          </a:xfrm>
          <a:prstGeom prst="rect">
            <a:avLst/>
          </a:prstGeom>
          <a:noFill/>
          <a:ln/>
        </p:spPr>
        <p:txBody>
          <a:bodyPr wrap="square" lIns="0" tIns="0" rIns="0" bIns="0" rtlCol="0" anchor="ctr"/>
          <a:lstStyle/>
          <a:p>
            <a:pPr algn="ctr" indent="0" marL="0">
              <a:lnSpc>
                <a:spcPts val="800"/>
              </a:lnSpc>
              <a:buNone/>
            </a:pPr>
            <a:r>
              <a:rPr lang="en-US" sz="700" b="1" dirty="0">
                <a:solidFill>
                  <a:srgbClr val="13205C"/>
                </a:solidFill>
                <a:latin typeface="Calibri" pitchFamily="34" charset="0"/>
                <a:ea typeface="Calibri" pitchFamily="34" charset="-122"/>
                <a:cs typeface="Calibri" pitchFamily="34" charset="-120"/>
              </a:rPr>
              <a:t>AIB</a:t>
            </a:r>
            <a:endParaRPr lang="en-US" sz="700" dirty="0"/>
          </a:p>
          <a:p>
            <a:pPr algn="ctr" indent="0" marL="0">
              <a:lnSpc>
                <a:spcPts val="800"/>
              </a:lnSpc>
              <a:buNone/>
            </a:pPr>
            <a:r>
              <a:rPr lang="en-US" sz="700" b="1" dirty="0">
                <a:solidFill>
                  <a:srgbClr val="13205C"/>
                </a:solidFill>
                <a:latin typeface="Calibri" pitchFamily="34" charset="0"/>
                <a:ea typeface="Calibri" pitchFamily="34" charset="-122"/>
                <a:cs typeface="Calibri" pitchFamily="34" charset="-120"/>
              </a:rPr>
              <a:t>THINGS</a:t>
            </a:r>
            <a:endParaRPr lang="en-US" sz="700" dirty="0"/>
          </a:p>
        </p:txBody>
      </p:sp>
      <p:sp>
        <p:nvSpPr>
          <p:cNvPr id="6" name="Shape 4"/>
          <p:cNvSpPr/>
          <p:nvPr/>
        </p:nvSpPr>
        <p:spPr>
          <a:xfrm>
            <a:off x="0" y="6400800"/>
            <a:ext cx="12191695" cy="457200"/>
          </a:xfrm>
          <a:prstGeom prst="rect">
            <a:avLst/>
          </a:prstGeom>
          <a:solidFill>
            <a:srgbClr val="13205C"/>
          </a:solidFill>
          <a:ln/>
        </p:spPr>
      </p:sp>
      <p:sp>
        <p:nvSpPr>
          <p:cNvPr id="7" name="Text 5"/>
          <p:cNvSpPr txBox="1"/>
          <p:nvPr/>
        </p:nvSpPr>
        <p:spPr>
          <a:xfrm>
            <a:off x="457200" y="6400800"/>
            <a:ext cx="5486400"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AIBTHINGS 2026  •  PAPER #465</a:t>
            </a:r>
            <a:endParaRPr lang="en-US" sz="1000" dirty="0"/>
          </a:p>
        </p:txBody>
      </p:sp>
      <p:sp>
        <p:nvSpPr>
          <p:cNvPr id="8" name="Shape 6"/>
          <p:cNvSpPr/>
          <p:nvPr/>
        </p:nvSpPr>
        <p:spPr>
          <a:xfrm>
            <a:off x="11475720" y="6199632"/>
            <a:ext cx="566928" cy="566928"/>
          </a:xfrm>
          <a:prstGeom prst="ellipse">
            <a:avLst/>
          </a:prstGeom>
          <a:solidFill>
            <a:srgbClr val="FFFFFF"/>
          </a:solidFill>
          <a:ln w="19050">
            <a:solidFill>
              <a:srgbClr val="13205C"/>
            </a:solidFill>
            <a:prstDash val="solid"/>
          </a:ln>
        </p:spPr>
      </p:sp>
      <p:sp>
        <p:nvSpPr>
          <p:cNvPr id="9" name="Text 7"/>
          <p:cNvSpPr txBox="1"/>
          <p:nvPr/>
        </p:nvSpPr>
        <p:spPr>
          <a:xfrm>
            <a:off x="11475720" y="6199632"/>
            <a:ext cx="566928" cy="566928"/>
          </a:xfrm>
          <a:prstGeom prst="rect">
            <a:avLst/>
          </a:prstGeom>
          <a:noFill/>
          <a:ln/>
        </p:spPr>
        <p:txBody>
          <a:bodyPr wrap="square" lIns="0" tIns="0" rIns="0" bIns="0" rtlCol="0" anchor="ctr"/>
          <a:lstStyle/>
          <a:p>
            <a:pPr algn="ctr" indent="0" marL="0">
              <a:buNone/>
            </a:pPr>
            <a:r>
              <a:rPr lang="en-US" sz="1500" b="1" dirty="0">
                <a:solidFill>
                  <a:srgbClr val="13205C"/>
                </a:solidFill>
                <a:latin typeface="Cambria" pitchFamily="34" charset="0"/>
                <a:ea typeface="Cambria" pitchFamily="34" charset="-122"/>
                <a:cs typeface="Cambria" pitchFamily="34" charset="-120"/>
              </a:rPr>
              <a:t>2</a:t>
            </a:r>
            <a:endParaRPr lang="en-US" sz="1500" dirty="0"/>
          </a:p>
        </p:txBody>
      </p:sp>
      <p:sp>
        <p:nvSpPr>
          <p:cNvPr id="10" name="Shape 8"/>
          <p:cNvSpPr/>
          <p:nvPr/>
        </p:nvSpPr>
        <p:spPr>
          <a:xfrm>
            <a:off x="4480560" y="1417320"/>
            <a:ext cx="3200400" cy="457200"/>
          </a:xfrm>
          <a:prstGeom prst="roundRect">
            <a:avLst>
              <a:gd name="adj" fmla="val 10000"/>
            </a:avLst>
          </a:prstGeom>
          <a:solidFill>
            <a:srgbClr val="13205C"/>
          </a:solidFill>
          <a:ln/>
        </p:spPr>
      </p:sp>
      <p:sp>
        <p:nvSpPr>
          <p:cNvPr id="11" name="Text 9"/>
          <p:cNvSpPr txBox="1"/>
          <p:nvPr/>
        </p:nvSpPr>
        <p:spPr>
          <a:xfrm>
            <a:off x="4480560" y="1417320"/>
            <a:ext cx="3200400" cy="457200"/>
          </a:xfrm>
          <a:prstGeom prst="rect">
            <a:avLst/>
          </a:prstGeom>
          <a:noFill/>
          <a:ln/>
        </p:spPr>
        <p:txBody>
          <a:bodyPr wrap="square" lIns="25400" tIns="25400" rIns="25400" bIns="25400" rtlCol="0" anchor="ctr"/>
          <a:lstStyle/>
          <a:p>
            <a:pPr algn="ctr" indent="0" marL="0">
              <a:lnSpc>
                <a:spcPts val="1100"/>
              </a:lnSpc>
              <a:buNone/>
            </a:pPr>
            <a:r>
              <a:rPr lang="en-US" sz="950" b="1" dirty="0">
                <a:solidFill>
                  <a:srgbClr val="FFFFFF"/>
                </a:solidFill>
                <a:latin typeface="Calibri" pitchFamily="34" charset="0"/>
                <a:ea typeface="Calibri" pitchFamily="34" charset="-122"/>
                <a:cs typeface="Calibri" pitchFamily="34" charset="-120"/>
              </a:rPr>
              <a:t>LLM Hallucination Taxonomy</a:t>
            </a:r>
            <a:endParaRPr lang="en-US" sz="950" dirty="0"/>
          </a:p>
        </p:txBody>
      </p:sp>
      <p:sp>
        <p:nvSpPr>
          <p:cNvPr id="12" name="Shape 10"/>
          <p:cNvSpPr/>
          <p:nvPr/>
        </p:nvSpPr>
        <p:spPr>
          <a:xfrm>
            <a:off x="2560320" y="2103120"/>
            <a:ext cx="2834640" cy="502920"/>
          </a:xfrm>
          <a:prstGeom prst="roundRect">
            <a:avLst>
              <a:gd name="adj" fmla="val 9091"/>
            </a:avLst>
          </a:prstGeom>
          <a:solidFill>
            <a:srgbClr val="1D4E8C"/>
          </a:solidFill>
          <a:ln/>
        </p:spPr>
      </p:sp>
      <p:sp>
        <p:nvSpPr>
          <p:cNvPr id="13" name="Text 11"/>
          <p:cNvSpPr txBox="1"/>
          <p:nvPr/>
        </p:nvSpPr>
        <p:spPr>
          <a:xfrm>
            <a:off x="2560320" y="2103120"/>
            <a:ext cx="2834640" cy="502920"/>
          </a:xfrm>
          <a:prstGeom prst="rect">
            <a:avLst/>
          </a:prstGeom>
          <a:noFill/>
          <a:ln/>
        </p:spPr>
        <p:txBody>
          <a:bodyPr wrap="square" lIns="25400" tIns="25400" rIns="25400" bIns="25400" rtlCol="0" anchor="ctr"/>
          <a:lstStyle/>
          <a:p>
            <a:pPr algn="ctr" indent="0" marL="0">
              <a:lnSpc>
                <a:spcPts val="1100"/>
              </a:lnSpc>
              <a:buNone/>
            </a:pPr>
            <a:r>
              <a:rPr lang="en-US" sz="950" b="1" dirty="0">
                <a:solidFill>
                  <a:srgbClr val="FFFFFF"/>
                </a:solidFill>
                <a:latin typeface="Calibri" pitchFamily="34" charset="0"/>
                <a:ea typeface="Calibri" pitchFamily="34" charset="-122"/>
                <a:cs typeface="Calibri" pitchFamily="34" charset="-120"/>
              </a:rPr>
              <a:t>Intrinsic</a:t>
            </a:r>
            <a:endParaRPr lang="en-US" sz="950" dirty="0"/>
          </a:p>
          <a:p>
            <a:pPr algn="ctr" indent="0" marL="0">
              <a:lnSpc>
                <a:spcPts val="1100"/>
              </a:lnSpc>
              <a:buNone/>
            </a:pPr>
            <a:r>
              <a:rPr lang="en-US" sz="950" b="1" dirty="0">
                <a:solidFill>
                  <a:srgbClr val="FFFFFF"/>
                </a:solidFill>
                <a:latin typeface="Calibri" pitchFamily="34" charset="0"/>
                <a:ea typeface="Calibri" pitchFamily="34" charset="-122"/>
                <a:cs typeface="Calibri" pitchFamily="34" charset="-120"/>
              </a:rPr>
              <a:t>contradicts source/context</a:t>
            </a:r>
            <a:endParaRPr lang="en-US" sz="950" dirty="0"/>
          </a:p>
        </p:txBody>
      </p:sp>
      <p:sp>
        <p:nvSpPr>
          <p:cNvPr id="14" name="Shape 12"/>
          <p:cNvSpPr/>
          <p:nvPr/>
        </p:nvSpPr>
        <p:spPr>
          <a:xfrm>
            <a:off x="6766560" y="2103120"/>
            <a:ext cx="2834640" cy="502920"/>
          </a:xfrm>
          <a:prstGeom prst="roundRect">
            <a:avLst>
              <a:gd name="adj" fmla="val 9091"/>
            </a:avLst>
          </a:prstGeom>
          <a:solidFill>
            <a:srgbClr val="1D4E8C"/>
          </a:solidFill>
          <a:ln/>
        </p:spPr>
      </p:sp>
      <p:sp>
        <p:nvSpPr>
          <p:cNvPr id="15" name="Text 13"/>
          <p:cNvSpPr txBox="1"/>
          <p:nvPr/>
        </p:nvSpPr>
        <p:spPr>
          <a:xfrm>
            <a:off x="6766560" y="2103120"/>
            <a:ext cx="2834640" cy="502920"/>
          </a:xfrm>
          <a:prstGeom prst="rect">
            <a:avLst/>
          </a:prstGeom>
          <a:noFill/>
          <a:ln/>
        </p:spPr>
        <p:txBody>
          <a:bodyPr wrap="square" lIns="25400" tIns="25400" rIns="25400" bIns="25400" rtlCol="0" anchor="ctr"/>
          <a:lstStyle/>
          <a:p>
            <a:pPr algn="ctr" indent="0" marL="0">
              <a:lnSpc>
                <a:spcPts val="1100"/>
              </a:lnSpc>
              <a:buNone/>
            </a:pPr>
            <a:r>
              <a:rPr lang="en-US" sz="950" b="1" dirty="0">
                <a:solidFill>
                  <a:srgbClr val="FFFFFF"/>
                </a:solidFill>
                <a:latin typeface="Calibri" pitchFamily="34" charset="0"/>
                <a:ea typeface="Calibri" pitchFamily="34" charset="-122"/>
                <a:cs typeface="Calibri" pitchFamily="34" charset="-120"/>
              </a:rPr>
              <a:t>Extrinsic</a:t>
            </a:r>
            <a:endParaRPr lang="en-US" sz="950" dirty="0"/>
          </a:p>
          <a:p>
            <a:pPr algn="ctr" indent="0" marL="0">
              <a:lnSpc>
                <a:spcPts val="1100"/>
              </a:lnSpc>
              <a:buNone/>
            </a:pPr>
            <a:r>
              <a:rPr lang="en-US" sz="950" b="1" dirty="0">
                <a:solidFill>
                  <a:srgbClr val="FFFFFF"/>
                </a:solidFill>
                <a:latin typeface="Calibri" pitchFamily="34" charset="0"/>
                <a:ea typeface="Calibri" pitchFamily="34" charset="-122"/>
                <a:cs typeface="Calibri" pitchFamily="34" charset="-120"/>
              </a:rPr>
              <a:t>cannot be verified from source</a:t>
            </a:r>
            <a:endParaRPr lang="en-US" sz="950" dirty="0"/>
          </a:p>
        </p:txBody>
      </p:sp>
      <p:sp>
        <p:nvSpPr>
          <p:cNvPr id="16" name="Shape 14"/>
          <p:cNvSpPr/>
          <p:nvPr/>
        </p:nvSpPr>
        <p:spPr>
          <a:xfrm>
            <a:off x="1280160" y="2880360"/>
            <a:ext cx="2834640" cy="502920"/>
          </a:xfrm>
          <a:prstGeom prst="roundRect">
            <a:avLst>
              <a:gd name="adj" fmla="val 9091"/>
            </a:avLst>
          </a:prstGeom>
          <a:solidFill>
            <a:srgbClr val="C9971F"/>
          </a:solidFill>
          <a:ln/>
        </p:spPr>
      </p:sp>
      <p:sp>
        <p:nvSpPr>
          <p:cNvPr id="17" name="Text 15"/>
          <p:cNvSpPr txBox="1"/>
          <p:nvPr/>
        </p:nvSpPr>
        <p:spPr>
          <a:xfrm>
            <a:off x="1280160" y="2880360"/>
            <a:ext cx="2834640" cy="502920"/>
          </a:xfrm>
          <a:prstGeom prst="rect">
            <a:avLst/>
          </a:prstGeom>
          <a:noFill/>
          <a:ln/>
        </p:spPr>
        <p:txBody>
          <a:bodyPr wrap="square" lIns="25400" tIns="25400" rIns="25400" bIns="25400" rtlCol="0" anchor="ctr"/>
          <a:lstStyle/>
          <a:p>
            <a:pPr algn="ctr" indent="0" marL="0">
              <a:lnSpc>
                <a:spcPts val="1100"/>
              </a:lnSpc>
              <a:buNone/>
            </a:pPr>
            <a:r>
              <a:rPr lang="en-US" sz="950" b="1" dirty="0">
                <a:solidFill>
                  <a:srgbClr val="FFFFFF"/>
                </a:solidFill>
                <a:latin typeface="Calibri" pitchFamily="34" charset="0"/>
                <a:ea typeface="Calibri" pitchFamily="34" charset="-122"/>
                <a:cs typeface="Calibri" pitchFamily="34" charset="-120"/>
              </a:rPr>
              <a:t>Data-Driven</a:t>
            </a:r>
            <a:endParaRPr lang="en-US" sz="950" dirty="0"/>
          </a:p>
          <a:p>
            <a:pPr algn="ctr" indent="0" marL="0">
              <a:lnSpc>
                <a:spcPts val="1100"/>
              </a:lnSpc>
              <a:buNone/>
            </a:pPr>
            <a:r>
              <a:rPr lang="en-US" sz="950" b="1" dirty="0">
                <a:solidFill>
                  <a:srgbClr val="FFFFFF"/>
                </a:solidFill>
                <a:latin typeface="Calibri" pitchFamily="34" charset="0"/>
                <a:ea typeface="Calibri" pitchFamily="34" charset="-122"/>
                <a:cs typeface="Calibri" pitchFamily="34" charset="-120"/>
              </a:rPr>
              <a:t>root: training data deficit</a:t>
            </a:r>
            <a:endParaRPr lang="en-US" sz="950" dirty="0"/>
          </a:p>
        </p:txBody>
      </p:sp>
      <p:sp>
        <p:nvSpPr>
          <p:cNvPr id="18" name="Shape 16"/>
          <p:cNvSpPr/>
          <p:nvPr/>
        </p:nvSpPr>
        <p:spPr>
          <a:xfrm>
            <a:off x="8046720" y="2880360"/>
            <a:ext cx="2834640" cy="502920"/>
          </a:xfrm>
          <a:prstGeom prst="roundRect">
            <a:avLst>
              <a:gd name="adj" fmla="val 9091"/>
            </a:avLst>
          </a:prstGeom>
          <a:solidFill>
            <a:srgbClr val="7A1F2B"/>
          </a:solidFill>
          <a:ln/>
        </p:spPr>
      </p:sp>
      <p:sp>
        <p:nvSpPr>
          <p:cNvPr id="19" name="Text 17"/>
          <p:cNvSpPr txBox="1"/>
          <p:nvPr/>
        </p:nvSpPr>
        <p:spPr>
          <a:xfrm>
            <a:off x="8046720" y="2880360"/>
            <a:ext cx="2834640" cy="502920"/>
          </a:xfrm>
          <a:prstGeom prst="rect">
            <a:avLst/>
          </a:prstGeom>
          <a:noFill/>
          <a:ln/>
        </p:spPr>
        <p:txBody>
          <a:bodyPr wrap="square" lIns="25400" tIns="25400" rIns="25400" bIns="25400" rtlCol="0" anchor="ctr"/>
          <a:lstStyle/>
          <a:p>
            <a:pPr algn="ctr" indent="0" marL="0">
              <a:lnSpc>
                <a:spcPts val="1100"/>
              </a:lnSpc>
              <a:buNone/>
            </a:pPr>
            <a:r>
              <a:rPr lang="en-US" sz="950" b="1" dirty="0">
                <a:solidFill>
                  <a:srgbClr val="FFFFFF"/>
                </a:solidFill>
                <a:latin typeface="Calibri" pitchFamily="34" charset="0"/>
                <a:ea typeface="Calibri" pitchFamily="34" charset="-122"/>
                <a:cs typeface="Calibri" pitchFamily="34" charset="-120"/>
              </a:rPr>
              <a:t>Reasoning-Driven</a:t>
            </a:r>
            <a:endParaRPr lang="en-US" sz="950" dirty="0"/>
          </a:p>
          <a:p>
            <a:pPr algn="ctr" indent="0" marL="0">
              <a:lnSpc>
                <a:spcPts val="1100"/>
              </a:lnSpc>
              <a:buNone/>
            </a:pPr>
            <a:r>
              <a:rPr lang="en-US" sz="950" b="1" dirty="0">
                <a:solidFill>
                  <a:srgbClr val="FFFFFF"/>
                </a:solidFill>
                <a:latin typeface="Calibri" pitchFamily="34" charset="0"/>
                <a:ea typeface="Calibri" pitchFamily="34" charset="-122"/>
                <a:cs typeface="Calibri" pitchFamily="34" charset="-120"/>
              </a:rPr>
              <a:t>root: inference-time logic error</a:t>
            </a:r>
            <a:endParaRPr lang="en-US" sz="950" dirty="0"/>
          </a:p>
        </p:txBody>
      </p:sp>
      <p:sp>
        <p:nvSpPr>
          <p:cNvPr id="20" name="Text 18"/>
          <p:cNvSpPr txBox="1"/>
          <p:nvPr/>
        </p:nvSpPr>
        <p:spPr>
          <a:xfrm>
            <a:off x="548640" y="3657600"/>
            <a:ext cx="11064240" cy="777240"/>
          </a:xfrm>
          <a:prstGeom prst="rect">
            <a:avLst/>
          </a:prstGeom>
          <a:noFill/>
          <a:ln/>
        </p:spPr>
        <p:txBody>
          <a:bodyPr wrap="square" lIns="0" tIns="0" rIns="0" bIns="0" rtlCol="0" anchor="ctr"/>
          <a:lstStyle/>
          <a:p>
            <a:pPr indent="0" marL="0">
              <a:lnSpc>
                <a:spcPts val="1600"/>
              </a:lnSpc>
              <a:buNone/>
            </a:pPr>
            <a:r>
              <a:rPr lang="en-US" sz="1200" dirty="0">
                <a:solidFill>
                  <a:srgbClr val="5B6472"/>
                </a:solidFill>
                <a:latin typeface="Calibri" pitchFamily="34" charset="0"/>
                <a:ea typeface="Calibri" pitchFamily="34" charset="-122"/>
                <a:cs typeface="Calibri" pitchFamily="34" charset="-120"/>
              </a:rPr>
              <a:t>We reviewed 14 papers on LLM hallucination (2022–2026), using an established causal taxonomy — Ji et al.'s intrinsic/extrinsic split, refined by Huang et al. into factuality/faithfulness, and by Zeng et al. into Data-Driven vs. Reasoning-Driven errors. </a:t>
            </a:r>
            <a:pPr indent="0" marL="0">
              <a:lnSpc>
                <a:spcPts val="1600"/>
              </a:lnSpc>
              <a:buNone/>
            </a:pPr>
            <a:r>
              <a:rPr lang="en-US" sz="1200" b="1" dirty="0">
                <a:solidFill>
                  <a:srgbClr val="5B6472"/>
                </a:solidFill>
                <a:latin typeface="Calibri" pitchFamily="34" charset="0"/>
                <a:ea typeface="Calibri" pitchFamily="34" charset="-122"/>
                <a:cs typeface="Calibri" pitchFamily="34" charset="-120"/>
              </a:rPr>
              <a:t>Our two-layer architecture is built around exactly this split: a rule engine for Data-Driven errors, a retrieval-grounded LLM for Reasoning-Driven ones.</a:t>
            </a:r>
            <a:endParaRPr lang="en-US" sz="1200" dirty="0"/>
          </a:p>
        </p:txBody>
      </p:sp>
      <p:sp>
        <p:nvSpPr>
          <p:cNvPr id="21" name="Shape 19"/>
          <p:cNvSpPr/>
          <p:nvPr/>
        </p:nvSpPr>
        <p:spPr>
          <a:xfrm>
            <a:off x="548640" y="4526280"/>
            <a:ext cx="5394960" cy="1188720"/>
          </a:xfrm>
          <a:prstGeom prst="roundRect">
            <a:avLst>
              <a:gd name="adj" fmla="val 4615"/>
            </a:avLst>
          </a:prstGeom>
          <a:solidFill>
            <a:srgbClr val="13205C"/>
          </a:solidFill>
          <a:ln/>
        </p:spPr>
      </p:sp>
      <p:sp>
        <p:nvSpPr>
          <p:cNvPr id="22" name="Text 20"/>
          <p:cNvSpPr txBox="1"/>
          <p:nvPr/>
        </p:nvSpPr>
        <p:spPr>
          <a:xfrm>
            <a:off x="822960" y="4663440"/>
            <a:ext cx="493776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GAP A — The Subdomain Gap</a:t>
            </a:r>
            <a:endParaRPr lang="en-US" sz="1250" dirty="0"/>
          </a:p>
        </p:txBody>
      </p:sp>
      <p:sp>
        <p:nvSpPr>
          <p:cNvPr id="23" name="Text 21"/>
          <p:cNvSpPr txBox="1"/>
          <p:nvPr/>
        </p:nvSpPr>
        <p:spPr>
          <a:xfrm>
            <a:off x="822960" y="5029200"/>
            <a:ext cx="4937760" cy="594360"/>
          </a:xfrm>
          <a:prstGeom prst="rect">
            <a:avLst/>
          </a:prstGeom>
          <a:noFill/>
          <a:ln/>
        </p:spPr>
        <p:txBody>
          <a:bodyPr wrap="square" lIns="0" tIns="0" rIns="0" bIns="0" rtlCol="0" anchor="ctr"/>
          <a:lstStyle/>
          <a:p>
            <a:pPr indent="0" marL="0">
              <a:lnSpc>
                <a:spcPts val="1300"/>
              </a:lnSpc>
              <a:buNone/>
            </a:pPr>
            <a:r>
              <a:rPr lang="en-US" sz="1050" dirty="0">
                <a:solidFill>
                  <a:srgbClr val="D7DEF5"/>
                </a:solidFill>
                <a:latin typeface="Calibri" pitchFamily="34" charset="0"/>
                <a:ea typeface="Calibri" pitchFamily="34" charset="-122"/>
                <a:cs typeface="Calibri" pitchFamily="34" charset="-120"/>
              </a:rPr>
              <a:t>No benchmark spans mechanical, electrical, software, and safety together.</a:t>
            </a:r>
            <a:endParaRPr lang="en-US" sz="1050" dirty="0"/>
          </a:p>
        </p:txBody>
      </p:sp>
      <p:sp>
        <p:nvSpPr>
          <p:cNvPr id="24" name="Shape 22"/>
          <p:cNvSpPr/>
          <p:nvPr/>
        </p:nvSpPr>
        <p:spPr>
          <a:xfrm>
            <a:off x="6217920" y="4526280"/>
            <a:ext cx="5394960" cy="1188720"/>
          </a:xfrm>
          <a:prstGeom prst="roundRect">
            <a:avLst>
              <a:gd name="adj" fmla="val 4615"/>
            </a:avLst>
          </a:prstGeom>
          <a:solidFill>
            <a:srgbClr val="13205C"/>
          </a:solidFill>
          <a:ln/>
        </p:spPr>
      </p:sp>
      <p:sp>
        <p:nvSpPr>
          <p:cNvPr id="25" name="Text 23"/>
          <p:cNvSpPr txBox="1"/>
          <p:nvPr/>
        </p:nvSpPr>
        <p:spPr>
          <a:xfrm>
            <a:off x="6492240" y="4663440"/>
            <a:ext cx="493776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GAP B — The Usability Gap</a:t>
            </a:r>
            <a:endParaRPr lang="en-US" sz="1250" dirty="0"/>
          </a:p>
        </p:txBody>
      </p:sp>
      <p:sp>
        <p:nvSpPr>
          <p:cNvPr id="26" name="Text 24"/>
          <p:cNvSpPr txBox="1"/>
          <p:nvPr/>
        </p:nvSpPr>
        <p:spPr>
          <a:xfrm>
            <a:off x="6492240" y="5029200"/>
            <a:ext cx="4937760" cy="594360"/>
          </a:xfrm>
          <a:prstGeom prst="rect">
            <a:avLst/>
          </a:prstGeom>
          <a:noFill/>
          <a:ln/>
        </p:spPr>
        <p:txBody>
          <a:bodyPr wrap="square" lIns="0" tIns="0" rIns="0" bIns="0" rtlCol="0" anchor="ctr"/>
          <a:lstStyle/>
          <a:p>
            <a:pPr indent="0" marL="0">
              <a:lnSpc>
                <a:spcPts val="1300"/>
              </a:lnSpc>
              <a:buNone/>
            </a:pPr>
            <a:r>
              <a:rPr lang="en-US" sz="1050" dirty="0">
                <a:solidFill>
                  <a:srgbClr val="D7DEF5"/>
                </a:solidFill>
                <a:latin typeface="Calibri" pitchFamily="34" charset="0"/>
                <a:ea typeface="Calibri" pitchFamily="34" charset="-122"/>
                <a:cs typeface="Calibri" pitchFamily="34" charset="-120"/>
              </a:rPr>
              <a:t>No real-time tool both detects and corrects. (Only Pavel et al., Balu et al., Mahawatta Dona et al. touch automotive — each narrow to one subdomain.)</a:t>
            </a:r>
            <a:endParaRPr lang="en-US" sz="1050" dirty="0"/>
          </a:p>
        </p:txBody>
      </p:sp>
      <p:sp>
        <p:nvSpPr>
          <p:cNvPr id="27" name="Text 25"/>
          <p:cNvSpPr txBox="1"/>
          <p:nvPr/>
        </p:nvSpPr>
        <p:spPr>
          <a:xfrm>
            <a:off x="548640" y="5806440"/>
            <a:ext cx="11064240" cy="411480"/>
          </a:xfrm>
          <a:prstGeom prst="rect">
            <a:avLst/>
          </a:prstGeom>
          <a:noFill/>
          <a:ln/>
        </p:spPr>
        <p:txBody>
          <a:bodyPr wrap="square" lIns="0" tIns="0" rIns="0" bIns="0" rtlCol="0" anchor="ctr"/>
          <a:lstStyle/>
          <a:p>
            <a:pPr indent="0" marL="0">
              <a:buNone/>
            </a:pPr>
            <a:r>
              <a:rPr lang="en-US" sz="1100" i="1" dirty="0">
                <a:solidFill>
                  <a:srgbClr val="2C5FB8"/>
                </a:solidFill>
                <a:latin typeface="Calibri" pitchFamily="34" charset="0"/>
                <a:ea typeface="Calibri" pitchFamily="34" charset="-122"/>
                <a:cs typeface="Calibri" pitchFamily="34" charset="-120"/>
              </a:rPr>
              <a:t>Industry evidence: hybrid RAG designs like ours cut hallucination errors by 35–60% — reinforcing the direction we took.</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7315200" cy="274320"/>
          </a:xfrm>
          <a:prstGeom prst="rect">
            <a:avLst/>
          </a:prstGeom>
          <a:noFill/>
          <a:ln/>
        </p:spPr>
        <p:txBody>
          <a:bodyPr wrap="square" lIns="0" tIns="0" rIns="0" bIns="0" rtlCol="0" anchor="ctr"/>
          <a:lstStyle/>
          <a:p>
            <a:pPr indent="0" marL="0">
              <a:buNone/>
            </a:pPr>
            <a:r>
              <a:rPr lang="en-US" sz="1050" b="1" spc="200" kern="0" dirty="0">
                <a:solidFill>
                  <a:srgbClr val="2C5FB8"/>
                </a:solidFill>
                <a:latin typeface="Calibri" pitchFamily="34" charset="0"/>
                <a:ea typeface="Calibri" pitchFamily="34" charset="-122"/>
                <a:cs typeface="Calibri" pitchFamily="34" charset="-120"/>
              </a:rPr>
              <a:t>RESEARCH OBJECTIVES &amp; KEY CONTRIBUTIONS</a:t>
            </a:r>
            <a:endParaRPr lang="en-US" sz="1050" dirty="0"/>
          </a:p>
        </p:txBody>
      </p:sp>
      <p:sp>
        <p:nvSpPr>
          <p:cNvPr id="3" name="Text 1"/>
          <p:cNvSpPr txBox="1"/>
          <p:nvPr/>
        </p:nvSpPr>
        <p:spPr>
          <a:xfrm>
            <a:off x="457200" y="566928"/>
            <a:ext cx="9601200" cy="640080"/>
          </a:xfrm>
          <a:prstGeom prst="rect">
            <a:avLst/>
          </a:prstGeom>
          <a:noFill/>
          <a:ln/>
        </p:spPr>
        <p:txBody>
          <a:bodyPr wrap="square" lIns="0" tIns="0" rIns="0" bIns="0" rtlCol="0" anchor="ctr"/>
          <a:lstStyle/>
          <a:p>
            <a:pPr indent="0" marL="0">
              <a:buNone/>
            </a:pPr>
            <a:r>
              <a:rPr lang="en-US" sz="2600" b="1" dirty="0">
                <a:solidFill>
                  <a:srgbClr val="16255E"/>
                </a:solidFill>
                <a:latin typeface="Cambria" pitchFamily="34" charset="0"/>
                <a:ea typeface="Cambria" pitchFamily="34" charset="-122"/>
                <a:cs typeface="Cambria" pitchFamily="34" charset="-120"/>
              </a:rPr>
              <a:t>Three Contributions</a:t>
            </a:r>
            <a:endParaRPr lang="en-US" sz="2600" dirty="0"/>
          </a:p>
        </p:txBody>
      </p:sp>
      <p:sp>
        <p:nvSpPr>
          <p:cNvPr id="4" name="Shape 2"/>
          <p:cNvSpPr/>
          <p:nvPr/>
        </p:nvSpPr>
        <p:spPr>
          <a:xfrm>
            <a:off x="11109960" y="256032"/>
            <a:ext cx="685800" cy="685800"/>
          </a:xfrm>
          <a:prstGeom prst="ellipse">
            <a:avLst/>
          </a:prstGeom>
          <a:solidFill>
            <a:srgbClr val="FFFFFF"/>
          </a:solidFill>
          <a:ln w="19050">
            <a:solidFill>
              <a:srgbClr val="13205C"/>
            </a:solidFill>
            <a:prstDash val="solid"/>
          </a:ln>
        </p:spPr>
      </p:sp>
      <p:sp>
        <p:nvSpPr>
          <p:cNvPr id="5" name="Text 3"/>
          <p:cNvSpPr txBox="1"/>
          <p:nvPr/>
        </p:nvSpPr>
        <p:spPr>
          <a:xfrm>
            <a:off x="11109960" y="256032"/>
            <a:ext cx="685800" cy="685800"/>
          </a:xfrm>
          <a:prstGeom prst="rect">
            <a:avLst/>
          </a:prstGeom>
          <a:noFill/>
          <a:ln/>
        </p:spPr>
        <p:txBody>
          <a:bodyPr wrap="square" lIns="0" tIns="0" rIns="0" bIns="0" rtlCol="0" anchor="ctr"/>
          <a:lstStyle/>
          <a:p>
            <a:pPr algn="ctr" indent="0" marL="0">
              <a:lnSpc>
                <a:spcPts val="800"/>
              </a:lnSpc>
              <a:buNone/>
            </a:pPr>
            <a:r>
              <a:rPr lang="en-US" sz="700" b="1" dirty="0">
                <a:solidFill>
                  <a:srgbClr val="13205C"/>
                </a:solidFill>
                <a:latin typeface="Calibri" pitchFamily="34" charset="0"/>
                <a:ea typeface="Calibri" pitchFamily="34" charset="-122"/>
                <a:cs typeface="Calibri" pitchFamily="34" charset="-120"/>
              </a:rPr>
              <a:t>AIB</a:t>
            </a:r>
            <a:endParaRPr lang="en-US" sz="700" dirty="0"/>
          </a:p>
          <a:p>
            <a:pPr algn="ctr" indent="0" marL="0">
              <a:lnSpc>
                <a:spcPts val="800"/>
              </a:lnSpc>
              <a:buNone/>
            </a:pPr>
            <a:r>
              <a:rPr lang="en-US" sz="700" b="1" dirty="0">
                <a:solidFill>
                  <a:srgbClr val="13205C"/>
                </a:solidFill>
                <a:latin typeface="Calibri" pitchFamily="34" charset="0"/>
                <a:ea typeface="Calibri" pitchFamily="34" charset="-122"/>
                <a:cs typeface="Calibri" pitchFamily="34" charset="-120"/>
              </a:rPr>
              <a:t>THINGS</a:t>
            </a:r>
            <a:endParaRPr lang="en-US" sz="700" dirty="0"/>
          </a:p>
        </p:txBody>
      </p:sp>
      <p:sp>
        <p:nvSpPr>
          <p:cNvPr id="6" name="Shape 4"/>
          <p:cNvSpPr/>
          <p:nvPr/>
        </p:nvSpPr>
        <p:spPr>
          <a:xfrm>
            <a:off x="0" y="6400800"/>
            <a:ext cx="12191695" cy="457200"/>
          </a:xfrm>
          <a:prstGeom prst="rect">
            <a:avLst/>
          </a:prstGeom>
          <a:solidFill>
            <a:srgbClr val="13205C"/>
          </a:solidFill>
          <a:ln/>
        </p:spPr>
      </p:sp>
      <p:sp>
        <p:nvSpPr>
          <p:cNvPr id="7" name="Text 5"/>
          <p:cNvSpPr txBox="1"/>
          <p:nvPr/>
        </p:nvSpPr>
        <p:spPr>
          <a:xfrm>
            <a:off x="457200" y="6400800"/>
            <a:ext cx="5486400"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AIBTHINGS 2026  •  PAPER #465</a:t>
            </a:r>
            <a:endParaRPr lang="en-US" sz="1000" dirty="0"/>
          </a:p>
        </p:txBody>
      </p:sp>
      <p:sp>
        <p:nvSpPr>
          <p:cNvPr id="8" name="Shape 6"/>
          <p:cNvSpPr/>
          <p:nvPr/>
        </p:nvSpPr>
        <p:spPr>
          <a:xfrm>
            <a:off x="11475720" y="6199632"/>
            <a:ext cx="566928" cy="566928"/>
          </a:xfrm>
          <a:prstGeom prst="ellipse">
            <a:avLst/>
          </a:prstGeom>
          <a:solidFill>
            <a:srgbClr val="FFFFFF"/>
          </a:solidFill>
          <a:ln w="19050">
            <a:solidFill>
              <a:srgbClr val="13205C"/>
            </a:solidFill>
            <a:prstDash val="solid"/>
          </a:ln>
        </p:spPr>
      </p:sp>
      <p:sp>
        <p:nvSpPr>
          <p:cNvPr id="9" name="Text 7"/>
          <p:cNvSpPr txBox="1"/>
          <p:nvPr/>
        </p:nvSpPr>
        <p:spPr>
          <a:xfrm>
            <a:off x="11475720" y="6199632"/>
            <a:ext cx="566928" cy="566928"/>
          </a:xfrm>
          <a:prstGeom prst="rect">
            <a:avLst/>
          </a:prstGeom>
          <a:noFill/>
          <a:ln/>
        </p:spPr>
        <p:txBody>
          <a:bodyPr wrap="square" lIns="0" tIns="0" rIns="0" bIns="0" rtlCol="0" anchor="ctr"/>
          <a:lstStyle/>
          <a:p>
            <a:pPr algn="ctr" indent="0" marL="0">
              <a:buNone/>
            </a:pPr>
            <a:r>
              <a:rPr lang="en-US" sz="1500" b="1" dirty="0">
                <a:solidFill>
                  <a:srgbClr val="13205C"/>
                </a:solidFill>
                <a:latin typeface="Cambria" pitchFamily="34" charset="0"/>
                <a:ea typeface="Cambria" pitchFamily="34" charset="-122"/>
                <a:cs typeface="Cambria" pitchFamily="34" charset="-120"/>
              </a:rPr>
              <a:t>3</a:t>
            </a:r>
            <a:endParaRPr lang="en-US" sz="1500" dirty="0"/>
          </a:p>
        </p:txBody>
      </p:sp>
      <p:sp>
        <p:nvSpPr>
          <p:cNvPr id="10" name="Shape 8"/>
          <p:cNvSpPr/>
          <p:nvPr/>
        </p:nvSpPr>
        <p:spPr>
          <a:xfrm>
            <a:off x="548640" y="1554480"/>
            <a:ext cx="3611880" cy="2103120"/>
          </a:xfrm>
          <a:prstGeom prst="rect">
            <a:avLst/>
          </a:prstGeom>
          <a:solidFill>
            <a:srgbClr val="7A1F2B"/>
          </a:solidFill>
          <a:ln/>
        </p:spPr>
      </p:sp>
      <p:sp>
        <p:nvSpPr>
          <p:cNvPr id="11" name="Text 9"/>
          <p:cNvSpPr txBox="1"/>
          <p:nvPr/>
        </p:nvSpPr>
        <p:spPr>
          <a:xfrm>
            <a:off x="777240" y="1691640"/>
            <a:ext cx="1828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01.</a:t>
            </a:r>
            <a:endParaRPr lang="en-US" sz="3000" dirty="0"/>
          </a:p>
        </p:txBody>
      </p:sp>
      <p:sp>
        <p:nvSpPr>
          <p:cNvPr id="12" name="Text 10"/>
          <p:cNvSpPr txBox="1"/>
          <p:nvPr/>
        </p:nvSpPr>
        <p:spPr>
          <a:xfrm>
            <a:off x="777240" y="2651760"/>
            <a:ext cx="3154680" cy="822960"/>
          </a:xfrm>
          <a:prstGeom prst="rect">
            <a:avLst/>
          </a:prstGeom>
          <a:noFill/>
          <a:ln/>
        </p:spPr>
        <p:txBody>
          <a:bodyPr wrap="square" lIns="0" tIns="0" rIns="0" bIns="0" rtlCol="0" anchor="ctr"/>
          <a:lstStyle/>
          <a:p>
            <a:pPr indent="0" marL="0">
              <a:lnSpc>
                <a:spcPts val="1900"/>
              </a:lnSpc>
              <a:buNone/>
            </a:pPr>
            <a:r>
              <a:rPr lang="en-US" sz="1600" b="1" dirty="0">
                <a:solidFill>
                  <a:srgbClr val="FFFFFF"/>
                </a:solidFill>
                <a:latin typeface="Cambria" pitchFamily="34" charset="0"/>
                <a:ea typeface="Cambria" pitchFamily="34" charset="-122"/>
                <a:cs typeface="Cambria" pitchFamily="34" charset="-120"/>
              </a:rPr>
              <a:t>Literature</a:t>
            </a:r>
            <a:endParaRPr lang="en-US" sz="1600" dirty="0"/>
          </a:p>
          <a:p>
            <a:pPr indent="0" marL="0">
              <a:lnSpc>
                <a:spcPts val="1900"/>
              </a:lnSpc>
              <a:buNone/>
            </a:pPr>
            <a:r>
              <a:rPr lang="en-US" sz="1600" b="1" dirty="0">
                <a:solidFill>
                  <a:srgbClr val="FFFFFF"/>
                </a:solidFill>
                <a:latin typeface="Cambria" pitchFamily="34" charset="0"/>
                <a:ea typeface="Cambria" pitchFamily="34" charset="-122"/>
                <a:cs typeface="Cambria" pitchFamily="34" charset="-120"/>
              </a:rPr>
              <a:t>Review</a:t>
            </a:r>
            <a:endParaRPr lang="en-US" sz="1600" dirty="0"/>
          </a:p>
        </p:txBody>
      </p:sp>
      <p:sp>
        <p:nvSpPr>
          <p:cNvPr id="13" name="Shape 11"/>
          <p:cNvSpPr/>
          <p:nvPr/>
        </p:nvSpPr>
        <p:spPr>
          <a:xfrm>
            <a:off x="4279392" y="1554480"/>
            <a:ext cx="3611880" cy="2103120"/>
          </a:xfrm>
          <a:prstGeom prst="rect">
            <a:avLst/>
          </a:prstGeom>
          <a:solidFill>
            <a:srgbClr val="C9971F"/>
          </a:solidFill>
          <a:ln/>
        </p:spPr>
      </p:sp>
      <p:sp>
        <p:nvSpPr>
          <p:cNvPr id="14" name="Text 12"/>
          <p:cNvSpPr txBox="1"/>
          <p:nvPr/>
        </p:nvSpPr>
        <p:spPr>
          <a:xfrm>
            <a:off x="4507992" y="1691640"/>
            <a:ext cx="1828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02.</a:t>
            </a:r>
            <a:endParaRPr lang="en-US" sz="3000" dirty="0"/>
          </a:p>
        </p:txBody>
      </p:sp>
      <p:sp>
        <p:nvSpPr>
          <p:cNvPr id="15" name="Text 13"/>
          <p:cNvSpPr txBox="1"/>
          <p:nvPr/>
        </p:nvSpPr>
        <p:spPr>
          <a:xfrm>
            <a:off x="4507992" y="2651760"/>
            <a:ext cx="3154680" cy="822960"/>
          </a:xfrm>
          <a:prstGeom prst="rect">
            <a:avLst/>
          </a:prstGeom>
          <a:noFill/>
          <a:ln/>
        </p:spPr>
        <p:txBody>
          <a:bodyPr wrap="square" lIns="0" tIns="0" rIns="0" bIns="0" rtlCol="0" anchor="ctr"/>
          <a:lstStyle/>
          <a:p>
            <a:pPr indent="0" marL="0">
              <a:lnSpc>
                <a:spcPts val="1900"/>
              </a:lnSpc>
              <a:buNone/>
            </a:pPr>
            <a:r>
              <a:rPr lang="en-US" sz="1600" b="1" dirty="0">
                <a:solidFill>
                  <a:srgbClr val="FFFFFF"/>
                </a:solidFill>
                <a:latin typeface="Cambria" pitchFamily="34" charset="0"/>
                <a:ea typeface="Cambria" pitchFamily="34" charset="-122"/>
                <a:cs typeface="Cambria" pitchFamily="34" charset="-120"/>
              </a:rPr>
              <a:t>The Verifier</a:t>
            </a:r>
            <a:endParaRPr lang="en-US" sz="1600" dirty="0"/>
          </a:p>
        </p:txBody>
      </p:sp>
      <p:sp>
        <p:nvSpPr>
          <p:cNvPr id="16" name="Shape 14"/>
          <p:cNvSpPr/>
          <p:nvPr/>
        </p:nvSpPr>
        <p:spPr>
          <a:xfrm>
            <a:off x="8010144" y="1554480"/>
            <a:ext cx="3611880" cy="2103120"/>
          </a:xfrm>
          <a:prstGeom prst="rect">
            <a:avLst/>
          </a:prstGeom>
          <a:solidFill>
            <a:srgbClr val="1D3E9C"/>
          </a:solidFill>
          <a:ln/>
        </p:spPr>
      </p:sp>
      <p:sp>
        <p:nvSpPr>
          <p:cNvPr id="17" name="Text 15"/>
          <p:cNvSpPr txBox="1"/>
          <p:nvPr/>
        </p:nvSpPr>
        <p:spPr>
          <a:xfrm>
            <a:off x="8238744" y="1691640"/>
            <a:ext cx="1828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03.</a:t>
            </a:r>
            <a:endParaRPr lang="en-US" sz="3000" dirty="0"/>
          </a:p>
        </p:txBody>
      </p:sp>
      <p:sp>
        <p:nvSpPr>
          <p:cNvPr id="18" name="Text 16"/>
          <p:cNvSpPr txBox="1"/>
          <p:nvPr/>
        </p:nvSpPr>
        <p:spPr>
          <a:xfrm>
            <a:off x="8238744" y="2651760"/>
            <a:ext cx="3154680" cy="822960"/>
          </a:xfrm>
          <a:prstGeom prst="rect">
            <a:avLst/>
          </a:prstGeom>
          <a:noFill/>
          <a:ln/>
        </p:spPr>
        <p:txBody>
          <a:bodyPr wrap="square" lIns="0" tIns="0" rIns="0" bIns="0" rtlCol="0" anchor="ctr"/>
          <a:lstStyle/>
          <a:p>
            <a:pPr indent="0" marL="0">
              <a:lnSpc>
                <a:spcPts val="1900"/>
              </a:lnSpc>
              <a:buNone/>
            </a:pPr>
            <a:r>
              <a:rPr lang="en-US" sz="1600" b="1" dirty="0">
                <a:solidFill>
                  <a:srgbClr val="FFFFFF"/>
                </a:solidFill>
                <a:latin typeface="Cambria" pitchFamily="34" charset="0"/>
                <a:ea typeface="Cambria" pitchFamily="34" charset="-122"/>
                <a:cs typeface="Cambria" pitchFamily="34" charset="-120"/>
              </a:rPr>
              <a:t>300-Case Corpus</a:t>
            </a:r>
            <a:endParaRPr lang="en-US" sz="1600" dirty="0"/>
          </a:p>
        </p:txBody>
      </p:sp>
      <p:sp>
        <p:nvSpPr>
          <p:cNvPr id="19" name="Text 17"/>
          <p:cNvSpPr txBox="1"/>
          <p:nvPr/>
        </p:nvSpPr>
        <p:spPr>
          <a:xfrm>
            <a:off x="548640" y="3977640"/>
            <a:ext cx="11064240" cy="1371600"/>
          </a:xfrm>
          <a:prstGeom prst="rect">
            <a:avLst/>
          </a:prstGeom>
          <a:noFill/>
          <a:ln/>
        </p:spPr>
        <p:txBody>
          <a:bodyPr wrap="square" lIns="0" tIns="0" rIns="0" bIns="0" rtlCol="0" anchor="ctr"/>
          <a:lstStyle/>
          <a:p>
            <a:pPr indent="0" marL="0">
              <a:lnSpc>
                <a:spcPts val="2000"/>
              </a:lnSpc>
              <a:buNone/>
            </a:pPr>
            <a:r>
              <a:rPr lang="en-US" sz="1300" b="1" dirty="0">
                <a:solidFill>
                  <a:srgbClr val="5B6472"/>
                </a:solidFill>
                <a:latin typeface="Calibri" pitchFamily="34" charset="0"/>
                <a:ea typeface="Calibri" pitchFamily="34" charset="-122"/>
                <a:cs typeface="Calibri" pitchFamily="34" charset="-120"/>
              </a:rPr>
              <a:t>First, </a:t>
            </a:r>
            <a:pPr indent="0" marL="0">
              <a:lnSpc>
                <a:spcPts val="2000"/>
              </a:lnSpc>
              <a:buNone/>
            </a:pPr>
            <a:r>
              <a:rPr lang="en-US" sz="1300" dirty="0">
                <a:solidFill>
                  <a:srgbClr val="5B6472"/>
                </a:solidFill>
                <a:latin typeface="Calibri" pitchFamily="34" charset="0"/>
                <a:ea typeface="Calibri" pitchFamily="34" charset="-122"/>
                <a:cs typeface="Calibri" pitchFamily="34" charset="-120"/>
              </a:rPr>
              <a:t>the structured review itself, which makes these two gaps explicit.
</a:t>
            </a:r>
            <a:pPr indent="0" marL="0">
              <a:lnSpc>
                <a:spcPts val="2000"/>
              </a:lnSpc>
              <a:buNone/>
            </a:pPr>
            <a:r>
              <a:rPr lang="en-US" sz="1300" b="1" dirty="0">
                <a:solidFill>
                  <a:srgbClr val="5B6472"/>
                </a:solidFill>
                <a:latin typeface="Calibri" pitchFamily="34" charset="0"/>
                <a:ea typeface="Calibri" pitchFamily="34" charset="-122"/>
                <a:cs typeface="Calibri" pitchFamily="34" charset="-120"/>
              </a:rPr>
              <a:t>Second, </a:t>
            </a:r>
            <a:pPr indent="0" marL="0">
              <a:lnSpc>
                <a:spcPts val="2000"/>
              </a:lnSpc>
              <a:buNone/>
            </a:pPr>
            <a:r>
              <a:rPr lang="en-US" sz="1300" dirty="0">
                <a:solidFill>
                  <a:srgbClr val="5B6472"/>
                </a:solidFill>
                <a:latin typeface="Calibri" pitchFamily="34" charset="0"/>
                <a:ea typeface="Calibri" pitchFamily="34" charset="-122"/>
                <a:cs typeface="Calibri" pitchFamily="34" charset="-120"/>
              </a:rPr>
              <a:t>The Verifier: a real-time detection-and-correction pipeline, delivered as a Chrome extension with a live dashboard, so it fits into the engineer's normal workflow.
</a:t>
            </a:r>
            <a:pPr indent="0" marL="0">
              <a:lnSpc>
                <a:spcPts val="2000"/>
              </a:lnSpc>
              <a:buNone/>
            </a:pPr>
            <a:r>
              <a:rPr lang="en-US" sz="1300" b="1" dirty="0">
                <a:solidFill>
                  <a:srgbClr val="5B6472"/>
                </a:solidFill>
                <a:latin typeface="Calibri" pitchFamily="34" charset="0"/>
                <a:ea typeface="Calibri" pitchFamily="34" charset="-122"/>
                <a:cs typeface="Calibri" pitchFamily="34" charset="-120"/>
              </a:rPr>
              <a:t>Third, </a:t>
            </a:r>
            <a:pPr indent="0" marL="0">
              <a:lnSpc>
                <a:spcPts val="2000"/>
              </a:lnSpc>
              <a:buNone/>
            </a:pPr>
            <a:r>
              <a:rPr lang="en-US" sz="1300" dirty="0">
                <a:solidFill>
                  <a:srgbClr val="5B6472"/>
                </a:solidFill>
                <a:latin typeface="Calibri" pitchFamily="34" charset="0"/>
                <a:ea typeface="Calibri" pitchFamily="34" charset="-122"/>
                <a:cs typeface="Calibri" pitchFamily="34" charset="-120"/>
              </a:rPr>
              <a:t>a 300-case evaluation corpus, spanning all four subdomains at once.</a:t>
            </a:r>
            <a:endParaRPr lang="en-US" sz="1300" dirty="0"/>
          </a:p>
        </p:txBody>
      </p:sp>
      <p:sp>
        <p:nvSpPr>
          <p:cNvPr id="20" name="Shape 18"/>
          <p:cNvSpPr/>
          <p:nvPr/>
        </p:nvSpPr>
        <p:spPr>
          <a:xfrm>
            <a:off x="548640" y="5486400"/>
            <a:ext cx="11064240" cy="685800"/>
          </a:xfrm>
          <a:prstGeom prst="roundRect">
            <a:avLst>
              <a:gd name="adj" fmla="val 8000"/>
            </a:avLst>
          </a:prstGeom>
          <a:solidFill>
            <a:srgbClr val="F5F6FA"/>
          </a:solidFill>
          <a:ln w="12700">
            <a:solidFill>
              <a:srgbClr val="E4E9F5"/>
            </a:solidFill>
            <a:prstDash val="solid"/>
          </a:ln>
        </p:spPr>
      </p:sp>
      <p:sp>
        <p:nvSpPr>
          <p:cNvPr id="21" name="Text 19"/>
          <p:cNvSpPr txBox="1"/>
          <p:nvPr/>
        </p:nvSpPr>
        <p:spPr>
          <a:xfrm>
            <a:off x="777240" y="5486400"/>
            <a:ext cx="10607040" cy="685800"/>
          </a:xfrm>
          <a:prstGeom prst="rect">
            <a:avLst/>
          </a:prstGeom>
          <a:noFill/>
          <a:ln/>
        </p:spPr>
        <p:txBody>
          <a:bodyPr wrap="square" lIns="0" tIns="0" rIns="0" bIns="0" rtlCol="0" anchor="ctr"/>
          <a:lstStyle/>
          <a:p>
            <a:pPr indent="0" marL="0">
              <a:buNone/>
            </a:pPr>
            <a:r>
              <a:rPr lang="en-US" sz="1150" i="1" dirty="0">
                <a:solidFill>
                  <a:srgbClr val="13205C"/>
                </a:solidFill>
                <a:latin typeface="Calibri" pitchFamily="34" charset="0"/>
                <a:ea typeface="Calibri" pitchFamily="34" charset="-122"/>
                <a:cs typeface="Calibri" pitchFamily="34" charset="-120"/>
              </a:rPr>
              <a:t>Not a new detection algorithm — a working system, built on an established hallucination taxonomy, and tested carefully.</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7315200" cy="274320"/>
          </a:xfrm>
          <a:prstGeom prst="rect">
            <a:avLst/>
          </a:prstGeom>
          <a:noFill/>
          <a:ln/>
        </p:spPr>
        <p:txBody>
          <a:bodyPr wrap="square" lIns="0" tIns="0" rIns="0" bIns="0" rtlCol="0" anchor="ctr"/>
          <a:lstStyle/>
          <a:p>
            <a:pPr indent="0" marL="0">
              <a:buNone/>
            </a:pPr>
            <a:r>
              <a:rPr lang="en-US" sz="1050" b="1" spc="200" kern="0" dirty="0">
                <a:solidFill>
                  <a:srgbClr val="2C5FB8"/>
                </a:solidFill>
                <a:latin typeface="Calibri" pitchFamily="34" charset="0"/>
                <a:ea typeface="Calibri" pitchFamily="34" charset="-122"/>
                <a:cs typeface="Calibri" pitchFamily="34" charset="-120"/>
              </a:rPr>
              <a:t>MATERIALS &amp; METHODOLOGY</a:t>
            </a:r>
            <a:endParaRPr lang="en-US" sz="1050" dirty="0"/>
          </a:p>
        </p:txBody>
      </p:sp>
      <p:sp>
        <p:nvSpPr>
          <p:cNvPr id="3" name="Text 1"/>
          <p:cNvSpPr txBox="1"/>
          <p:nvPr/>
        </p:nvSpPr>
        <p:spPr>
          <a:xfrm>
            <a:off x="457200" y="566928"/>
            <a:ext cx="9601200" cy="640080"/>
          </a:xfrm>
          <a:prstGeom prst="rect">
            <a:avLst/>
          </a:prstGeom>
          <a:noFill/>
          <a:ln/>
        </p:spPr>
        <p:txBody>
          <a:bodyPr wrap="square" lIns="0" tIns="0" rIns="0" bIns="0" rtlCol="0" anchor="ctr"/>
          <a:lstStyle/>
          <a:p>
            <a:pPr indent="0" marL="0">
              <a:buNone/>
            </a:pPr>
            <a:r>
              <a:rPr lang="en-US" sz="2600" b="1" dirty="0">
                <a:solidFill>
                  <a:srgbClr val="16255E"/>
                </a:solidFill>
                <a:latin typeface="Cambria" pitchFamily="34" charset="0"/>
                <a:ea typeface="Cambria" pitchFamily="34" charset="-122"/>
                <a:cs typeface="Cambria" pitchFamily="34" charset="-120"/>
              </a:rPr>
              <a:t>A Seven-Stage Hybrid Pipeline</a:t>
            </a:r>
            <a:endParaRPr lang="en-US" sz="2600" dirty="0"/>
          </a:p>
        </p:txBody>
      </p:sp>
      <p:sp>
        <p:nvSpPr>
          <p:cNvPr id="4" name="Shape 2"/>
          <p:cNvSpPr/>
          <p:nvPr/>
        </p:nvSpPr>
        <p:spPr>
          <a:xfrm>
            <a:off x="11109960" y="256032"/>
            <a:ext cx="685800" cy="685800"/>
          </a:xfrm>
          <a:prstGeom prst="ellipse">
            <a:avLst/>
          </a:prstGeom>
          <a:solidFill>
            <a:srgbClr val="FFFFFF"/>
          </a:solidFill>
          <a:ln w="19050">
            <a:solidFill>
              <a:srgbClr val="13205C"/>
            </a:solidFill>
            <a:prstDash val="solid"/>
          </a:ln>
        </p:spPr>
      </p:sp>
      <p:sp>
        <p:nvSpPr>
          <p:cNvPr id="5" name="Text 3"/>
          <p:cNvSpPr txBox="1"/>
          <p:nvPr/>
        </p:nvSpPr>
        <p:spPr>
          <a:xfrm>
            <a:off x="11109960" y="256032"/>
            <a:ext cx="685800" cy="685800"/>
          </a:xfrm>
          <a:prstGeom prst="rect">
            <a:avLst/>
          </a:prstGeom>
          <a:noFill/>
          <a:ln/>
        </p:spPr>
        <p:txBody>
          <a:bodyPr wrap="square" lIns="0" tIns="0" rIns="0" bIns="0" rtlCol="0" anchor="ctr"/>
          <a:lstStyle/>
          <a:p>
            <a:pPr algn="ctr" indent="0" marL="0">
              <a:lnSpc>
                <a:spcPts val="800"/>
              </a:lnSpc>
              <a:buNone/>
            </a:pPr>
            <a:r>
              <a:rPr lang="en-US" sz="700" b="1" dirty="0">
                <a:solidFill>
                  <a:srgbClr val="13205C"/>
                </a:solidFill>
                <a:latin typeface="Calibri" pitchFamily="34" charset="0"/>
                <a:ea typeface="Calibri" pitchFamily="34" charset="-122"/>
                <a:cs typeface="Calibri" pitchFamily="34" charset="-120"/>
              </a:rPr>
              <a:t>AIB</a:t>
            </a:r>
            <a:endParaRPr lang="en-US" sz="700" dirty="0"/>
          </a:p>
          <a:p>
            <a:pPr algn="ctr" indent="0" marL="0">
              <a:lnSpc>
                <a:spcPts val="800"/>
              </a:lnSpc>
              <a:buNone/>
            </a:pPr>
            <a:r>
              <a:rPr lang="en-US" sz="700" b="1" dirty="0">
                <a:solidFill>
                  <a:srgbClr val="13205C"/>
                </a:solidFill>
                <a:latin typeface="Calibri" pitchFamily="34" charset="0"/>
                <a:ea typeface="Calibri" pitchFamily="34" charset="-122"/>
                <a:cs typeface="Calibri" pitchFamily="34" charset="-120"/>
              </a:rPr>
              <a:t>THINGS</a:t>
            </a:r>
            <a:endParaRPr lang="en-US" sz="700" dirty="0"/>
          </a:p>
        </p:txBody>
      </p:sp>
      <p:sp>
        <p:nvSpPr>
          <p:cNvPr id="6" name="Shape 4"/>
          <p:cNvSpPr/>
          <p:nvPr/>
        </p:nvSpPr>
        <p:spPr>
          <a:xfrm>
            <a:off x="0" y="6400800"/>
            <a:ext cx="12191695" cy="457200"/>
          </a:xfrm>
          <a:prstGeom prst="rect">
            <a:avLst/>
          </a:prstGeom>
          <a:solidFill>
            <a:srgbClr val="13205C"/>
          </a:solidFill>
          <a:ln/>
        </p:spPr>
      </p:sp>
      <p:sp>
        <p:nvSpPr>
          <p:cNvPr id="7" name="Text 5"/>
          <p:cNvSpPr txBox="1"/>
          <p:nvPr/>
        </p:nvSpPr>
        <p:spPr>
          <a:xfrm>
            <a:off x="457200" y="6400800"/>
            <a:ext cx="5486400"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AIBTHINGS 2026  •  PAPER #465</a:t>
            </a:r>
            <a:endParaRPr lang="en-US" sz="1000" dirty="0"/>
          </a:p>
        </p:txBody>
      </p:sp>
      <p:sp>
        <p:nvSpPr>
          <p:cNvPr id="8" name="Shape 6"/>
          <p:cNvSpPr/>
          <p:nvPr/>
        </p:nvSpPr>
        <p:spPr>
          <a:xfrm>
            <a:off x="11475720" y="6199632"/>
            <a:ext cx="566928" cy="566928"/>
          </a:xfrm>
          <a:prstGeom prst="ellipse">
            <a:avLst/>
          </a:prstGeom>
          <a:solidFill>
            <a:srgbClr val="FFFFFF"/>
          </a:solidFill>
          <a:ln w="19050">
            <a:solidFill>
              <a:srgbClr val="13205C"/>
            </a:solidFill>
            <a:prstDash val="solid"/>
          </a:ln>
        </p:spPr>
      </p:sp>
      <p:sp>
        <p:nvSpPr>
          <p:cNvPr id="9" name="Text 7"/>
          <p:cNvSpPr txBox="1"/>
          <p:nvPr/>
        </p:nvSpPr>
        <p:spPr>
          <a:xfrm>
            <a:off x="11475720" y="6199632"/>
            <a:ext cx="566928" cy="566928"/>
          </a:xfrm>
          <a:prstGeom prst="rect">
            <a:avLst/>
          </a:prstGeom>
          <a:noFill/>
          <a:ln/>
        </p:spPr>
        <p:txBody>
          <a:bodyPr wrap="square" lIns="0" tIns="0" rIns="0" bIns="0" rtlCol="0" anchor="ctr"/>
          <a:lstStyle/>
          <a:p>
            <a:pPr algn="ctr" indent="0" marL="0">
              <a:buNone/>
            </a:pPr>
            <a:r>
              <a:rPr lang="en-US" sz="1500" b="1" dirty="0">
                <a:solidFill>
                  <a:srgbClr val="13205C"/>
                </a:solidFill>
                <a:latin typeface="Cambria" pitchFamily="34" charset="0"/>
                <a:ea typeface="Cambria" pitchFamily="34" charset="-122"/>
                <a:cs typeface="Cambria" pitchFamily="34" charset="-120"/>
              </a:rPr>
              <a:t>4</a:t>
            </a:r>
            <a:endParaRPr lang="en-US" sz="1500" dirty="0"/>
          </a:p>
        </p:txBody>
      </p:sp>
      <p:sp>
        <p:nvSpPr>
          <p:cNvPr id="10" name="Shape 8"/>
          <p:cNvSpPr/>
          <p:nvPr/>
        </p:nvSpPr>
        <p:spPr>
          <a:xfrm>
            <a:off x="4480560" y="1417320"/>
            <a:ext cx="3200400" cy="502920"/>
          </a:xfrm>
          <a:prstGeom prst="roundRect">
            <a:avLst>
              <a:gd name="adj" fmla="val 9091"/>
            </a:avLst>
          </a:prstGeom>
          <a:solidFill>
            <a:srgbClr val="F5F6FA"/>
          </a:solidFill>
          <a:ln w="12700">
            <a:solidFill>
              <a:srgbClr val="9AA3B8"/>
            </a:solidFill>
            <a:prstDash val="solid"/>
          </a:ln>
        </p:spPr>
      </p:sp>
      <p:sp>
        <p:nvSpPr>
          <p:cNvPr id="11" name="Text 9"/>
          <p:cNvSpPr txBox="1"/>
          <p:nvPr/>
        </p:nvSpPr>
        <p:spPr>
          <a:xfrm>
            <a:off x="4480560" y="1417320"/>
            <a:ext cx="3200400" cy="502920"/>
          </a:xfrm>
          <a:prstGeom prst="rect">
            <a:avLst/>
          </a:prstGeom>
          <a:noFill/>
          <a:ln/>
        </p:spPr>
        <p:txBody>
          <a:bodyPr wrap="square" lIns="0" tIns="0" rIns="0" bIns="0" rtlCol="0" anchor="ctr"/>
          <a:lstStyle/>
          <a:p>
            <a:pPr algn="ctr" indent="0" marL="0">
              <a:buNone/>
            </a:pPr>
            <a:r>
              <a:rPr lang="en-US" sz="1050" b="1" dirty="0">
                <a:solidFill>
                  <a:srgbClr val="13205C"/>
                </a:solidFill>
                <a:latin typeface="Calibri" pitchFamily="34" charset="0"/>
                <a:ea typeface="Calibri" pitchFamily="34" charset="-122"/>
                <a:cs typeface="Calibri" pitchFamily="34" charset="-120"/>
              </a:rPr>
              <a:t>Knowledge Base — 146 entries</a:t>
            </a:r>
            <a:endParaRPr lang="en-US" sz="1050" dirty="0"/>
          </a:p>
        </p:txBody>
      </p:sp>
      <p:sp>
        <p:nvSpPr>
          <p:cNvPr id="12" name="Shape 10"/>
          <p:cNvSpPr/>
          <p:nvPr/>
        </p:nvSpPr>
        <p:spPr>
          <a:xfrm>
            <a:off x="822960" y="2331720"/>
            <a:ext cx="1600200" cy="685800"/>
          </a:xfrm>
          <a:prstGeom prst="roundRect">
            <a:avLst>
              <a:gd name="adj" fmla="val 8000"/>
            </a:avLst>
          </a:prstGeom>
          <a:solidFill>
            <a:srgbClr val="13205C"/>
          </a:solidFill>
          <a:ln/>
        </p:spPr>
      </p:sp>
      <p:sp>
        <p:nvSpPr>
          <p:cNvPr id="13" name="Text 11"/>
          <p:cNvSpPr txBox="1"/>
          <p:nvPr/>
        </p:nvSpPr>
        <p:spPr>
          <a:xfrm>
            <a:off x="822960" y="2331720"/>
            <a:ext cx="1600200" cy="685800"/>
          </a:xfrm>
          <a:prstGeom prst="rect">
            <a:avLst/>
          </a:prstGeom>
          <a:noFill/>
          <a:ln/>
        </p:spPr>
        <p:txBody>
          <a:bodyPr wrap="square" lIns="0" tIns="0" rIns="0" bIns="0" rtlCol="0" anchor="ctr"/>
          <a:lstStyle/>
          <a:p>
            <a:pPr algn="ctr" indent="0" marL="0">
              <a:lnSpc>
                <a:spcPts val="1200"/>
              </a:lnSpc>
              <a:buNone/>
            </a:pPr>
            <a:r>
              <a:rPr lang="en-US" sz="1000" b="1" dirty="0">
                <a:solidFill>
                  <a:srgbClr val="FFFFFF"/>
                </a:solidFill>
                <a:latin typeface="Calibri" pitchFamily="34" charset="0"/>
                <a:ea typeface="Calibri" pitchFamily="34" charset="-122"/>
                <a:cs typeface="Calibri" pitchFamily="34" charset="-120"/>
              </a:rPr>
              <a:t>S1</a:t>
            </a:r>
            <a:endParaRPr lang="en-US" sz="1000" dirty="0"/>
          </a:p>
          <a:p>
            <a:pPr algn="ctr" indent="0" marL="0">
              <a:lnSpc>
                <a:spcPts val="1200"/>
              </a:lnSpc>
              <a:buNone/>
            </a:pPr>
            <a:r>
              <a:rPr lang="en-US" sz="1000" b="1" dirty="0">
                <a:solidFill>
                  <a:srgbClr val="FFFFFF"/>
                </a:solidFill>
                <a:latin typeface="Calibri" pitchFamily="34" charset="0"/>
                <a:ea typeface="Calibri" pitchFamily="34" charset="-122"/>
                <a:cs typeface="Calibri" pitchFamily="34" charset="-120"/>
              </a:rPr>
              <a:t>Local</a:t>
            </a:r>
            <a:endParaRPr lang="en-US" sz="1000" dirty="0"/>
          </a:p>
          <a:p>
            <a:pPr algn="ctr" indent="0" marL="0">
              <a:lnSpc>
                <a:spcPts val="1200"/>
              </a:lnSpc>
              <a:buNone/>
            </a:pPr>
            <a:r>
              <a:rPr lang="en-US" sz="1000" b="1" dirty="0">
                <a:solidFill>
                  <a:srgbClr val="FFFFFF"/>
                </a:solidFill>
                <a:latin typeface="Calibri" pitchFamily="34" charset="0"/>
                <a:ea typeface="Calibri" pitchFamily="34" charset="-122"/>
                <a:cs typeface="Calibri" pitchFamily="34" charset="-120"/>
              </a:rPr>
              <a:t>Patterns</a:t>
            </a:r>
            <a:endParaRPr lang="en-US" sz="1000" dirty="0"/>
          </a:p>
        </p:txBody>
      </p:sp>
      <p:sp>
        <p:nvSpPr>
          <p:cNvPr id="14" name="Shape 12"/>
          <p:cNvSpPr/>
          <p:nvPr/>
        </p:nvSpPr>
        <p:spPr>
          <a:xfrm>
            <a:off x="2606040" y="2331720"/>
            <a:ext cx="1600200" cy="685800"/>
          </a:xfrm>
          <a:prstGeom prst="roundRect">
            <a:avLst>
              <a:gd name="adj" fmla="val 8000"/>
            </a:avLst>
          </a:prstGeom>
          <a:solidFill>
            <a:srgbClr val="13205C"/>
          </a:solidFill>
          <a:ln/>
        </p:spPr>
      </p:sp>
      <p:sp>
        <p:nvSpPr>
          <p:cNvPr id="15" name="Text 13"/>
          <p:cNvSpPr txBox="1"/>
          <p:nvPr/>
        </p:nvSpPr>
        <p:spPr>
          <a:xfrm>
            <a:off x="2606040" y="2331720"/>
            <a:ext cx="1600200" cy="685800"/>
          </a:xfrm>
          <a:prstGeom prst="rect">
            <a:avLst/>
          </a:prstGeom>
          <a:noFill/>
          <a:ln/>
        </p:spPr>
        <p:txBody>
          <a:bodyPr wrap="square" lIns="0" tIns="0" rIns="0" bIns="0" rtlCol="0" anchor="ctr"/>
          <a:lstStyle/>
          <a:p>
            <a:pPr algn="ctr" indent="0" marL="0">
              <a:lnSpc>
                <a:spcPts val="1200"/>
              </a:lnSpc>
              <a:buNone/>
            </a:pPr>
            <a:r>
              <a:rPr lang="en-US" sz="1000" b="1" dirty="0">
                <a:solidFill>
                  <a:srgbClr val="FFFFFF"/>
                </a:solidFill>
                <a:latin typeface="Calibri" pitchFamily="34" charset="0"/>
                <a:ea typeface="Calibri" pitchFamily="34" charset="-122"/>
                <a:cs typeface="Calibri" pitchFamily="34" charset="-120"/>
              </a:rPr>
              <a:t>S2</a:t>
            </a:r>
            <a:endParaRPr lang="en-US" sz="1000" dirty="0"/>
          </a:p>
          <a:p>
            <a:pPr algn="ctr" indent="0" marL="0">
              <a:lnSpc>
                <a:spcPts val="1200"/>
              </a:lnSpc>
              <a:buNone/>
            </a:pPr>
            <a:r>
              <a:rPr lang="en-US" sz="1000" b="1" dirty="0">
                <a:solidFill>
                  <a:srgbClr val="FFFFFF"/>
                </a:solidFill>
                <a:latin typeface="Calibri" pitchFamily="34" charset="0"/>
                <a:ea typeface="Calibri" pitchFamily="34" charset="-122"/>
                <a:cs typeface="Calibri" pitchFamily="34" charset="-120"/>
              </a:rPr>
              <a:t>TF-IDF</a:t>
            </a:r>
            <a:endParaRPr lang="en-US" sz="1000" dirty="0"/>
          </a:p>
          <a:p>
            <a:pPr algn="ctr" indent="0" marL="0">
              <a:lnSpc>
                <a:spcPts val="1200"/>
              </a:lnSpc>
              <a:buNone/>
            </a:pPr>
            <a:r>
              <a:rPr lang="en-US" sz="1000" b="1" dirty="0">
                <a:solidFill>
                  <a:srgbClr val="FFFFFF"/>
                </a:solidFill>
                <a:latin typeface="Calibri" pitchFamily="34" charset="0"/>
                <a:ea typeface="Calibri" pitchFamily="34" charset="-122"/>
                <a:cs typeface="Calibri" pitchFamily="34" charset="-120"/>
              </a:rPr>
              <a:t>Retrieval</a:t>
            </a:r>
            <a:endParaRPr lang="en-US" sz="1000" dirty="0"/>
          </a:p>
        </p:txBody>
      </p:sp>
      <p:sp>
        <p:nvSpPr>
          <p:cNvPr id="16" name="Shape 14"/>
          <p:cNvSpPr/>
          <p:nvPr/>
        </p:nvSpPr>
        <p:spPr>
          <a:xfrm>
            <a:off x="4389120" y="2331720"/>
            <a:ext cx="1600200" cy="685800"/>
          </a:xfrm>
          <a:prstGeom prst="roundRect">
            <a:avLst>
              <a:gd name="adj" fmla="val 8000"/>
            </a:avLst>
          </a:prstGeom>
          <a:solidFill>
            <a:srgbClr val="C9971F"/>
          </a:solidFill>
          <a:ln/>
        </p:spPr>
      </p:sp>
      <p:sp>
        <p:nvSpPr>
          <p:cNvPr id="17" name="Text 15"/>
          <p:cNvSpPr txBox="1"/>
          <p:nvPr/>
        </p:nvSpPr>
        <p:spPr>
          <a:xfrm>
            <a:off x="4389120" y="2331720"/>
            <a:ext cx="1600200" cy="685800"/>
          </a:xfrm>
          <a:prstGeom prst="rect">
            <a:avLst/>
          </a:prstGeom>
          <a:noFill/>
          <a:ln/>
        </p:spPr>
        <p:txBody>
          <a:bodyPr wrap="square" lIns="0" tIns="0" rIns="0" bIns="0" rtlCol="0" anchor="ctr"/>
          <a:lstStyle/>
          <a:p>
            <a:pPr algn="ctr" indent="0" marL="0">
              <a:lnSpc>
                <a:spcPts val="1200"/>
              </a:lnSpc>
              <a:buNone/>
            </a:pPr>
            <a:r>
              <a:rPr lang="en-US" sz="1000" b="1" dirty="0">
                <a:solidFill>
                  <a:srgbClr val="FFFFFF"/>
                </a:solidFill>
                <a:latin typeface="Calibri" pitchFamily="34" charset="0"/>
                <a:ea typeface="Calibri" pitchFamily="34" charset="-122"/>
                <a:cs typeface="Calibri" pitchFamily="34" charset="-120"/>
              </a:rPr>
              <a:t>S3</a:t>
            </a:r>
            <a:endParaRPr lang="en-US" sz="1000" dirty="0"/>
          </a:p>
          <a:p>
            <a:pPr algn="ctr" indent="0" marL="0">
              <a:lnSpc>
                <a:spcPts val="1200"/>
              </a:lnSpc>
              <a:buNone/>
            </a:pPr>
            <a:r>
              <a:rPr lang="en-US" sz="1000" b="1" dirty="0">
                <a:solidFill>
                  <a:srgbClr val="FFFFFF"/>
                </a:solidFill>
                <a:latin typeface="Calibri" pitchFamily="34" charset="0"/>
                <a:ea typeface="Calibri" pitchFamily="34" charset="-122"/>
                <a:cs typeface="Calibri" pitchFamily="34" charset="-120"/>
              </a:rPr>
              <a:t>RAG</a:t>
            </a:r>
            <a:endParaRPr lang="en-US" sz="1000" dirty="0"/>
          </a:p>
          <a:p>
            <a:pPr algn="ctr" indent="0" marL="0">
              <a:lnSpc>
                <a:spcPts val="1200"/>
              </a:lnSpc>
              <a:buNone/>
            </a:pPr>
            <a:r>
              <a:rPr lang="en-US" sz="1000" b="1" dirty="0">
                <a:solidFill>
                  <a:srgbClr val="FFFFFF"/>
                </a:solidFill>
                <a:latin typeface="Calibri" pitchFamily="34" charset="0"/>
                <a:ea typeface="Calibri" pitchFamily="34" charset="-122"/>
                <a:cs typeface="Calibri" pitchFamily="34" charset="-120"/>
              </a:rPr>
              <a:t>Judge</a:t>
            </a:r>
            <a:endParaRPr lang="en-US" sz="1000" dirty="0"/>
          </a:p>
        </p:txBody>
      </p:sp>
      <p:sp>
        <p:nvSpPr>
          <p:cNvPr id="18" name="Shape 16"/>
          <p:cNvSpPr/>
          <p:nvPr/>
        </p:nvSpPr>
        <p:spPr>
          <a:xfrm>
            <a:off x="6172200" y="3246120"/>
            <a:ext cx="1600200" cy="685800"/>
          </a:xfrm>
          <a:prstGeom prst="roundRect">
            <a:avLst>
              <a:gd name="adj" fmla="val 8000"/>
            </a:avLst>
          </a:prstGeom>
          <a:solidFill>
            <a:srgbClr val="13205C"/>
          </a:solidFill>
          <a:ln/>
        </p:spPr>
      </p:sp>
      <p:sp>
        <p:nvSpPr>
          <p:cNvPr id="19" name="Text 17"/>
          <p:cNvSpPr txBox="1"/>
          <p:nvPr/>
        </p:nvSpPr>
        <p:spPr>
          <a:xfrm>
            <a:off x="6172200" y="3246120"/>
            <a:ext cx="1600200" cy="685800"/>
          </a:xfrm>
          <a:prstGeom prst="rect">
            <a:avLst/>
          </a:prstGeom>
          <a:noFill/>
          <a:ln/>
        </p:spPr>
        <p:txBody>
          <a:bodyPr wrap="square" lIns="0" tIns="0" rIns="0" bIns="0" rtlCol="0" anchor="ctr"/>
          <a:lstStyle/>
          <a:p>
            <a:pPr algn="ctr" indent="0" marL="0">
              <a:lnSpc>
                <a:spcPts val="1200"/>
              </a:lnSpc>
              <a:buNone/>
            </a:pPr>
            <a:r>
              <a:rPr lang="en-US" sz="1000" b="1" dirty="0">
                <a:solidFill>
                  <a:srgbClr val="FFFFFF"/>
                </a:solidFill>
                <a:latin typeface="Calibri" pitchFamily="34" charset="0"/>
                <a:ea typeface="Calibri" pitchFamily="34" charset="-122"/>
                <a:cs typeface="Calibri" pitchFamily="34" charset="-120"/>
              </a:rPr>
              <a:t>S4</a:t>
            </a:r>
            <a:endParaRPr lang="en-US" sz="1000" dirty="0"/>
          </a:p>
          <a:p>
            <a:pPr algn="ctr" indent="0" marL="0">
              <a:lnSpc>
                <a:spcPts val="1200"/>
              </a:lnSpc>
              <a:buNone/>
            </a:pPr>
            <a:r>
              <a:rPr lang="en-US" sz="1000" b="1" dirty="0">
                <a:solidFill>
                  <a:srgbClr val="FFFFFF"/>
                </a:solidFill>
                <a:latin typeface="Calibri" pitchFamily="34" charset="0"/>
                <a:ea typeface="Calibri" pitchFamily="34" charset="-122"/>
                <a:cs typeface="Calibri" pitchFamily="34" charset="-120"/>
              </a:rPr>
              <a:t>Decision</a:t>
            </a:r>
            <a:endParaRPr lang="en-US" sz="1000" dirty="0"/>
          </a:p>
          <a:p>
            <a:pPr algn="ctr" indent="0" marL="0">
              <a:lnSpc>
                <a:spcPts val="1200"/>
              </a:lnSpc>
              <a:buNone/>
            </a:pPr>
            <a:r>
              <a:rPr lang="en-US" sz="1000" b="1" dirty="0">
                <a:solidFill>
                  <a:srgbClr val="FFFFFF"/>
                </a:solidFill>
                <a:latin typeface="Calibri" pitchFamily="34" charset="0"/>
                <a:ea typeface="Calibri" pitchFamily="34" charset="-122"/>
                <a:cs typeface="Calibri" pitchFamily="34" charset="-120"/>
              </a:rPr>
              <a:t>Fusion</a:t>
            </a:r>
            <a:endParaRPr lang="en-US" sz="1000" dirty="0"/>
          </a:p>
        </p:txBody>
      </p:sp>
      <p:sp>
        <p:nvSpPr>
          <p:cNvPr id="20" name="Shape 18"/>
          <p:cNvSpPr/>
          <p:nvPr/>
        </p:nvSpPr>
        <p:spPr>
          <a:xfrm>
            <a:off x="7955280" y="3246120"/>
            <a:ext cx="1600200" cy="685800"/>
          </a:xfrm>
          <a:prstGeom prst="roundRect">
            <a:avLst>
              <a:gd name="adj" fmla="val 8000"/>
            </a:avLst>
          </a:prstGeom>
          <a:solidFill>
            <a:srgbClr val="13205C"/>
          </a:solidFill>
          <a:ln/>
        </p:spPr>
      </p:sp>
      <p:sp>
        <p:nvSpPr>
          <p:cNvPr id="21" name="Text 19"/>
          <p:cNvSpPr txBox="1"/>
          <p:nvPr/>
        </p:nvSpPr>
        <p:spPr>
          <a:xfrm>
            <a:off x="7955280" y="3246120"/>
            <a:ext cx="1600200" cy="685800"/>
          </a:xfrm>
          <a:prstGeom prst="rect">
            <a:avLst/>
          </a:prstGeom>
          <a:noFill/>
          <a:ln/>
        </p:spPr>
        <p:txBody>
          <a:bodyPr wrap="square" lIns="0" tIns="0" rIns="0" bIns="0" rtlCol="0" anchor="ctr"/>
          <a:lstStyle/>
          <a:p>
            <a:pPr algn="ctr" indent="0" marL="0">
              <a:lnSpc>
                <a:spcPts val="1200"/>
              </a:lnSpc>
              <a:buNone/>
            </a:pPr>
            <a:r>
              <a:rPr lang="en-US" sz="1000" b="1" dirty="0">
                <a:solidFill>
                  <a:srgbClr val="FFFFFF"/>
                </a:solidFill>
                <a:latin typeface="Calibri" pitchFamily="34" charset="0"/>
                <a:ea typeface="Calibri" pitchFamily="34" charset="-122"/>
                <a:cs typeface="Calibri" pitchFamily="34" charset="-120"/>
              </a:rPr>
              <a:t>S5</a:t>
            </a:r>
            <a:endParaRPr lang="en-US" sz="1000" dirty="0"/>
          </a:p>
          <a:p>
            <a:pPr algn="ctr" indent="0" marL="0">
              <a:lnSpc>
                <a:spcPts val="1200"/>
              </a:lnSpc>
              <a:buNone/>
            </a:pPr>
            <a:r>
              <a:rPr lang="en-US" sz="1000" b="1" dirty="0">
                <a:solidFill>
                  <a:srgbClr val="FFFFFF"/>
                </a:solidFill>
                <a:latin typeface="Calibri" pitchFamily="34" charset="0"/>
                <a:ea typeface="Calibri" pitchFamily="34" charset="-122"/>
                <a:cs typeface="Calibri" pitchFamily="34" charset="-120"/>
              </a:rPr>
              <a:t>ROUGE-L</a:t>
            </a:r>
            <a:endParaRPr lang="en-US" sz="1000" dirty="0"/>
          </a:p>
          <a:p>
            <a:pPr algn="ctr" indent="0" marL="0">
              <a:lnSpc>
                <a:spcPts val="1200"/>
              </a:lnSpc>
              <a:buNone/>
            </a:pPr>
            <a:r>
              <a:rPr lang="en-US" sz="1000" b="1" dirty="0">
                <a:solidFill>
                  <a:srgbClr val="FFFFFF"/>
                </a:solidFill>
                <a:latin typeface="Calibri" pitchFamily="34" charset="0"/>
                <a:ea typeface="Calibri" pitchFamily="34" charset="-122"/>
                <a:cs typeface="Calibri" pitchFamily="34" charset="-120"/>
              </a:rPr>
              <a:t>Score</a:t>
            </a:r>
            <a:endParaRPr lang="en-US" sz="1000" dirty="0"/>
          </a:p>
        </p:txBody>
      </p:sp>
      <p:sp>
        <p:nvSpPr>
          <p:cNvPr id="22" name="Shape 20"/>
          <p:cNvSpPr/>
          <p:nvPr/>
        </p:nvSpPr>
        <p:spPr>
          <a:xfrm>
            <a:off x="9738360" y="3246120"/>
            <a:ext cx="1600200" cy="685800"/>
          </a:xfrm>
          <a:prstGeom prst="roundRect">
            <a:avLst>
              <a:gd name="adj" fmla="val 8000"/>
            </a:avLst>
          </a:prstGeom>
          <a:solidFill>
            <a:srgbClr val="13205C"/>
          </a:solidFill>
          <a:ln/>
        </p:spPr>
      </p:sp>
      <p:sp>
        <p:nvSpPr>
          <p:cNvPr id="23" name="Text 21"/>
          <p:cNvSpPr txBox="1"/>
          <p:nvPr/>
        </p:nvSpPr>
        <p:spPr>
          <a:xfrm>
            <a:off x="9738360" y="3246120"/>
            <a:ext cx="1600200" cy="685800"/>
          </a:xfrm>
          <a:prstGeom prst="rect">
            <a:avLst/>
          </a:prstGeom>
          <a:noFill/>
          <a:ln/>
        </p:spPr>
        <p:txBody>
          <a:bodyPr wrap="square" lIns="0" tIns="0" rIns="0" bIns="0" rtlCol="0" anchor="ctr"/>
          <a:lstStyle/>
          <a:p>
            <a:pPr algn="ctr" indent="0" marL="0">
              <a:lnSpc>
                <a:spcPts val="1200"/>
              </a:lnSpc>
              <a:buNone/>
            </a:pPr>
            <a:r>
              <a:rPr lang="en-US" sz="1000" b="1" dirty="0">
                <a:solidFill>
                  <a:srgbClr val="FFFFFF"/>
                </a:solidFill>
                <a:latin typeface="Calibri" pitchFamily="34" charset="0"/>
                <a:ea typeface="Calibri" pitchFamily="34" charset="-122"/>
                <a:cs typeface="Calibri" pitchFamily="34" charset="-120"/>
              </a:rPr>
              <a:t>S6/S7</a:t>
            </a:r>
            <a:endParaRPr lang="en-US" sz="1000" dirty="0"/>
          </a:p>
          <a:p>
            <a:pPr algn="ctr" indent="0" marL="0">
              <a:lnSpc>
                <a:spcPts val="1200"/>
              </a:lnSpc>
              <a:buNone/>
            </a:pPr>
            <a:r>
              <a:rPr lang="en-US" sz="1000" b="1" dirty="0">
                <a:solidFill>
                  <a:srgbClr val="FFFFFF"/>
                </a:solidFill>
                <a:latin typeface="Calibri" pitchFamily="34" charset="0"/>
                <a:ea typeface="Calibri" pitchFamily="34" charset="-122"/>
                <a:cs typeface="Calibri" pitchFamily="34" charset="-120"/>
              </a:rPr>
              <a:t>Store &amp;</a:t>
            </a:r>
            <a:endParaRPr lang="en-US" sz="1000" dirty="0"/>
          </a:p>
          <a:p>
            <a:pPr algn="ctr" indent="0" marL="0">
              <a:lnSpc>
                <a:spcPts val="1200"/>
              </a:lnSpc>
              <a:buNone/>
            </a:pPr>
            <a:r>
              <a:rPr lang="en-US" sz="1000" b="1" dirty="0">
                <a:solidFill>
                  <a:srgbClr val="FFFFFF"/>
                </a:solidFill>
                <a:latin typeface="Calibri" pitchFamily="34" charset="0"/>
                <a:ea typeface="Calibri" pitchFamily="34" charset="-122"/>
                <a:cs typeface="Calibri" pitchFamily="34" charset="-120"/>
              </a:rPr>
              <a:t>Metrics</a:t>
            </a:r>
            <a:endParaRPr lang="en-US" sz="1000" dirty="0"/>
          </a:p>
        </p:txBody>
      </p:sp>
      <p:sp>
        <p:nvSpPr>
          <p:cNvPr id="24" name="Text 22"/>
          <p:cNvSpPr txBox="1"/>
          <p:nvPr/>
        </p:nvSpPr>
        <p:spPr>
          <a:xfrm>
            <a:off x="548640" y="4160520"/>
            <a:ext cx="11064240" cy="1737360"/>
          </a:xfrm>
          <a:prstGeom prst="rect">
            <a:avLst/>
          </a:prstGeom>
          <a:noFill/>
          <a:ln/>
        </p:spPr>
        <p:txBody>
          <a:bodyPr wrap="square" lIns="0" tIns="0" rIns="0" bIns="0" rtlCol="0" anchor="ctr"/>
          <a:lstStyle/>
          <a:p>
            <a:pPr indent="0" marL="0">
              <a:lnSpc>
                <a:spcPts val="1700"/>
              </a:lnSpc>
              <a:buNone/>
            </a:pPr>
            <a:r>
              <a:rPr lang="en-US" sz="1150" b="1" dirty="0">
                <a:solidFill>
                  <a:srgbClr val="5B6472"/>
                </a:solidFill>
                <a:latin typeface="Calibri" pitchFamily="34" charset="0"/>
                <a:ea typeface="Calibri" pitchFamily="34" charset="-122"/>
                <a:cs typeface="Calibri" pitchFamily="34" charset="-120"/>
              </a:rPr>
              <a:t>Design goals: </a:t>
            </a:r>
            <a:pPr indent="0" marL="0">
              <a:lnSpc>
                <a:spcPts val="1700"/>
              </a:lnSpc>
              <a:buNone/>
            </a:pPr>
            <a:r>
              <a:rPr lang="en-US" sz="1150" dirty="0">
                <a:solidFill>
                  <a:srgbClr val="5B6472"/>
                </a:solidFill>
                <a:latin typeface="Calibri" pitchFamily="34" charset="0"/>
                <a:ea typeface="Calibri" pitchFamily="34" charset="-122"/>
                <a:cs typeface="Calibri" pitchFamily="34" charset="-120"/>
              </a:rPr>
              <a:t>catch both error types, respond in under two seconds, stay simple — no special training needed.
</a:t>
            </a:r>
            <a:pPr indent="0" marL="0">
              <a:lnSpc>
                <a:spcPts val="1700"/>
              </a:lnSpc>
              <a:buNone/>
            </a:pPr>
            <a:r>
              <a:rPr lang="en-US" sz="1150" b="1" dirty="0">
                <a:solidFill>
                  <a:srgbClr val="5B6472"/>
                </a:solidFill>
                <a:latin typeface="Calibri" pitchFamily="34" charset="0"/>
                <a:ea typeface="Calibri" pitchFamily="34" charset="-122"/>
                <a:cs typeface="Calibri" pitchFamily="34" charset="-120"/>
              </a:rPr>
              <a:t>S1</a:t>
            </a:r>
            <a:pPr indent="0" marL="0">
              <a:lnSpc>
                <a:spcPts val="1700"/>
              </a:lnSpc>
              <a:buNone/>
            </a:pPr>
            <a:r>
              <a:rPr lang="en-US" sz="1150" dirty="0">
                <a:solidFill>
                  <a:srgbClr val="5B6472"/>
                </a:solidFill>
                <a:latin typeface="Calibri" pitchFamily="34" charset="0"/>
                <a:ea typeface="Calibri" pitchFamily="34" charset="-122"/>
                <a:cs typeface="Calibri" pitchFamily="34" charset="-120"/>
              </a:rPr>
              <a:t> scans for known wrong facts in &lt;1ms.  </a:t>
            </a:r>
            <a:pPr indent="0" marL="0">
              <a:lnSpc>
                <a:spcPts val="1700"/>
              </a:lnSpc>
              <a:buNone/>
            </a:pPr>
            <a:r>
              <a:rPr lang="en-US" sz="1150" b="1" dirty="0">
                <a:solidFill>
                  <a:srgbClr val="5B6472"/>
                </a:solidFill>
                <a:latin typeface="Calibri" pitchFamily="34" charset="0"/>
                <a:ea typeface="Calibri" pitchFamily="34" charset="-122"/>
                <a:cs typeface="Calibri" pitchFamily="34" charset="-120"/>
              </a:rPr>
              <a:t>S2</a:t>
            </a:r>
            <a:pPr indent="0" marL="0">
              <a:lnSpc>
                <a:spcPts val="1700"/>
              </a:lnSpc>
              <a:buNone/>
            </a:pPr>
            <a:r>
              <a:rPr lang="en-US" sz="1150" dirty="0">
                <a:solidFill>
                  <a:srgbClr val="5B6472"/>
                </a:solidFill>
                <a:latin typeface="Calibri" pitchFamily="34" charset="0"/>
                <a:ea typeface="Calibri" pitchFamily="34" charset="-122"/>
                <a:cs typeface="Calibri" pitchFamily="34" charset="-120"/>
              </a:rPr>
              <a:t> retrieves the 5 best-matching KB facts via TF-IDF.  </a:t>
            </a:r>
            <a:pPr indent="0" marL="0">
              <a:lnSpc>
                <a:spcPts val="1700"/>
              </a:lnSpc>
              <a:buNone/>
            </a:pPr>
            <a:r>
              <a:rPr lang="en-US" sz="1150" b="1" dirty="0">
                <a:solidFill>
                  <a:srgbClr val="5B6472"/>
                </a:solidFill>
                <a:latin typeface="Calibri" pitchFamily="34" charset="0"/>
                <a:ea typeface="Calibri" pitchFamily="34" charset="-122"/>
                <a:cs typeface="Calibri" pitchFamily="34" charset="-120"/>
              </a:rPr>
              <a:t>S3</a:t>
            </a:r>
            <a:pPr indent="0" marL="0">
              <a:lnSpc>
                <a:spcPts val="1700"/>
              </a:lnSpc>
              <a:buNone/>
            </a:pPr>
            <a:r>
              <a:rPr lang="en-US" sz="1150" dirty="0">
                <a:solidFill>
                  <a:srgbClr val="5B6472"/>
                </a:solidFill>
                <a:latin typeface="Calibri" pitchFamily="34" charset="0"/>
                <a:ea typeface="Calibri" pitchFamily="34" charset="-122"/>
                <a:cs typeface="Calibri" pitchFamily="34" charset="-120"/>
              </a:rPr>
              <a:t> — if S1 found nothing, an LLM judge reads those facts and checks the text (~0.3–0.5s).  </a:t>
            </a:r>
            <a:pPr indent="0" marL="0">
              <a:lnSpc>
                <a:spcPts val="1700"/>
              </a:lnSpc>
              <a:buNone/>
            </a:pPr>
            <a:r>
              <a:rPr lang="en-US" sz="1150" b="1" dirty="0">
                <a:solidFill>
                  <a:srgbClr val="5B6472"/>
                </a:solidFill>
                <a:latin typeface="Calibri" pitchFamily="34" charset="0"/>
                <a:ea typeface="Calibri" pitchFamily="34" charset="-122"/>
                <a:cs typeface="Calibri" pitchFamily="34" charset="-120"/>
              </a:rPr>
              <a:t>S4</a:t>
            </a:r>
            <a:pPr indent="0" marL="0">
              <a:lnSpc>
                <a:spcPts val="1700"/>
              </a:lnSpc>
              <a:buNone/>
            </a:pPr>
            <a:r>
              <a:rPr lang="en-US" sz="1150" dirty="0">
                <a:solidFill>
                  <a:srgbClr val="5B6472"/>
                </a:solidFill>
                <a:latin typeface="Calibri" pitchFamily="34" charset="0"/>
                <a:ea typeface="Calibri" pitchFamily="34" charset="-122"/>
                <a:cs typeface="Calibri" pitchFamily="34" charset="-120"/>
              </a:rPr>
              <a:t> fuses both: a rule-layer verdict always overrides the judge.  </a:t>
            </a:r>
            <a:pPr indent="0" marL="0">
              <a:lnSpc>
                <a:spcPts val="1700"/>
              </a:lnSpc>
              <a:buNone/>
            </a:pPr>
            <a:r>
              <a:rPr lang="en-US" sz="1150" b="1" dirty="0">
                <a:solidFill>
                  <a:srgbClr val="5B6472"/>
                </a:solidFill>
                <a:latin typeface="Calibri" pitchFamily="34" charset="0"/>
                <a:ea typeface="Calibri" pitchFamily="34" charset="-122"/>
                <a:cs typeface="Calibri" pitchFamily="34" charset="-120"/>
              </a:rPr>
              <a:t>S5</a:t>
            </a:r>
            <a:pPr indent="0" marL="0">
              <a:lnSpc>
                <a:spcPts val="1700"/>
              </a:lnSpc>
              <a:buNone/>
            </a:pPr>
            <a:r>
              <a:rPr lang="en-US" sz="1150" dirty="0">
                <a:solidFill>
                  <a:srgbClr val="5B6472"/>
                </a:solidFill>
                <a:latin typeface="Calibri" pitchFamily="34" charset="0"/>
                <a:ea typeface="Calibri" pitchFamily="34" charset="-122"/>
                <a:cs typeface="Calibri" pitchFamily="34" charset="-120"/>
              </a:rPr>
              <a:t> scores how well the fix matches our sources.  </a:t>
            </a:r>
            <a:pPr indent="0" marL="0">
              <a:lnSpc>
                <a:spcPts val="1700"/>
              </a:lnSpc>
              <a:buNone/>
            </a:pPr>
            <a:r>
              <a:rPr lang="en-US" sz="1150" b="1" dirty="0">
                <a:solidFill>
                  <a:srgbClr val="5B6472"/>
                </a:solidFill>
                <a:latin typeface="Calibri" pitchFamily="34" charset="0"/>
                <a:ea typeface="Calibri" pitchFamily="34" charset="-122"/>
                <a:cs typeface="Calibri" pitchFamily="34" charset="-120"/>
              </a:rPr>
              <a:t>S6/S7</a:t>
            </a:r>
            <a:pPr indent="0" marL="0">
              <a:lnSpc>
                <a:spcPts val="1700"/>
              </a:lnSpc>
              <a:buNone/>
            </a:pPr>
            <a:r>
              <a:rPr lang="en-US" sz="1150" dirty="0">
                <a:solidFill>
                  <a:srgbClr val="5B6472"/>
                </a:solidFill>
                <a:latin typeface="Calibri" pitchFamily="34" charset="0"/>
                <a:ea typeface="Calibri" pitchFamily="34" charset="-122"/>
                <a:cs typeface="Calibri" pitchFamily="34" charset="-120"/>
              </a:rPr>
              <a:t> save the result and update the live dashboard instantly.</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7315200" cy="274320"/>
          </a:xfrm>
          <a:prstGeom prst="rect">
            <a:avLst/>
          </a:prstGeom>
          <a:noFill/>
          <a:ln/>
        </p:spPr>
        <p:txBody>
          <a:bodyPr wrap="square" lIns="0" tIns="0" rIns="0" bIns="0" rtlCol="0" anchor="ctr"/>
          <a:lstStyle/>
          <a:p>
            <a:pPr indent="0" marL="0">
              <a:buNone/>
            </a:pPr>
            <a:r>
              <a:rPr lang="en-US" sz="1050" b="1" spc="200" kern="0" dirty="0">
                <a:solidFill>
                  <a:srgbClr val="2C5FB8"/>
                </a:solidFill>
                <a:latin typeface="Calibri" pitchFamily="34" charset="0"/>
                <a:ea typeface="Calibri" pitchFamily="34" charset="-122"/>
                <a:cs typeface="Calibri" pitchFamily="34" charset="-120"/>
              </a:rPr>
              <a:t>MATERIALS &amp; METHODOLOGY</a:t>
            </a:r>
            <a:endParaRPr lang="en-US" sz="1050" dirty="0"/>
          </a:p>
        </p:txBody>
      </p:sp>
      <p:sp>
        <p:nvSpPr>
          <p:cNvPr id="3" name="Text 1"/>
          <p:cNvSpPr txBox="1"/>
          <p:nvPr/>
        </p:nvSpPr>
        <p:spPr>
          <a:xfrm>
            <a:off x="457200" y="566928"/>
            <a:ext cx="9601200" cy="640080"/>
          </a:xfrm>
          <a:prstGeom prst="rect">
            <a:avLst/>
          </a:prstGeom>
          <a:noFill/>
          <a:ln/>
        </p:spPr>
        <p:txBody>
          <a:bodyPr wrap="square" lIns="0" tIns="0" rIns="0" bIns="0" rtlCol="0" anchor="ctr"/>
          <a:lstStyle/>
          <a:p>
            <a:pPr indent="0" marL="0">
              <a:buNone/>
            </a:pPr>
            <a:r>
              <a:rPr lang="en-US" sz="2600" b="1" dirty="0">
                <a:solidFill>
                  <a:srgbClr val="16255E"/>
                </a:solidFill>
                <a:latin typeface="Cambria" pitchFamily="34" charset="0"/>
                <a:ea typeface="Cambria" pitchFamily="34" charset="-122"/>
                <a:cs typeface="Cambria" pitchFamily="34" charset="-120"/>
              </a:rPr>
              <a:t>Grounded in Six Authoritative Sources</a:t>
            </a:r>
            <a:endParaRPr lang="en-US" sz="2600" dirty="0"/>
          </a:p>
        </p:txBody>
      </p:sp>
      <p:sp>
        <p:nvSpPr>
          <p:cNvPr id="4" name="Shape 2"/>
          <p:cNvSpPr/>
          <p:nvPr/>
        </p:nvSpPr>
        <p:spPr>
          <a:xfrm>
            <a:off x="11109960" y="256032"/>
            <a:ext cx="685800" cy="685800"/>
          </a:xfrm>
          <a:prstGeom prst="ellipse">
            <a:avLst/>
          </a:prstGeom>
          <a:solidFill>
            <a:srgbClr val="FFFFFF"/>
          </a:solidFill>
          <a:ln w="19050">
            <a:solidFill>
              <a:srgbClr val="13205C"/>
            </a:solidFill>
            <a:prstDash val="solid"/>
          </a:ln>
        </p:spPr>
      </p:sp>
      <p:sp>
        <p:nvSpPr>
          <p:cNvPr id="5" name="Text 3"/>
          <p:cNvSpPr txBox="1"/>
          <p:nvPr/>
        </p:nvSpPr>
        <p:spPr>
          <a:xfrm>
            <a:off x="11109960" y="256032"/>
            <a:ext cx="685800" cy="685800"/>
          </a:xfrm>
          <a:prstGeom prst="rect">
            <a:avLst/>
          </a:prstGeom>
          <a:noFill/>
          <a:ln/>
        </p:spPr>
        <p:txBody>
          <a:bodyPr wrap="square" lIns="0" tIns="0" rIns="0" bIns="0" rtlCol="0" anchor="ctr"/>
          <a:lstStyle/>
          <a:p>
            <a:pPr algn="ctr" indent="0" marL="0">
              <a:lnSpc>
                <a:spcPts val="800"/>
              </a:lnSpc>
              <a:buNone/>
            </a:pPr>
            <a:r>
              <a:rPr lang="en-US" sz="700" b="1" dirty="0">
                <a:solidFill>
                  <a:srgbClr val="13205C"/>
                </a:solidFill>
                <a:latin typeface="Calibri" pitchFamily="34" charset="0"/>
                <a:ea typeface="Calibri" pitchFamily="34" charset="-122"/>
                <a:cs typeface="Calibri" pitchFamily="34" charset="-120"/>
              </a:rPr>
              <a:t>AIB</a:t>
            </a:r>
            <a:endParaRPr lang="en-US" sz="700" dirty="0"/>
          </a:p>
          <a:p>
            <a:pPr algn="ctr" indent="0" marL="0">
              <a:lnSpc>
                <a:spcPts val="800"/>
              </a:lnSpc>
              <a:buNone/>
            </a:pPr>
            <a:r>
              <a:rPr lang="en-US" sz="700" b="1" dirty="0">
                <a:solidFill>
                  <a:srgbClr val="13205C"/>
                </a:solidFill>
                <a:latin typeface="Calibri" pitchFamily="34" charset="0"/>
                <a:ea typeface="Calibri" pitchFamily="34" charset="-122"/>
                <a:cs typeface="Calibri" pitchFamily="34" charset="-120"/>
              </a:rPr>
              <a:t>THINGS</a:t>
            </a:r>
            <a:endParaRPr lang="en-US" sz="700" dirty="0"/>
          </a:p>
        </p:txBody>
      </p:sp>
      <p:sp>
        <p:nvSpPr>
          <p:cNvPr id="6" name="Shape 4"/>
          <p:cNvSpPr/>
          <p:nvPr/>
        </p:nvSpPr>
        <p:spPr>
          <a:xfrm>
            <a:off x="0" y="6400800"/>
            <a:ext cx="12191695" cy="457200"/>
          </a:xfrm>
          <a:prstGeom prst="rect">
            <a:avLst/>
          </a:prstGeom>
          <a:solidFill>
            <a:srgbClr val="13205C"/>
          </a:solidFill>
          <a:ln/>
        </p:spPr>
      </p:sp>
      <p:sp>
        <p:nvSpPr>
          <p:cNvPr id="7" name="Text 5"/>
          <p:cNvSpPr txBox="1"/>
          <p:nvPr/>
        </p:nvSpPr>
        <p:spPr>
          <a:xfrm>
            <a:off x="457200" y="6400800"/>
            <a:ext cx="5486400"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AIBTHINGS 2026  •  PAPER #465</a:t>
            </a:r>
            <a:endParaRPr lang="en-US" sz="1000" dirty="0"/>
          </a:p>
        </p:txBody>
      </p:sp>
      <p:sp>
        <p:nvSpPr>
          <p:cNvPr id="8" name="Shape 6"/>
          <p:cNvSpPr/>
          <p:nvPr/>
        </p:nvSpPr>
        <p:spPr>
          <a:xfrm>
            <a:off x="11475720" y="6199632"/>
            <a:ext cx="566928" cy="566928"/>
          </a:xfrm>
          <a:prstGeom prst="ellipse">
            <a:avLst/>
          </a:prstGeom>
          <a:solidFill>
            <a:srgbClr val="FFFFFF"/>
          </a:solidFill>
          <a:ln w="19050">
            <a:solidFill>
              <a:srgbClr val="13205C"/>
            </a:solidFill>
            <a:prstDash val="solid"/>
          </a:ln>
        </p:spPr>
      </p:sp>
      <p:sp>
        <p:nvSpPr>
          <p:cNvPr id="9" name="Text 7"/>
          <p:cNvSpPr txBox="1"/>
          <p:nvPr/>
        </p:nvSpPr>
        <p:spPr>
          <a:xfrm>
            <a:off x="11475720" y="6199632"/>
            <a:ext cx="566928" cy="566928"/>
          </a:xfrm>
          <a:prstGeom prst="rect">
            <a:avLst/>
          </a:prstGeom>
          <a:noFill/>
          <a:ln/>
        </p:spPr>
        <p:txBody>
          <a:bodyPr wrap="square" lIns="0" tIns="0" rIns="0" bIns="0" rtlCol="0" anchor="ctr"/>
          <a:lstStyle/>
          <a:p>
            <a:pPr algn="ctr" indent="0" marL="0">
              <a:buNone/>
            </a:pPr>
            <a:r>
              <a:rPr lang="en-US" sz="1500" b="1" dirty="0">
                <a:solidFill>
                  <a:srgbClr val="13205C"/>
                </a:solidFill>
                <a:latin typeface="Cambria" pitchFamily="34" charset="0"/>
                <a:ea typeface="Cambria" pitchFamily="34" charset="-122"/>
                <a:cs typeface="Cambria" pitchFamily="34" charset="-120"/>
              </a:rPr>
              <a:t>5</a:t>
            </a:r>
            <a:endParaRPr lang="en-US" sz="1500" dirty="0"/>
          </a:p>
        </p:txBody>
      </p:sp>
      <p:sp>
        <p:nvSpPr>
          <p:cNvPr id="10" name="Shape 8"/>
          <p:cNvSpPr/>
          <p:nvPr/>
        </p:nvSpPr>
        <p:spPr>
          <a:xfrm>
            <a:off x="548640" y="1600200"/>
            <a:ext cx="1810512" cy="411480"/>
          </a:xfrm>
          <a:prstGeom prst="roundRect">
            <a:avLst>
              <a:gd name="adj" fmla="val 8889"/>
            </a:avLst>
          </a:prstGeom>
          <a:solidFill>
            <a:srgbClr val="1D3E9C"/>
          </a:solidFill>
          <a:ln/>
        </p:spPr>
      </p:sp>
      <p:sp>
        <p:nvSpPr>
          <p:cNvPr id="11" name="Text 9"/>
          <p:cNvSpPr txBox="1"/>
          <p:nvPr/>
        </p:nvSpPr>
        <p:spPr>
          <a:xfrm>
            <a:off x="548640" y="1600200"/>
            <a:ext cx="1810512" cy="4114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KB 01</a:t>
            </a:r>
            <a:endParaRPr lang="en-US" sz="1000" dirty="0"/>
          </a:p>
        </p:txBody>
      </p:sp>
      <p:sp>
        <p:nvSpPr>
          <p:cNvPr id="12" name="Shape 10"/>
          <p:cNvSpPr/>
          <p:nvPr/>
        </p:nvSpPr>
        <p:spPr>
          <a:xfrm>
            <a:off x="548640" y="2011680"/>
            <a:ext cx="1810512" cy="1554480"/>
          </a:xfrm>
          <a:prstGeom prst="rect">
            <a:avLst/>
          </a:prstGeom>
          <a:solidFill>
            <a:srgbClr val="F5F6FA"/>
          </a:solidFill>
          <a:ln w="12700">
            <a:solidFill>
              <a:srgbClr val="E4E9F5"/>
            </a:solidFill>
            <a:prstDash val="solid"/>
          </a:ln>
        </p:spPr>
      </p:sp>
      <p:sp>
        <p:nvSpPr>
          <p:cNvPr id="13" name="Text 11"/>
          <p:cNvSpPr txBox="1"/>
          <p:nvPr/>
        </p:nvSpPr>
        <p:spPr>
          <a:xfrm>
            <a:off x="621792" y="2121408"/>
            <a:ext cx="1664208" cy="640080"/>
          </a:xfrm>
          <a:prstGeom prst="rect">
            <a:avLst/>
          </a:prstGeom>
          <a:noFill/>
          <a:ln/>
        </p:spPr>
        <p:txBody>
          <a:bodyPr wrap="square" lIns="0" tIns="0" rIns="0" bIns="0" rtlCol="0" anchor="ctr"/>
          <a:lstStyle/>
          <a:p>
            <a:pPr algn="ctr" indent="0" marL="0">
              <a:lnSpc>
                <a:spcPts val="1200"/>
              </a:lnSpc>
              <a:buNone/>
            </a:pPr>
            <a:r>
              <a:rPr lang="en-US" sz="1050" b="1" dirty="0">
                <a:solidFill>
                  <a:srgbClr val="13205C"/>
                </a:solidFill>
                <a:latin typeface="Calibri" pitchFamily="34" charset="0"/>
                <a:ea typeface="Calibri" pitchFamily="34" charset="-122"/>
                <a:cs typeface="Calibri" pitchFamily="34" charset="-120"/>
              </a:rPr>
              <a:t>COVESA VSS 4.0</a:t>
            </a:r>
            <a:endParaRPr lang="en-US" sz="1050" dirty="0"/>
          </a:p>
        </p:txBody>
      </p:sp>
      <p:sp>
        <p:nvSpPr>
          <p:cNvPr id="14" name="Text 12"/>
          <p:cNvSpPr txBox="1"/>
          <p:nvPr/>
        </p:nvSpPr>
        <p:spPr>
          <a:xfrm>
            <a:off x="621792" y="2788920"/>
            <a:ext cx="1664208" cy="685800"/>
          </a:xfrm>
          <a:prstGeom prst="rect">
            <a:avLst/>
          </a:prstGeom>
          <a:noFill/>
          <a:ln/>
        </p:spPr>
        <p:txBody>
          <a:bodyPr wrap="square" lIns="0" tIns="0" rIns="0" bIns="0" rtlCol="0" anchor="ctr"/>
          <a:lstStyle/>
          <a:p>
            <a:pPr algn="ctr" indent="0" marL="0">
              <a:lnSpc>
                <a:spcPts val="1000"/>
              </a:lnSpc>
              <a:buNone/>
            </a:pPr>
            <a:r>
              <a:rPr lang="en-US" sz="850" dirty="0">
                <a:solidFill>
                  <a:srgbClr val="5B6472"/>
                </a:solidFill>
                <a:latin typeface="Calibri" pitchFamily="34" charset="0"/>
                <a:ea typeface="Calibri" pitchFamily="34" charset="-122"/>
                <a:cs typeface="Calibri" pitchFamily="34" charset="-120"/>
              </a:rPr>
              <a:t>Software / Autonomous subdomain</a:t>
            </a:r>
            <a:endParaRPr lang="en-US" sz="850" dirty="0"/>
          </a:p>
        </p:txBody>
      </p:sp>
      <p:sp>
        <p:nvSpPr>
          <p:cNvPr id="15" name="Shape 13"/>
          <p:cNvSpPr/>
          <p:nvPr/>
        </p:nvSpPr>
        <p:spPr>
          <a:xfrm>
            <a:off x="2432304" y="1600200"/>
            <a:ext cx="1810512" cy="411480"/>
          </a:xfrm>
          <a:prstGeom prst="roundRect">
            <a:avLst>
              <a:gd name="adj" fmla="val 8889"/>
            </a:avLst>
          </a:prstGeom>
          <a:solidFill>
            <a:srgbClr val="13205C"/>
          </a:solidFill>
          <a:ln/>
        </p:spPr>
      </p:sp>
      <p:sp>
        <p:nvSpPr>
          <p:cNvPr id="16" name="Text 14"/>
          <p:cNvSpPr txBox="1"/>
          <p:nvPr/>
        </p:nvSpPr>
        <p:spPr>
          <a:xfrm>
            <a:off x="2432304" y="1600200"/>
            <a:ext cx="1810512" cy="4114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KB 02</a:t>
            </a:r>
            <a:endParaRPr lang="en-US" sz="1000" dirty="0"/>
          </a:p>
        </p:txBody>
      </p:sp>
      <p:sp>
        <p:nvSpPr>
          <p:cNvPr id="17" name="Shape 15"/>
          <p:cNvSpPr/>
          <p:nvPr/>
        </p:nvSpPr>
        <p:spPr>
          <a:xfrm>
            <a:off x="2432304" y="2011680"/>
            <a:ext cx="1810512" cy="1554480"/>
          </a:xfrm>
          <a:prstGeom prst="rect">
            <a:avLst/>
          </a:prstGeom>
          <a:solidFill>
            <a:srgbClr val="F5F6FA"/>
          </a:solidFill>
          <a:ln w="12700">
            <a:solidFill>
              <a:srgbClr val="E4E9F5"/>
            </a:solidFill>
            <a:prstDash val="solid"/>
          </a:ln>
        </p:spPr>
      </p:sp>
      <p:sp>
        <p:nvSpPr>
          <p:cNvPr id="18" name="Text 16"/>
          <p:cNvSpPr txBox="1"/>
          <p:nvPr/>
        </p:nvSpPr>
        <p:spPr>
          <a:xfrm>
            <a:off x="2505456" y="2121408"/>
            <a:ext cx="1664208" cy="640080"/>
          </a:xfrm>
          <a:prstGeom prst="rect">
            <a:avLst/>
          </a:prstGeom>
          <a:noFill/>
          <a:ln/>
        </p:spPr>
        <p:txBody>
          <a:bodyPr wrap="square" lIns="0" tIns="0" rIns="0" bIns="0" rtlCol="0" anchor="ctr"/>
          <a:lstStyle/>
          <a:p>
            <a:pPr algn="ctr" indent="0" marL="0">
              <a:lnSpc>
                <a:spcPts val="1200"/>
              </a:lnSpc>
              <a:buNone/>
            </a:pPr>
            <a:r>
              <a:rPr lang="en-US" sz="1050" b="1" dirty="0">
                <a:solidFill>
                  <a:srgbClr val="13205C"/>
                </a:solidFill>
                <a:latin typeface="Calibri" pitchFamily="34" charset="0"/>
                <a:ea typeface="Calibri" pitchFamily="34" charset="-122"/>
                <a:cs typeface="Calibri" pitchFamily="34" charset="-120"/>
              </a:rPr>
              <a:t>ISO 26262:2018</a:t>
            </a:r>
            <a:endParaRPr lang="en-US" sz="1050" dirty="0"/>
          </a:p>
        </p:txBody>
      </p:sp>
      <p:sp>
        <p:nvSpPr>
          <p:cNvPr id="19" name="Text 17"/>
          <p:cNvSpPr txBox="1"/>
          <p:nvPr/>
        </p:nvSpPr>
        <p:spPr>
          <a:xfrm>
            <a:off x="2505456" y="2788920"/>
            <a:ext cx="1664208" cy="685800"/>
          </a:xfrm>
          <a:prstGeom prst="rect">
            <a:avLst/>
          </a:prstGeom>
          <a:noFill/>
          <a:ln/>
        </p:spPr>
        <p:txBody>
          <a:bodyPr wrap="square" lIns="0" tIns="0" rIns="0" bIns="0" rtlCol="0" anchor="ctr"/>
          <a:lstStyle/>
          <a:p>
            <a:pPr algn="ctr" indent="0" marL="0">
              <a:lnSpc>
                <a:spcPts val="1000"/>
              </a:lnSpc>
              <a:buNone/>
            </a:pPr>
            <a:r>
              <a:rPr lang="en-US" sz="850" dirty="0">
                <a:solidFill>
                  <a:srgbClr val="5B6472"/>
                </a:solidFill>
                <a:latin typeface="Calibri" pitchFamily="34" charset="0"/>
                <a:ea typeface="Calibri" pitchFamily="34" charset="-122"/>
                <a:cs typeface="Calibri" pitchFamily="34" charset="-120"/>
              </a:rPr>
              <a:t>Safety Engineering highest severity</a:t>
            </a:r>
            <a:endParaRPr lang="en-US" sz="850" dirty="0"/>
          </a:p>
        </p:txBody>
      </p:sp>
      <p:sp>
        <p:nvSpPr>
          <p:cNvPr id="20" name="Shape 18"/>
          <p:cNvSpPr/>
          <p:nvPr/>
        </p:nvSpPr>
        <p:spPr>
          <a:xfrm>
            <a:off x="4315968" y="1600200"/>
            <a:ext cx="1810512" cy="411480"/>
          </a:xfrm>
          <a:prstGeom prst="roundRect">
            <a:avLst>
              <a:gd name="adj" fmla="val 8889"/>
            </a:avLst>
          </a:prstGeom>
          <a:solidFill>
            <a:srgbClr val="2FA6A0"/>
          </a:solidFill>
          <a:ln/>
        </p:spPr>
      </p:sp>
      <p:sp>
        <p:nvSpPr>
          <p:cNvPr id="21" name="Text 19"/>
          <p:cNvSpPr txBox="1"/>
          <p:nvPr/>
        </p:nvSpPr>
        <p:spPr>
          <a:xfrm>
            <a:off x="4315968" y="1600200"/>
            <a:ext cx="1810512" cy="4114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KB 03</a:t>
            </a:r>
            <a:endParaRPr lang="en-US" sz="1000" dirty="0"/>
          </a:p>
        </p:txBody>
      </p:sp>
      <p:sp>
        <p:nvSpPr>
          <p:cNvPr id="22" name="Shape 20"/>
          <p:cNvSpPr/>
          <p:nvPr/>
        </p:nvSpPr>
        <p:spPr>
          <a:xfrm>
            <a:off x="4315968" y="2011680"/>
            <a:ext cx="1810512" cy="1554480"/>
          </a:xfrm>
          <a:prstGeom prst="rect">
            <a:avLst/>
          </a:prstGeom>
          <a:solidFill>
            <a:srgbClr val="F5F6FA"/>
          </a:solidFill>
          <a:ln w="12700">
            <a:solidFill>
              <a:srgbClr val="E4E9F5"/>
            </a:solidFill>
            <a:prstDash val="solid"/>
          </a:ln>
        </p:spPr>
      </p:sp>
      <p:sp>
        <p:nvSpPr>
          <p:cNvPr id="23" name="Text 21"/>
          <p:cNvSpPr txBox="1"/>
          <p:nvPr/>
        </p:nvSpPr>
        <p:spPr>
          <a:xfrm>
            <a:off x="4389120" y="2121408"/>
            <a:ext cx="1664208" cy="640080"/>
          </a:xfrm>
          <a:prstGeom prst="rect">
            <a:avLst/>
          </a:prstGeom>
          <a:noFill/>
          <a:ln/>
        </p:spPr>
        <p:txBody>
          <a:bodyPr wrap="square" lIns="0" tIns="0" rIns="0" bIns="0" rtlCol="0" anchor="ctr"/>
          <a:lstStyle/>
          <a:p>
            <a:pPr algn="ctr" indent="0" marL="0">
              <a:lnSpc>
                <a:spcPts val="1200"/>
              </a:lnSpc>
              <a:buNone/>
            </a:pPr>
            <a:r>
              <a:rPr lang="en-US" sz="1050" b="1" dirty="0">
                <a:solidFill>
                  <a:srgbClr val="13205C"/>
                </a:solidFill>
                <a:latin typeface="Calibri" pitchFamily="34" charset="0"/>
                <a:ea typeface="Calibri" pitchFamily="34" charset="-122"/>
                <a:cs typeface="Calibri" pitchFamily="34" charset="-120"/>
              </a:rPr>
              <a:t>SOTIF ISO 21448</a:t>
            </a:r>
            <a:endParaRPr lang="en-US" sz="1050" dirty="0"/>
          </a:p>
        </p:txBody>
      </p:sp>
      <p:sp>
        <p:nvSpPr>
          <p:cNvPr id="24" name="Text 22"/>
          <p:cNvSpPr txBox="1"/>
          <p:nvPr/>
        </p:nvSpPr>
        <p:spPr>
          <a:xfrm>
            <a:off x="4389120" y="2788920"/>
            <a:ext cx="1664208" cy="685800"/>
          </a:xfrm>
          <a:prstGeom prst="rect">
            <a:avLst/>
          </a:prstGeom>
          <a:noFill/>
          <a:ln/>
        </p:spPr>
        <p:txBody>
          <a:bodyPr wrap="square" lIns="0" tIns="0" rIns="0" bIns="0" rtlCol="0" anchor="ctr"/>
          <a:lstStyle/>
          <a:p>
            <a:pPr algn="ctr" indent="0" marL="0">
              <a:lnSpc>
                <a:spcPts val="1000"/>
              </a:lnSpc>
              <a:buNone/>
            </a:pPr>
            <a:r>
              <a:rPr lang="en-US" sz="850" dirty="0">
                <a:solidFill>
                  <a:srgbClr val="5B6472"/>
                </a:solidFill>
                <a:latin typeface="Calibri" pitchFamily="34" charset="0"/>
                <a:ea typeface="Calibri" pitchFamily="34" charset="-122"/>
                <a:cs typeface="Calibri" pitchFamily="34" charset="-120"/>
              </a:rPr>
              <a:t>Applied concurrently with ISO 26262</a:t>
            </a:r>
            <a:endParaRPr lang="en-US" sz="850" dirty="0"/>
          </a:p>
          <a:p>
            <a:pPr algn="ctr" indent="0" marL="0">
              <a:lnSpc>
                <a:spcPts val="1000"/>
              </a:lnSpc>
              <a:buNone/>
            </a:pPr>
            <a:r>
              <a:rPr lang="en-US" sz="850" dirty="0">
                <a:solidFill>
                  <a:srgbClr val="5B6472"/>
                </a:solidFill>
                <a:latin typeface="Calibri" pitchFamily="34" charset="0"/>
                <a:ea typeface="Calibri" pitchFamily="34" charset="-122"/>
                <a:cs typeface="Calibri" pitchFamily="34" charset="-120"/>
              </a:rPr>
              <a:t>NOT a replacement</a:t>
            </a:r>
            <a:endParaRPr lang="en-US" sz="850" dirty="0"/>
          </a:p>
        </p:txBody>
      </p:sp>
      <p:sp>
        <p:nvSpPr>
          <p:cNvPr id="25" name="Shape 23"/>
          <p:cNvSpPr/>
          <p:nvPr/>
        </p:nvSpPr>
        <p:spPr>
          <a:xfrm>
            <a:off x="6199632" y="1600200"/>
            <a:ext cx="1810512" cy="411480"/>
          </a:xfrm>
          <a:prstGeom prst="roundRect">
            <a:avLst>
              <a:gd name="adj" fmla="val 8889"/>
            </a:avLst>
          </a:prstGeom>
          <a:solidFill>
            <a:srgbClr val="13205C"/>
          </a:solidFill>
          <a:ln/>
        </p:spPr>
      </p:sp>
      <p:sp>
        <p:nvSpPr>
          <p:cNvPr id="26" name="Text 24"/>
          <p:cNvSpPr txBox="1"/>
          <p:nvPr/>
        </p:nvSpPr>
        <p:spPr>
          <a:xfrm>
            <a:off x="6199632" y="1600200"/>
            <a:ext cx="1810512" cy="4114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KB 04</a:t>
            </a:r>
            <a:endParaRPr lang="en-US" sz="1000" dirty="0"/>
          </a:p>
        </p:txBody>
      </p:sp>
      <p:sp>
        <p:nvSpPr>
          <p:cNvPr id="27" name="Shape 25"/>
          <p:cNvSpPr/>
          <p:nvPr/>
        </p:nvSpPr>
        <p:spPr>
          <a:xfrm>
            <a:off x="6199632" y="2011680"/>
            <a:ext cx="1810512" cy="1554480"/>
          </a:xfrm>
          <a:prstGeom prst="rect">
            <a:avLst/>
          </a:prstGeom>
          <a:solidFill>
            <a:srgbClr val="F5F6FA"/>
          </a:solidFill>
          <a:ln w="12700">
            <a:solidFill>
              <a:srgbClr val="E4E9F5"/>
            </a:solidFill>
            <a:prstDash val="solid"/>
          </a:ln>
        </p:spPr>
      </p:sp>
      <p:sp>
        <p:nvSpPr>
          <p:cNvPr id="28" name="Text 26"/>
          <p:cNvSpPr txBox="1"/>
          <p:nvPr/>
        </p:nvSpPr>
        <p:spPr>
          <a:xfrm>
            <a:off x="6272784" y="2121408"/>
            <a:ext cx="1664208" cy="640080"/>
          </a:xfrm>
          <a:prstGeom prst="rect">
            <a:avLst/>
          </a:prstGeom>
          <a:noFill/>
          <a:ln/>
        </p:spPr>
        <p:txBody>
          <a:bodyPr wrap="square" lIns="0" tIns="0" rIns="0" bIns="0" rtlCol="0" anchor="ctr"/>
          <a:lstStyle/>
          <a:p>
            <a:pPr algn="ctr" indent="0" marL="0">
              <a:lnSpc>
                <a:spcPts val="1200"/>
              </a:lnSpc>
              <a:buNone/>
            </a:pPr>
            <a:r>
              <a:rPr lang="en-US" sz="1050" b="1" dirty="0">
                <a:solidFill>
                  <a:srgbClr val="13205C"/>
                </a:solidFill>
                <a:latin typeface="Calibri" pitchFamily="34" charset="0"/>
                <a:ea typeface="Calibri" pitchFamily="34" charset="-122"/>
                <a:cs typeface="Calibri" pitchFamily="34" charset="-120"/>
              </a:rPr>
              <a:t>CAN / OBD-II</a:t>
            </a:r>
            <a:endParaRPr lang="en-US" sz="1050" dirty="0"/>
          </a:p>
          <a:p>
            <a:pPr algn="ctr" indent="0" marL="0">
              <a:lnSpc>
                <a:spcPts val="1200"/>
              </a:lnSpc>
              <a:buNone/>
            </a:pPr>
            <a:r>
              <a:rPr lang="en-US" sz="1050" b="1" dirty="0">
                <a:solidFill>
                  <a:srgbClr val="13205C"/>
                </a:solidFill>
                <a:latin typeface="Calibri" pitchFamily="34" charset="0"/>
                <a:ea typeface="Calibri" pitchFamily="34" charset="-122"/>
                <a:cs typeface="Calibri" pitchFamily="34" charset="-120"/>
              </a:rPr>
              <a:t>ISO 11898 + SAE J1979</a:t>
            </a:r>
            <a:endParaRPr lang="en-US" sz="1050" dirty="0"/>
          </a:p>
        </p:txBody>
      </p:sp>
      <p:sp>
        <p:nvSpPr>
          <p:cNvPr id="29" name="Text 27"/>
          <p:cNvSpPr txBox="1"/>
          <p:nvPr/>
        </p:nvSpPr>
        <p:spPr>
          <a:xfrm>
            <a:off x="6272784" y="2788920"/>
            <a:ext cx="1664208" cy="685800"/>
          </a:xfrm>
          <a:prstGeom prst="rect">
            <a:avLst/>
          </a:prstGeom>
          <a:noFill/>
          <a:ln/>
        </p:spPr>
        <p:txBody>
          <a:bodyPr wrap="square" lIns="0" tIns="0" rIns="0" bIns="0" rtlCol="0" anchor="ctr"/>
          <a:lstStyle/>
          <a:p>
            <a:pPr algn="ctr" indent="0" marL="0">
              <a:lnSpc>
                <a:spcPts val="1000"/>
              </a:lnSpc>
              <a:buNone/>
            </a:pPr>
            <a:r>
              <a:rPr lang="en-US" sz="850" dirty="0">
                <a:solidFill>
                  <a:srgbClr val="5B6472"/>
                </a:solidFill>
                <a:latin typeface="Calibri" pitchFamily="34" charset="0"/>
                <a:ea typeface="Calibri" pitchFamily="34" charset="-122"/>
                <a:cs typeface="Calibri" pitchFamily="34" charset="-120"/>
              </a:rPr>
              <a:t>No built-in CAN encryption</a:t>
            </a:r>
            <a:endParaRPr lang="en-US" sz="850" dirty="0"/>
          </a:p>
          <a:p>
            <a:pPr algn="ctr" indent="0" marL="0">
              <a:lnSpc>
                <a:spcPts val="1000"/>
              </a:lnSpc>
              <a:buNone/>
            </a:pPr>
            <a:r>
              <a:rPr lang="en-US" sz="850" dirty="0">
                <a:solidFill>
                  <a:srgbClr val="5B6472"/>
                </a:solidFill>
                <a:latin typeface="Calibri" pitchFamily="34" charset="0"/>
                <a:ea typeface="Calibri" pitchFamily="34" charset="-122"/>
                <a:cs typeface="Calibri" pitchFamily="34" charset="-120"/>
              </a:rPr>
              <a:t>Electrical Engineering</a:t>
            </a:r>
            <a:endParaRPr lang="en-US" sz="850" dirty="0"/>
          </a:p>
        </p:txBody>
      </p:sp>
      <p:sp>
        <p:nvSpPr>
          <p:cNvPr id="30" name="Shape 28"/>
          <p:cNvSpPr/>
          <p:nvPr/>
        </p:nvSpPr>
        <p:spPr>
          <a:xfrm>
            <a:off x="8083296" y="1600200"/>
            <a:ext cx="1810512" cy="411480"/>
          </a:xfrm>
          <a:prstGeom prst="roundRect">
            <a:avLst>
              <a:gd name="adj" fmla="val 8889"/>
            </a:avLst>
          </a:prstGeom>
          <a:solidFill>
            <a:srgbClr val="2FA6A0"/>
          </a:solidFill>
          <a:ln/>
        </p:spPr>
      </p:sp>
      <p:sp>
        <p:nvSpPr>
          <p:cNvPr id="31" name="Text 29"/>
          <p:cNvSpPr txBox="1"/>
          <p:nvPr/>
        </p:nvSpPr>
        <p:spPr>
          <a:xfrm>
            <a:off x="8083296" y="1600200"/>
            <a:ext cx="1810512" cy="4114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KB 05</a:t>
            </a:r>
            <a:endParaRPr lang="en-US" sz="1000" dirty="0"/>
          </a:p>
        </p:txBody>
      </p:sp>
      <p:sp>
        <p:nvSpPr>
          <p:cNvPr id="32" name="Shape 30"/>
          <p:cNvSpPr/>
          <p:nvPr/>
        </p:nvSpPr>
        <p:spPr>
          <a:xfrm>
            <a:off x="8083296" y="2011680"/>
            <a:ext cx="1810512" cy="1554480"/>
          </a:xfrm>
          <a:prstGeom prst="rect">
            <a:avLst/>
          </a:prstGeom>
          <a:solidFill>
            <a:srgbClr val="F5F6FA"/>
          </a:solidFill>
          <a:ln w="12700">
            <a:solidFill>
              <a:srgbClr val="E4E9F5"/>
            </a:solidFill>
            <a:prstDash val="solid"/>
          </a:ln>
        </p:spPr>
      </p:sp>
      <p:sp>
        <p:nvSpPr>
          <p:cNvPr id="33" name="Text 31"/>
          <p:cNvSpPr txBox="1"/>
          <p:nvPr/>
        </p:nvSpPr>
        <p:spPr>
          <a:xfrm>
            <a:off x="8156448" y="2121408"/>
            <a:ext cx="1664208" cy="640080"/>
          </a:xfrm>
          <a:prstGeom prst="rect">
            <a:avLst/>
          </a:prstGeom>
          <a:noFill/>
          <a:ln/>
        </p:spPr>
        <p:txBody>
          <a:bodyPr wrap="square" lIns="0" tIns="0" rIns="0" bIns="0" rtlCol="0" anchor="ctr"/>
          <a:lstStyle/>
          <a:p>
            <a:pPr algn="ctr" indent="0" marL="0">
              <a:lnSpc>
                <a:spcPts val="1200"/>
              </a:lnSpc>
              <a:buNone/>
            </a:pPr>
            <a:r>
              <a:rPr lang="en-US" sz="1050" b="1" dirty="0">
                <a:solidFill>
                  <a:srgbClr val="13205C"/>
                </a:solidFill>
                <a:latin typeface="Calibri" pitchFamily="34" charset="0"/>
                <a:ea typeface="Calibri" pitchFamily="34" charset="-122"/>
                <a:cs typeface="Calibri" pitchFamily="34" charset="-120"/>
              </a:rPr>
              <a:t>AUTOSAR R22-11</a:t>
            </a:r>
            <a:endParaRPr lang="en-US" sz="1050" dirty="0"/>
          </a:p>
        </p:txBody>
      </p:sp>
      <p:sp>
        <p:nvSpPr>
          <p:cNvPr id="34" name="Text 32"/>
          <p:cNvSpPr txBox="1"/>
          <p:nvPr/>
        </p:nvSpPr>
        <p:spPr>
          <a:xfrm>
            <a:off x="8156448" y="2788920"/>
            <a:ext cx="1664208" cy="685800"/>
          </a:xfrm>
          <a:prstGeom prst="rect">
            <a:avLst/>
          </a:prstGeom>
          <a:noFill/>
          <a:ln/>
        </p:spPr>
        <p:txBody>
          <a:bodyPr wrap="square" lIns="0" tIns="0" rIns="0" bIns="0" rtlCol="0" anchor="ctr"/>
          <a:lstStyle/>
          <a:p>
            <a:pPr algn="ctr" indent="0" marL="0">
              <a:lnSpc>
                <a:spcPts val="1000"/>
              </a:lnSpc>
              <a:buNone/>
            </a:pPr>
            <a:r>
              <a:rPr lang="en-US" sz="850" dirty="0">
                <a:solidFill>
                  <a:srgbClr val="5B6472"/>
                </a:solidFill>
                <a:latin typeface="Calibri" pitchFamily="34" charset="0"/>
                <a:ea typeface="Calibri" pitchFamily="34" charset="-122"/>
                <a:cs typeface="Calibri" pitchFamily="34" charset="-120"/>
              </a:rPr>
              <a:t>Not for Classic Platform</a:t>
            </a:r>
            <a:endParaRPr lang="en-US" sz="850" dirty="0"/>
          </a:p>
          <a:p>
            <a:pPr algn="ctr" indent="0" marL="0">
              <a:lnSpc>
                <a:spcPts val="1000"/>
              </a:lnSpc>
              <a:buNone/>
            </a:pPr>
            <a:r>
              <a:rPr lang="en-US" sz="850" dirty="0">
                <a:solidFill>
                  <a:srgbClr val="5B6472"/>
                </a:solidFill>
                <a:latin typeface="Calibri" pitchFamily="34" charset="0"/>
                <a:ea typeface="Calibri" pitchFamily="34" charset="-122"/>
                <a:cs typeface="Calibri" pitchFamily="34" charset="-120"/>
              </a:rPr>
              <a:t>Software architecture errors</a:t>
            </a:r>
            <a:endParaRPr lang="en-US" sz="850" dirty="0"/>
          </a:p>
        </p:txBody>
      </p:sp>
      <p:sp>
        <p:nvSpPr>
          <p:cNvPr id="35" name="Shape 33"/>
          <p:cNvSpPr/>
          <p:nvPr/>
        </p:nvSpPr>
        <p:spPr>
          <a:xfrm>
            <a:off x="9966960" y="1600200"/>
            <a:ext cx="1810512" cy="411480"/>
          </a:xfrm>
          <a:prstGeom prst="roundRect">
            <a:avLst>
              <a:gd name="adj" fmla="val 8889"/>
            </a:avLst>
          </a:prstGeom>
          <a:solidFill>
            <a:srgbClr val="13205C"/>
          </a:solidFill>
          <a:ln/>
        </p:spPr>
      </p:sp>
      <p:sp>
        <p:nvSpPr>
          <p:cNvPr id="36" name="Text 34"/>
          <p:cNvSpPr txBox="1"/>
          <p:nvPr/>
        </p:nvSpPr>
        <p:spPr>
          <a:xfrm>
            <a:off x="9966960" y="1600200"/>
            <a:ext cx="1810512" cy="4114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KB 06</a:t>
            </a:r>
            <a:endParaRPr lang="en-US" sz="1000" dirty="0"/>
          </a:p>
        </p:txBody>
      </p:sp>
      <p:sp>
        <p:nvSpPr>
          <p:cNvPr id="37" name="Shape 35"/>
          <p:cNvSpPr/>
          <p:nvPr/>
        </p:nvSpPr>
        <p:spPr>
          <a:xfrm>
            <a:off x="9966960" y="2011680"/>
            <a:ext cx="1810512" cy="1554480"/>
          </a:xfrm>
          <a:prstGeom prst="rect">
            <a:avLst/>
          </a:prstGeom>
          <a:solidFill>
            <a:srgbClr val="F5F6FA"/>
          </a:solidFill>
          <a:ln w="12700">
            <a:solidFill>
              <a:srgbClr val="E4E9F5"/>
            </a:solidFill>
            <a:prstDash val="solid"/>
          </a:ln>
        </p:spPr>
      </p:sp>
      <p:sp>
        <p:nvSpPr>
          <p:cNvPr id="38" name="Text 36"/>
          <p:cNvSpPr txBox="1"/>
          <p:nvPr/>
        </p:nvSpPr>
        <p:spPr>
          <a:xfrm>
            <a:off x="10040112" y="2121408"/>
            <a:ext cx="1664208" cy="640080"/>
          </a:xfrm>
          <a:prstGeom prst="rect">
            <a:avLst/>
          </a:prstGeom>
          <a:noFill/>
          <a:ln/>
        </p:spPr>
        <p:txBody>
          <a:bodyPr wrap="square" lIns="0" tIns="0" rIns="0" bIns="0" rtlCol="0" anchor="ctr"/>
          <a:lstStyle/>
          <a:p>
            <a:pPr algn="ctr" indent="0" marL="0">
              <a:lnSpc>
                <a:spcPts val="1200"/>
              </a:lnSpc>
              <a:buNone/>
            </a:pPr>
            <a:r>
              <a:rPr lang="en-US" sz="1050" b="1" dirty="0">
                <a:solidFill>
                  <a:srgbClr val="13205C"/>
                </a:solidFill>
                <a:latin typeface="Calibri" pitchFamily="34" charset="0"/>
                <a:ea typeface="Calibri" pitchFamily="34" charset="-122"/>
                <a:cs typeface="Calibri" pitchFamily="34" charset="-120"/>
              </a:rPr>
              <a:t>HaluEval Patterns</a:t>
            </a:r>
            <a:endParaRPr lang="en-US" sz="1050" dirty="0"/>
          </a:p>
        </p:txBody>
      </p:sp>
      <p:sp>
        <p:nvSpPr>
          <p:cNvPr id="39" name="Text 37"/>
          <p:cNvSpPr txBox="1"/>
          <p:nvPr/>
        </p:nvSpPr>
        <p:spPr>
          <a:xfrm>
            <a:off x="10040112" y="2788920"/>
            <a:ext cx="1664208" cy="685800"/>
          </a:xfrm>
          <a:prstGeom prst="rect">
            <a:avLst/>
          </a:prstGeom>
          <a:noFill/>
          <a:ln/>
        </p:spPr>
        <p:txBody>
          <a:bodyPr wrap="square" lIns="0" tIns="0" rIns="0" bIns="0" rtlCol="0" anchor="ctr"/>
          <a:lstStyle/>
          <a:p>
            <a:pPr algn="ctr" indent="0" marL="0">
              <a:lnSpc>
                <a:spcPts val="1000"/>
              </a:lnSpc>
              <a:buNone/>
            </a:pPr>
            <a:r>
              <a:rPr lang="en-US" sz="850" dirty="0">
                <a:solidFill>
                  <a:srgbClr val="5B6472"/>
                </a:solidFill>
                <a:latin typeface="Calibri" pitchFamily="34" charset="0"/>
                <a:ea typeface="Calibri" pitchFamily="34" charset="-122"/>
                <a:cs typeface="Calibri" pitchFamily="34" charset="-120"/>
              </a:rPr>
              <a:t>Stage 1 soft triggers</a:t>
            </a:r>
            <a:endParaRPr lang="en-US" sz="850" dirty="0"/>
          </a:p>
        </p:txBody>
      </p:sp>
      <p:sp>
        <p:nvSpPr>
          <p:cNvPr id="40" name="Text 38"/>
          <p:cNvSpPr txBox="1"/>
          <p:nvPr/>
        </p:nvSpPr>
        <p:spPr>
          <a:xfrm>
            <a:off x="548640" y="3931920"/>
            <a:ext cx="11064240" cy="365760"/>
          </a:xfrm>
          <a:prstGeom prst="rect">
            <a:avLst/>
          </a:prstGeom>
          <a:noFill/>
          <a:ln/>
        </p:spPr>
        <p:txBody>
          <a:bodyPr wrap="square" lIns="0" tIns="0" rIns="0" bIns="0" rtlCol="0" anchor="ctr"/>
          <a:lstStyle/>
          <a:p>
            <a:pPr indent="0" marL="0">
              <a:buNone/>
            </a:pPr>
            <a:r>
              <a:rPr lang="en-US" sz="1300" b="1" dirty="0">
                <a:solidFill>
                  <a:srgbClr val="13205C"/>
                </a:solidFill>
                <a:latin typeface="Calibri" pitchFamily="34" charset="0"/>
                <a:ea typeface="Calibri" pitchFamily="34" charset="-122"/>
                <a:cs typeface="Calibri" pitchFamily="34" charset="-120"/>
              </a:rPr>
              <a:t>None of this works without reliable facts behind it.</a:t>
            </a:r>
            <a:endParaRPr lang="en-US" sz="1300" dirty="0"/>
          </a:p>
        </p:txBody>
      </p:sp>
      <p:sp>
        <p:nvSpPr>
          <p:cNvPr id="41" name="Text 39"/>
          <p:cNvSpPr txBox="1"/>
          <p:nvPr/>
        </p:nvSpPr>
        <p:spPr>
          <a:xfrm>
            <a:off x="548640" y="4343400"/>
            <a:ext cx="11064240" cy="1188720"/>
          </a:xfrm>
          <a:prstGeom prst="rect">
            <a:avLst/>
          </a:prstGeom>
          <a:noFill/>
          <a:ln/>
        </p:spPr>
        <p:txBody>
          <a:bodyPr wrap="square" lIns="0" tIns="0" rIns="0" bIns="0" rtlCol="0" anchor="ctr"/>
          <a:lstStyle/>
          <a:p>
            <a:pPr indent="0" marL="0">
              <a:lnSpc>
                <a:spcPts val="1700"/>
              </a:lnSpc>
              <a:buNone/>
            </a:pPr>
            <a:r>
              <a:rPr lang="en-US" sz="1200" dirty="0">
                <a:solidFill>
                  <a:srgbClr val="5B6472"/>
                </a:solidFill>
                <a:latin typeface="Calibri" pitchFamily="34" charset="0"/>
                <a:ea typeface="Calibri" pitchFamily="34" charset="-122"/>
                <a:cs typeface="Calibri" pitchFamily="34" charset="-120"/>
              </a:rPr>
              <a:t>The knowledge base contains 146 curated facts, drawn from six authoritative sources — COVESA VSS, ISO 26262, SOTIF, CAN, AUTOSAR, and HaluEval patterns. Every entry is bidirectional: it pairs the correct fact with its common hallucinated variant, side by side, which keeps the system fast to check and easy to update as standards change over time.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7315200" cy="274320"/>
          </a:xfrm>
          <a:prstGeom prst="rect">
            <a:avLst/>
          </a:prstGeom>
          <a:noFill/>
          <a:ln/>
        </p:spPr>
        <p:txBody>
          <a:bodyPr wrap="square" lIns="0" tIns="0" rIns="0" bIns="0" rtlCol="0" anchor="ctr"/>
          <a:lstStyle/>
          <a:p>
            <a:pPr indent="0" marL="0">
              <a:buNone/>
            </a:pPr>
            <a:r>
              <a:rPr lang="en-US" sz="1050" b="1" spc="200" kern="0" dirty="0">
                <a:solidFill>
                  <a:srgbClr val="2C5FB8"/>
                </a:solidFill>
                <a:latin typeface="Calibri" pitchFamily="34" charset="0"/>
                <a:ea typeface="Calibri" pitchFamily="34" charset="-122"/>
                <a:cs typeface="Calibri" pitchFamily="34" charset="-120"/>
              </a:rPr>
              <a:t>RESULTS &amp; DISCUSSION</a:t>
            </a:r>
            <a:endParaRPr lang="en-US" sz="1050" dirty="0"/>
          </a:p>
        </p:txBody>
      </p:sp>
      <p:sp>
        <p:nvSpPr>
          <p:cNvPr id="3" name="Text 1"/>
          <p:cNvSpPr txBox="1"/>
          <p:nvPr/>
        </p:nvSpPr>
        <p:spPr>
          <a:xfrm>
            <a:off x="457200" y="566928"/>
            <a:ext cx="9601200" cy="640080"/>
          </a:xfrm>
          <a:prstGeom prst="rect">
            <a:avLst/>
          </a:prstGeom>
          <a:noFill/>
          <a:ln/>
        </p:spPr>
        <p:txBody>
          <a:bodyPr wrap="square" lIns="0" tIns="0" rIns="0" bIns="0" rtlCol="0" anchor="ctr"/>
          <a:lstStyle/>
          <a:p>
            <a:pPr indent="0" marL="0">
              <a:buNone/>
            </a:pPr>
            <a:r>
              <a:rPr lang="en-US" sz="2600" b="1" dirty="0">
                <a:solidFill>
                  <a:srgbClr val="16255E"/>
                </a:solidFill>
                <a:latin typeface="Cambria" pitchFamily="34" charset="0"/>
                <a:ea typeface="Cambria" pitchFamily="34" charset="-122"/>
                <a:cs typeface="Cambria" pitchFamily="34" charset="-120"/>
              </a:rPr>
              <a:t>System Architecture</a:t>
            </a:r>
            <a:endParaRPr lang="en-US" sz="2600" dirty="0"/>
          </a:p>
        </p:txBody>
      </p:sp>
      <p:sp>
        <p:nvSpPr>
          <p:cNvPr id="4" name="Shape 2"/>
          <p:cNvSpPr/>
          <p:nvPr/>
        </p:nvSpPr>
        <p:spPr>
          <a:xfrm>
            <a:off x="11109960" y="256032"/>
            <a:ext cx="685800" cy="685800"/>
          </a:xfrm>
          <a:prstGeom prst="ellipse">
            <a:avLst/>
          </a:prstGeom>
          <a:solidFill>
            <a:srgbClr val="FFFFFF"/>
          </a:solidFill>
          <a:ln w="19050">
            <a:solidFill>
              <a:srgbClr val="13205C"/>
            </a:solidFill>
            <a:prstDash val="solid"/>
          </a:ln>
        </p:spPr>
      </p:sp>
      <p:sp>
        <p:nvSpPr>
          <p:cNvPr id="5" name="Text 3"/>
          <p:cNvSpPr txBox="1"/>
          <p:nvPr/>
        </p:nvSpPr>
        <p:spPr>
          <a:xfrm>
            <a:off x="11109960" y="256032"/>
            <a:ext cx="685800" cy="685800"/>
          </a:xfrm>
          <a:prstGeom prst="rect">
            <a:avLst/>
          </a:prstGeom>
          <a:noFill/>
          <a:ln/>
        </p:spPr>
        <p:txBody>
          <a:bodyPr wrap="square" lIns="0" tIns="0" rIns="0" bIns="0" rtlCol="0" anchor="ctr"/>
          <a:lstStyle/>
          <a:p>
            <a:pPr algn="ctr" indent="0" marL="0">
              <a:lnSpc>
                <a:spcPts val="800"/>
              </a:lnSpc>
              <a:buNone/>
            </a:pPr>
            <a:r>
              <a:rPr lang="en-US" sz="700" b="1" dirty="0">
                <a:solidFill>
                  <a:srgbClr val="13205C"/>
                </a:solidFill>
                <a:latin typeface="Calibri" pitchFamily="34" charset="0"/>
                <a:ea typeface="Calibri" pitchFamily="34" charset="-122"/>
                <a:cs typeface="Calibri" pitchFamily="34" charset="-120"/>
              </a:rPr>
              <a:t>AIB</a:t>
            </a:r>
            <a:endParaRPr lang="en-US" sz="700" dirty="0"/>
          </a:p>
          <a:p>
            <a:pPr algn="ctr" indent="0" marL="0">
              <a:lnSpc>
                <a:spcPts val="800"/>
              </a:lnSpc>
              <a:buNone/>
            </a:pPr>
            <a:r>
              <a:rPr lang="en-US" sz="700" b="1" dirty="0">
                <a:solidFill>
                  <a:srgbClr val="13205C"/>
                </a:solidFill>
                <a:latin typeface="Calibri" pitchFamily="34" charset="0"/>
                <a:ea typeface="Calibri" pitchFamily="34" charset="-122"/>
                <a:cs typeface="Calibri" pitchFamily="34" charset="-120"/>
              </a:rPr>
              <a:t>THINGS</a:t>
            </a:r>
            <a:endParaRPr lang="en-US" sz="700" dirty="0"/>
          </a:p>
        </p:txBody>
      </p:sp>
      <p:sp>
        <p:nvSpPr>
          <p:cNvPr id="6" name="Shape 4"/>
          <p:cNvSpPr/>
          <p:nvPr/>
        </p:nvSpPr>
        <p:spPr>
          <a:xfrm>
            <a:off x="0" y="6400800"/>
            <a:ext cx="12191695" cy="457200"/>
          </a:xfrm>
          <a:prstGeom prst="rect">
            <a:avLst/>
          </a:prstGeom>
          <a:solidFill>
            <a:srgbClr val="13205C"/>
          </a:solidFill>
          <a:ln/>
        </p:spPr>
      </p:sp>
      <p:sp>
        <p:nvSpPr>
          <p:cNvPr id="7" name="Text 5"/>
          <p:cNvSpPr txBox="1"/>
          <p:nvPr/>
        </p:nvSpPr>
        <p:spPr>
          <a:xfrm>
            <a:off x="457200" y="6400800"/>
            <a:ext cx="5486400"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AIBTHINGS 2026  •  PAPER #465</a:t>
            </a:r>
            <a:endParaRPr lang="en-US" sz="1000" dirty="0"/>
          </a:p>
        </p:txBody>
      </p:sp>
      <p:sp>
        <p:nvSpPr>
          <p:cNvPr id="8" name="Shape 6"/>
          <p:cNvSpPr/>
          <p:nvPr/>
        </p:nvSpPr>
        <p:spPr>
          <a:xfrm>
            <a:off x="11475720" y="6199632"/>
            <a:ext cx="566928" cy="566928"/>
          </a:xfrm>
          <a:prstGeom prst="ellipse">
            <a:avLst/>
          </a:prstGeom>
          <a:solidFill>
            <a:srgbClr val="FFFFFF"/>
          </a:solidFill>
          <a:ln w="19050">
            <a:solidFill>
              <a:srgbClr val="13205C"/>
            </a:solidFill>
            <a:prstDash val="solid"/>
          </a:ln>
        </p:spPr>
      </p:sp>
      <p:sp>
        <p:nvSpPr>
          <p:cNvPr id="9" name="Text 7"/>
          <p:cNvSpPr txBox="1"/>
          <p:nvPr/>
        </p:nvSpPr>
        <p:spPr>
          <a:xfrm>
            <a:off x="11475720" y="6199632"/>
            <a:ext cx="566928" cy="566928"/>
          </a:xfrm>
          <a:prstGeom prst="rect">
            <a:avLst/>
          </a:prstGeom>
          <a:noFill/>
          <a:ln/>
        </p:spPr>
        <p:txBody>
          <a:bodyPr wrap="square" lIns="0" tIns="0" rIns="0" bIns="0" rtlCol="0" anchor="ctr"/>
          <a:lstStyle/>
          <a:p>
            <a:pPr algn="ctr" indent="0" marL="0">
              <a:buNone/>
            </a:pPr>
            <a:r>
              <a:rPr lang="en-US" sz="1500" b="1" dirty="0">
                <a:solidFill>
                  <a:srgbClr val="13205C"/>
                </a:solidFill>
                <a:latin typeface="Cambria" pitchFamily="34" charset="0"/>
                <a:ea typeface="Cambria" pitchFamily="34" charset="-122"/>
                <a:cs typeface="Cambria" pitchFamily="34" charset="-120"/>
              </a:rPr>
              <a:t>6</a:t>
            </a:r>
            <a:endParaRPr lang="en-US" sz="1500" dirty="0"/>
          </a:p>
        </p:txBody>
      </p:sp>
      <p:sp>
        <p:nvSpPr>
          <p:cNvPr id="10" name="Shape 8"/>
          <p:cNvSpPr/>
          <p:nvPr/>
        </p:nvSpPr>
        <p:spPr>
          <a:xfrm>
            <a:off x="548640" y="2377440"/>
            <a:ext cx="2377440" cy="914400"/>
          </a:xfrm>
          <a:prstGeom prst="roundRect">
            <a:avLst>
              <a:gd name="adj" fmla="val 6000"/>
            </a:avLst>
          </a:prstGeom>
          <a:solidFill>
            <a:srgbClr val="13205C"/>
          </a:solidFill>
          <a:ln/>
        </p:spPr>
      </p:sp>
      <p:sp>
        <p:nvSpPr>
          <p:cNvPr id="11" name="Text 9"/>
          <p:cNvSpPr txBox="1"/>
          <p:nvPr/>
        </p:nvSpPr>
        <p:spPr>
          <a:xfrm>
            <a:off x="548640" y="2377440"/>
            <a:ext cx="2377440" cy="914400"/>
          </a:xfrm>
          <a:prstGeom prst="rect">
            <a:avLst/>
          </a:prstGeom>
          <a:noFill/>
          <a:ln/>
        </p:spPr>
        <p:txBody>
          <a:bodyPr wrap="square" lIns="0" tIns="0" rIns="0" bIns="0" rtlCol="0" anchor="ctr"/>
          <a:lstStyle/>
          <a:p>
            <a:pPr algn="ctr" indent="0" marL="0">
              <a:lnSpc>
                <a:spcPts val="1400"/>
              </a:lnSpc>
              <a:buNone/>
            </a:pPr>
            <a:r>
              <a:rPr lang="en-US" sz="1200" b="1" dirty="0">
                <a:solidFill>
                  <a:srgbClr val="FFFFFF"/>
                </a:solidFill>
                <a:latin typeface="Calibri" pitchFamily="34" charset="0"/>
                <a:ea typeface="Calibri" pitchFamily="34" charset="-122"/>
                <a:cs typeface="Calibri" pitchFamily="34" charset="-120"/>
              </a:rPr>
              <a:t>Chrome</a:t>
            </a:r>
            <a:endParaRPr lang="en-US" sz="1200" dirty="0"/>
          </a:p>
          <a:p>
            <a:pPr algn="ctr" indent="0" marL="0">
              <a:lnSpc>
                <a:spcPts val="1400"/>
              </a:lnSpc>
              <a:buNone/>
            </a:pPr>
            <a:r>
              <a:rPr lang="en-US" sz="1200" b="1" dirty="0">
                <a:solidFill>
                  <a:srgbClr val="FFFFFF"/>
                </a:solidFill>
                <a:latin typeface="Calibri" pitchFamily="34" charset="0"/>
                <a:ea typeface="Calibri" pitchFamily="34" charset="-122"/>
                <a:cs typeface="Calibri" pitchFamily="34" charset="-120"/>
              </a:rPr>
              <a:t>Extension</a:t>
            </a:r>
            <a:endParaRPr lang="en-US" sz="1200" dirty="0"/>
          </a:p>
        </p:txBody>
      </p:sp>
      <p:sp>
        <p:nvSpPr>
          <p:cNvPr id="12" name="Shape 10"/>
          <p:cNvSpPr/>
          <p:nvPr/>
        </p:nvSpPr>
        <p:spPr>
          <a:xfrm>
            <a:off x="3246120" y="2377440"/>
            <a:ext cx="2377440" cy="914400"/>
          </a:xfrm>
          <a:prstGeom prst="roundRect">
            <a:avLst>
              <a:gd name="adj" fmla="val 6000"/>
            </a:avLst>
          </a:prstGeom>
          <a:solidFill>
            <a:srgbClr val="C9971F"/>
          </a:solidFill>
          <a:ln/>
        </p:spPr>
      </p:sp>
      <p:sp>
        <p:nvSpPr>
          <p:cNvPr id="13" name="Text 11"/>
          <p:cNvSpPr txBox="1"/>
          <p:nvPr/>
        </p:nvSpPr>
        <p:spPr>
          <a:xfrm>
            <a:off x="3246120" y="2377440"/>
            <a:ext cx="2377440" cy="914400"/>
          </a:xfrm>
          <a:prstGeom prst="rect">
            <a:avLst/>
          </a:prstGeom>
          <a:noFill/>
          <a:ln/>
        </p:spPr>
        <p:txBody>
          <a:bodyPr wrap="square" lIns="0" tIns="0" rIns="0" bIns="0" rtlCol="0" anchor="ctr"/>
          <a:lstStyle/>
          <a:p>
            <a:pPr algn="ctr" indent="0" marL="0">
              <a:lnSpc>
                <a:spcPts val="1400"/>
              </a:lnSpc>
              <a:buNone/>
            </a:pPr>
            <a:r>
              <a:rPr lang="en-US" sz="1200" b="1" dirty="0">
                <a:solidFill>
                  <a:srgbClr val="FFFFFF"/>
                </a:solidFill>
                <a:latin typeface="Calibri" pitchFamily="34" charset="0"/>
                <a:ea typeface="Calibri" pitchFamily="34" charset="-122"/>
                <a:cs typeface="Calibri" pitchFamily="34" charset="-120"/>
              </a:rPr>
              <a:t>FastAPI</a:t>
            </a:r>
            <a:endParaRPr lang="en-US" sz="1200" dirty="0"/>
          </a:p>
          <a:p>
            <a:pPr algn="ctr" indent="0" marL="0">
              <a:lnSpc>
                <a:spcPts val="1400"/>
              </a:lnSpc>
              <a:buNone/>
            </a:pPr>
            <a:r>
              <a:rPr lang="en-US" sz="1200" b="1" dirty="0">
                <a:solidFill>
                  <a:srgbClr val="FFFFFF"/>
                </a:solidFill>
                <a:latin typeface="Calibri" pitchFamily="34" charset="0"/>
                <a:ea typeface="Calibri" pitchFamily="34" charset="-122"/>
                <a:cs typeface="Calibri" pitchFamily="34" charset="-120"/>
              </a:rPr>
              <a:t>Backend</a:t>
            </a:r>
            <a:endParaRPr lang="en-US" sz="1200" dirty="0"/>
          </a:p>
        </p:txBody>
      </p:sp>
      <p:sp>
        <p:nvSpPr>
          <p:cNvPr id="14" name="Shape 12"/>
          <p:cNvSpPr/>
          <p:nvPr/>
        </p:nvSpPr>
        <p:spPr>
          <a:xfrm>
            <a:off x="8641080" y="2377440"/>
            <a:ext cx="2377440" cy="914400"/>
          </a:xfrm>
          <a:prstGeom prst="roundRect">
            <a:avLst>
              <a:gd name="adj" fmla="val 6000"/>
            </a:avLst>
          </a:prstGeom>
          <a:solidFill>
            <a:srgbClr val="13205C"/>
          </a:solidFill>
          <a:ln/>
        </p:spPr>
      </p:sp>
      <p:sp>
        <p:nvSpPr>
          <p:cNvPr id="15" name="Text 13"/>
          <p:cNvSpPr txBox="1"/>
          <p:nvPr/>
        </p:nvSpPr>
        <p:spPr>
          <a:xfrm>
            <a:off x="8641080" y="2377440"/>
            <a:ext cx="2377440" cy="914400"/>
          </a:xfrm>
          <a:prstGeom prst="rect">
            <a:avLst/>
          </a:prstGeom>
          <a:noFill/>
          <a:ln/>
        </p:spPr>
        <p:txBody>
          <a:bodyPr wrap="square" lIns="0" tIns="0" rIns="0" bIns="0" rtlCol="0" anchor="ctr"/>
          <a:lstStyle/>
          <a:p>
            <a:pPr algn="ctr" indent="0" marL="0">
              <a:lnSpc>
                <a:spcPts val="1400"/>
              </a:lnSpc>
              <a:buNone/>
            </a:pPr>
            <a:r>
              <a:rPr lang="en-US" sz="1200" b="1" dirty="0">
                <a:solidFill>
                  <a:srgbClr val="FFFFFF"/>
                </a:solidFill>
                <a:latin typeface="Calibri" pitchFamily="34" charset="0"/>
                <a:ea typeface="Calibri" pitchFamily="34" charset="-122"/>
                <a:cs typeface="Calibri" pitchFamily="34" charset="-120"/>
              </a:rPr>
              <a:t>Streamlit</a:t>
            </a:r>
            <a:endParaRPr lang="en-US" sz="1200" dirty="0"/>
          </a:p>
          <a:p>
            <a:pPr algn="ctr" indent="0" marL="0">
              <a:lnSpc>
                <a:spcPts val="1400"/>
              </a:lnSpc>
              <a:buNone/>
            </a:pPr>
            <a:r>
              <a:rPr lang="en-US" sz="1200" b="1" dirty="0">
                <a:solidFill>
                  <a:srgbClr val="FFFFFF"/>
                </a:solidFill>
                <a:latin typeface="Calibri" pitchFamily="34" charset="0"/>
                <a:ea typeface="Calibri" pitchFamily="34" charset="-122"/>
                <a:cs typeface="Calibri" pitchFamily="34" charset="-120"/>
              </a:rPr>
              <a:t>Dashboard</a:t>
            </a:r>
            <a:endParaRPr lang="en-US" sz="1200" dirty="0"/>
          </a:p>
        </p:txBody>
      </p:sp>
      <p:sp>
        <p:nvSpPr>
          <p:cNvPr id="16" name="Shape 14"/>
          <p:cNvSpPr/>
          <p:nvPr/>
        </p:nvSpPr>
        <p:spPr>
          <a:xfrm>
            <a:off x="3520440" y="3749040"/>
            <a:ext cx="1737360" cy="685800"/>
          </a:xfrm>
          <a:prstGeom prst="roundRect">
            <a:avLst>
              <a:gd name="adj" fmla="val 6667"/>
            </a:avLst>
          </a:prstGeom>
          <a:solidFill>
            <a:srgbClr val="F5F6FA"/>
          </a:solidFill>
          <a:ln w="12700">
            <a:solidFill>
              <a:srgbClr val="9AA3B8"/>
            </a:solidFill>
            <a:prstDash val="solid"/>
          </a:ln>
        </p:spPr>
      </p:sp>
      <p:sp>
        <p:nvSpPr>
          <p:cNvPr id="17" name="Text 15"/>
          <p:cNvSpPr txBox="1"/>
          <p:nvPr/>
        </p:nvSpPr>
        <p:spPr>
          <a:xfrm>
            <a:off x="3520440" y="3749040"/>
            <a:ext cx="1737360" cy="685800"/>
          </a:xfrm>
          <a:prstGeom prst="rect">
            <a:avLst/>
          </a:prstGeom>
          <a:noFill/>
          <a:ln/>
        </p:spPr>
        <p:txBody>
          <a:bodyPr wrap="square" lIns="0" tIns="0" rIns="0" bIns="0" rtlCol="0" anchor="ctr"/>
          <a:lstStyle/>
          <a:p>
            <a:pPr algn="ctr" indent="0" marL="0">
              <a:lnSpc>
                <a:spcPts val="1100"/>
              </a:lnSpc>
              <a:buNone/>
            </a:pPr>
            <a:r>
              <a:rPr lang="en-US" sz="950" b="1" dirty="0">
                <a:solidFill>
                  <a:srgbClr val="13205C"/>
                </a:solidFill>
                <a:latin typeface="Calibri" pitchFamily="34" charset="0"/>
                <a:ea typeface="Calibri" pitchFamily="34" charset="-122"/>
                <a:cs typeface="Calibri" pitchFamily="34" charset="-120"/>
              </a:rPr>
              <a:t>S1 Rule</a:t>
            </a:r>
            <a:endParaRPr lang="en-US" sz="950" dirty="0"/>
          </a:p>
          <a:p>
            <a:pPr algn="ctr" indent="0" marL="0">
              <a:lnSpc>
                <a:spcPts val="1100"/>
              </a:lnSpc>
              <a:buNone/>
            </a:pPr>
            <a:r>
              <a:rPr lang="en-US" sz="950" b="1" dirty="0">
                <a:solidFill>
                  <a:srgbClr val="13205C"/>
                </a:solidFill>
                <a:latin typeface="Calibri" pitchFamily="34" charset="0"/>
                <a:ea typeface="Calibri" pitchFamily="34" charset="-122"/>
                <a:cs typeface="Calibri" pitchFamily="34" charset="-120"/>
              </a:rPr>
              <a:t>Engine</a:t>
            </a:r>
            <a:endParaRPr lang="en-US" sz="950" dirty="0"/>
          </a:p>
        </p:txBody>
      </p:sp>
      <p:sp>
        <p:nvSpPr>
          <p:cNvPr id="18" name="Shape 16"/>
          <p:cNvSpPr/>
          <p:nvPr/>
        </p:nvSpPr>
        <p:spPr>
          <a:xfrm>
            <a:off x="5349240" y="3749040"/>
            <a:ext cx="1737360" cy="685800"/>
          </a:xfrm>
          <a:prstGeom prst="roundRect">
            <a:avLst>
              <a:gd name="adj" fmla="val 6667"/>
            </a:avLst>
          </a:prstGeom>
          <a:solidFill>
            <a:srgbClr val="F5F6FA"/>
          </a:solidFill>
          <a:ln w="12700">
            <a:solidFill>
              <a:srgbClr val="9AA3B8"/>
            </a:solidFill>
            <a:prstDash val="solid"/>
          </a:ln>
        </p:spPr>
      </p:sp>
      <p:sp>
        <p:nvSpPr>
          <p:cNvPr id="19" name="Text 17"/>
          <p:cNvSpPr txBox="1"/>
          <p:nvPr/>
        </p:nvSpPr>
        <p:spPr>
          <a:xfrm>
            <a:off x="5349240" y="3749040"/>
            <a:ext cx="1737360" cy="685800"/>
          </a:xfrm>
          <a:prstGeom prst="rect">
            <a:avLst/>
          </a:prstGeom>
          <a:noFill/>
          <a:ln/>
        </p:spPr>
        <p:txBody>
          <a:bodyPr wrap="square" lIns="0" tIns="0" rIns="0" bIns="0" rtlCol="0" anchor="ctr"/>
          <a:lstStyle/>
          <a:p>
            <a:pPr algn="ctr" indent="0" marL="0">
              <a:lnSpc>
                <a:spcPts val="1100"/>
              </a:lnSpc>
              <a:buNone/>
            </a:pPr>
            <a:r>
              <a:rPr lang="en-US" sz="950" b="1" dirty="0">
                <a:solidFill>
                  <a:srgbClr val="13205C"/>
                </a:solidFill>
                <a:latin typeface="Calibri" pitchFamily="34" charset="0"/>
                <a:ea typeface="Calibri" pitchFamily="34" charset="-122"/>
                <a:cs typeface="Calibri" pitchFamily="34" charset="-120"/>
              </a:rPr>
              <a:t>S2 TF-IDF</a:t>
            </a:r>
            <a:endParaRPr lang="en-US" sz="950" dirty="0"/>
          </a:p>
          <a:p>
            <a:pPr algn="ctr" indent="0" marL="0">
              <a:lnSpc>
                <a:spcPts val="1100"/>
              </a:lnSpc>
              <a:buNone/>
            </a:pPr>
            <a:r>
              <a:rPr lang="en-US" sz="950" b="1" dirty="0">
                <a:solidFill>
                  <a:srgbClr val="13205C"/>
                </a:solidFill>
                <a:latin typeface="Calibri" pitchFamily="34" charset="0"/>
                <a:ea typeface="Calibri" pitchFamily="34" charset="-122"/>
                <a:cs typeface="Calibri" pitchFamily="34" charset="-120"/>
              </a:rPr>
              <a:t>Index</a:t>
            </a:r>
            <a:endParaRPr lang="en-US" sz="950" dirty="0"/>
          </a:p>
        </p:txBody>
      </p:sp>
      <p:sp>
        <p:nvSpPr>
          <p:cNvPr id="20" name="Shape 18"/>
          <p:cNvSpPr/>
          <p:nvPr/>
        </p:nvSpPr>
        <p:spPr>
          <a:xfrm>
            <a:off x="7178040" y="3749040"/>
            <a:ext cx="1737360" cy="685800"/>
          </a:xfrm>
          <a:prstGeom prst="roundRect">
            <a:avLst>
              <a:gd name="adj" fmla="val 6667"/>
            </a:avLst>
          </a:prstGeom>
          <a:solidFill>
            <a:srgbClr val="F5F6FA"/>
          </a:solidFill>
          <a:ln w="12700">
            <a:solidFill>
              <a:srgbClr val="9AA3B8"/>
            </a:solidFill>
            <a:prstDash val="solid"/>
          </a:ln>
        </p:spPr>
      </p:sp>
      <p:sp>
        <p:nvSpPr>
          <p:cNvPr id="21" name="Text 19"/>
          <p:cNvSpPr txBox="1"/>
          <p:nvPr/>
        </p:nvSpPr>
        <p:spPr>
          <a:xfrm>
            <a:off x="7178040" y="3749040"/>
            <a:ext cx="1737360" cy="685800"/>
          </a:xfrm>
          <a:prstGeom prst="rect">
            <a:avLst/>
          </a:prstGeom>
          <a:noFill/>
          <a:ln/>
        </p:spPr>
        <p:txBody>
          <a:bodyPr wrap="square" lIns="0" tIns="0" rIns="0" bIns="0" rtlCol="0" anchor="ctr"/>
          <a:lstStyle/>
          <a:p>
            <a:pPr algn="ctr" indent="0" marL="0">
              <a:lnSpc>
                <a:spcPts val="1100"/>
              </a:lnSpc>
              <a:buNone/>
            </a:pPr>
            <a:r>
              <a:rPr lang="en-US" sz="950" b="1" dirty="0">
                <a:solidFill>
                  <a:srgbClr val="13205C"/>
                </a:solidFill>
                <a:latin typeface="Calibri" pitchFamily="34" charset="0"/>
                <a:ea typeface="Calibri" pitchFamily="34" charset="-122"/>
                <a:cs typeface="Calibri" pitchFamily="34" charset="-120"/>
              </a:rPr>
              <a:t>S3 RAG</a:t>
            </a:r>
            <a:endParaRPr lang="en-US" sz="950" dirty="0"/>
          </a:p>
          <a:p>
            <a:pPr algn="ctr" indent="0" marL="0">
              <a:lnSpc>
                <a:spcPts val="1100"/>
              </a:lnSpc>
              <a:buNone/>
            </a:pPr>
            <a:r>
              <a:rPr lang="en-US" sz="950" b="1" dirty="0">
                <a:solidFill>
                  <a:srgbClr val="13205C"/>
                </a:solidFill>
                <a:latin typeface="Calibri" pitchFamily="34" charset="0"/>
                <a:ea typeface="Calibri" pitchFamily="34" charset="-122"/>
                <a:cs typeface="Calibri" pitchFamily="34" charset="-120"/>
              </a:rPr>
              <a:t>Judge</a:t>
            </a:r>
            <a:endParaRPr lang="en-US" sz="950" dirty="0"/>
          </a:p>
        </p:txBody>
      </p:sp>
      <p:sp>
        <p:nvSpPr>
          <p:cNvPr id="22" name="Shape 20"/>
          <p:cNvSpPr/>
          <p:nvPr/>
        </p:nvSpPr>
        <p:spPr>
          <a:xfrm>
            <a:off x="4434840" y="3291840"/>
            <a:ext cx="0" cy="457200"/>
          </a:xfrm>
          <a:prstGeom prst="line">
            <a:avLst/>
          </a:prstGeom>
          <a:noFill/>
          <a:ln w="19050">
            <a:solidFill>
              <a:srgbClr val="9AA3B8"/>
            </a:solidFill>
            <a:prstDash val="solid"/>
          </a:ln>
        </p:spPr>
      </p:sp>
      <p:sp>
        <p:nvSpPr>
          <p:cNvPr id="23" name="Text 21"/>
          <p:cNvSpPr txBox="1"/>
          <p:nvPr/>
        </p:nvSpPr>
        <p:spPr>
          <a:xfrm>
            <a:off x="3246120" y="4709160"/>
            <a:ext cx="5760720" cy="365760"/>
          </a:xfrm>
          <a:prstGeom prst="rect">
            <a:avLst/>
          </a:prstGeom>
          <a:noFill/>
          <a:ln/>
        </p:spPr>
        <p:txBody>
          <a:bodyPr wrap="square" lIns="0" tIns="0" rIns="0" bIns="0" rtlCol="0" anchor="ctr"/>
          <a:lstStyle/>
          <a:p>
            <a:pPr algn="ctr" indent="0" marL="0">
              <a:buNone/>
            </a:pPr>
            <a:r>
              <a:rPr lang="en-US" sz="1000" i="1" dirty="0">
                <a:solidFill>
                  <a:srgbClr val="5B6472"/>
                </a:solidFill>
                <a:latin typeface="Calibri" pitchFamily="34" charset="0"/>
                <a:ea typeface="Calibri" pitchFamily="34" charset="-122"/>
                <a:cs typeface="Calibri" pitchFamily="34" charset="-120"/>
              </a:rPr>
              <a:t>SQLite (history.db) — feeds live dashboard metrics</a:t>
            </a:r>
            <a:endParaRPr lang="en-US" sz="1000" dirty="0"/>
          </a:p>
        </p:txBody>
      </p:sp>
      <p:sp>
        <p:nvSpPr>
          <p:cNvPr id="24" name="Text 22"/>
          <p:cNvSpPr txBox="1"/>
          <p:nvPr/>
        </p:nvSpPr>
        <p:spPr>
          <a:xfrm>
            <a:off x="548640" y="5257800"/>
            <a:ext cx="11064240" cy="914400"/>
          </a:xfrm>
          <a:prstGeom prst="rect">
            <a:avLst/>
          </a:prstGeom>
          <a:noFill/>
          <a:ln/>
        </p:spPr>
        <p:txBody>
          <a:bodyPr wrap="square" lIns="0" tIns="0" rIns="0" bIns="0" rtlCol="0" anchor="ctr"/>
          <a:lstStyle/>
          <a:p>
            <a:pPr indent="0" marL="0">
              <a:lnSpc>
                <a:spcPts val="1500"/>
              </a:lnSpc>
              <a:buNone/>
            </a:pPr>
            <a:r>
              <a:rPr lang="en-US" sz="1150" dirty="0">
                <a:solidFill>
                  <a:srgbClr val="5B6472"/>
                </a:solidFill>
                <a:latin typeface="Calibri" pitchFamily="34" charset="0"/>
                <a:ea typeface="Calibri" pitchFamily="34" charset="-122"/>
                <a:cs typeface="Calibri" pitchFamily="34" charset="-120"/>
              </a:rPr>
              <a:t>That logic maps onto four physical pieces. A Chrome extension is the engineer's front door and a Streamlit dashboard is the reporting side. Both talk to a single FastAPI backend, which fans each request out to the three engines — all grounded in the same version-controlled, six-source knowledge base. Every verdict is logged to SQLite, which feeds the dashboard's live metrics.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7315200" cy="274320"/>
          </a:xfrm>
          <a:prstGeom prst="rect">
            <a:avLst/>
          </a:prstGeom>
          <a:noFill/>
          <a:ln/>
        </p:spPr>
        <p:txBody>
          <a:bodyPr wrap="square" lIns="0" tIns="0" rIns="0" bIns="0" rtlCol="0" anchor="ctr"/>
          <a:lstStyle/>
          <a:p>
            <a:pPr indent="0" marL="0">
              <a:buNone/>
            </a:pPr>
            <a:r>
              <a:rPr lang="en-US" sz="1050" b="1" spc="200" kern="0" dirty="0">
                <a:solidFill>
                  <a:srgbClr val="2C5FB8"/>
                </a:solidFill>
                <a:latin typeface="Calibri" pitchFamily="34" charset="0"/>
                <a:ea typeface="Calibri" pitchFamily="34" charset="-122"/>
                <a:cs typeface="Calibri" pitchFamily="34" charset="-120"/>
              </a:rPr>
              <a:t>RESULTS &amp; DISCUSSION</a:t>
            </a:r>
            <a:endParaRPr lang="en-US" sz="1050" dirty="0"/>
          </a:p>
        </p:txBody>
      </p:sp>
      <p:sp>
        <p:nvSpPr>
          <p:cNvPr id="3" name="Text 1"/>
          <p:cNvSpPr txBox="1"/>
          <p:nvPr/>
        </p:nvSpPr>
        <p:spPr>
          <a:xfrm>
            <a:off x="457200" y="566928"/>
            <a:ext cx="9601200" cy="640080"/>
          </a:xfrm>
          <a:prstGeom prst="rect">
            <a:avLst/>
          </a:prstGeom>
          <a:noFill/>
          <a:ln/>
        </p:spPr>
        <p:txBody>
          <a:bodyPr wrap="square" lIns="0" tIns="0" rIns="0" bIns="0" rtlCol="0" anchor="ctr"/>
          <a:lstStyle/>
          <a:p>
            <a:pPr indent="0" marL="0">
              <a:buNone/>
            </a:pPr>
            <a:r>
              <a:rPr lang="en-US" sz="2600" b="1" dirty="0">
                <a:solidFill>
                  <a:srgbClr val="16255E"/>
                </a:solidFill>
                <a:latin typeface="Cambria" pitchFamily="34" charset="0"/>
                <a:ea typeface="Cambria" pitchFamily="34" charset="-122"/>
                <a:cs typeface="Cambria" pitchFamily="34" charset="-120"/>
              </a:rPr>
              <a:t>Headline Results — All 300 Cases</a:t>
            </a:r>
            <a:endParaRPr lang="en-US" sz="2600" dirty="0"/>
          </a:p>
        </p:txBody>
      </p:sp>
      <p:sp>
        <p:nvSpPr>
          <p:cNvPr id="4" name="Shape 2"/>
          <p:cNvSpPr/>
          <p:nvPr/>
        </p:nvSpPr>
        <p:spPr>
          <a:xfrm>
            <a:off x="11109960" y="256032"/>
            <a:ext cx="685800" cy="685800"/>
          </a:xfrm>
          <a:prstGeom prst="ellipse">
            <a:avLst/>
          </a:prstGeom>
          <a:solidFill>
            <a:srgbClr val="FFFFFF"/>
          </a:solidFill>
          <a:ln w="19050">
            <a:solidFill>
              <a:srgbClr val="13205C"/>
            </a:solidFill>
            <a:prstDash val="solid"/>
          </a:ln>
        </p:spPr>
      </p:sp>
      <p:sp>
        <p:nvSpPr>
          <p:cNvPr id="5" name="Text 3"/>
          <p:cNvSpPr txBox="1"/>
          <p:nvPr/>
        </p:nvSpPr>
        <p:spPr>
          <a:xfrm>
            <a:off x="11109960" y="256032"/>
            <a:ext cx="685800" cy="685800"/>
          </a:xfrm>
          <a:prstGeom prst="rect">
            <a:avLst/>
          </a:prstGeom>
          <a:noFill/>
          <a:ln/>
        </p:spPr>
        <p:txBody>
          <a:bodyPr wrap="square" lIns="0" tIns="0" rIns="0" bIns="0" rtlCol="0" anchor="ctr"/>
          <a:lstStyle/>
          <a:p>
            <a:pPr algn="ctr" indent="0" marL="0">
              <a:lnSpc>
                <a:spcPts val="800"/>
              </a:lnSpc>
              <a:buNone/>
            </a:pPr>
            <a:r>
              <a:rPr lang="en-US" sz="700" b="1" dirty="0">
                <a:solidFill>
                  <a:srgbClr val="13205C"/>
                </a:solidFill>
                <a:latin typeface="Calibri" pitchFamily="34" charset="0"/>
                <a:ea typeface="Calibri" pitchFamily="34" charset="-122"/>
                <a:cs typeface="Calibri" pitchFamily="34" charset="-120"/>
              </a:rPr>
              <a:t>AIB</a:t>
            </a:r>
            <a:endParaRPr lang="en-US" sz="700" dirty="0"/>
          </a:p>
          <a:p>
            <a:pPr algn="ctr" indent="0" marL="0">
              <a:lnSpc>
                <a:spcPts val="800"/>
              </a:lnSpc>
              <a:buNone/>
            </a:pPr>
            <a:r>
              <a:rPr lang="en-US" sz="700" b="1" dirty="0">
                <a:solidFill>
                  <a:srgbClr val="13205C"/>
                </a:solidFill>
                <a:latin typeface="Calibri" pitchFamily="34" charset="0"/>
                <a:ea typeface="Calibri" pitchFamily="34" charset="-122"/>
                <a:cs typeface="Calibri" pitchFamily="34" charset="-120"/>
              </a:rPr>
              <a:t>THINGS</a:t>
            </a:r>
            <a:endParaRPr lang="en-US" sz="700" dirty="0"/>
          </a:p>
        </p:txBody>
      </p:sp>
      <p:sp>
        <p:nvSpPr>
          <p:cNvPr id="6" name="Shape 4"/>
          <p:cNvSpPr/>
          <p:nvPr/>
        </p:nvSpPr>
        <p:spPr>
          <a:xfrm>
            <a:off x="0" y="6400800"/>
            <a:ext cx="12191695" cy="457200"/>
          </a:xfrm>
          <a:prstGeom prst="rect">
            <a:avLst/>
          </a:prstGeom>
          <a:solidFill>
            <a:srgbClr val="13205C"/>
          </a:solidFill>
          <a:ln/>
        </p:spPr>
      </p:sp>
      <p:sp>
        <p:nvSpPr>
          <p:cNvPr id="7" name="Text 5"/>
          <p:cNvSpPr txBox="1"/>
          <p:nvPr/>
        </p:nvSpPr>
        <p:spPr>
          <a:xfrm>
            <a:off x="457200" y="6400800"/>
            <a:ext cx="5486400"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AIBTHINGS 2026  •  PAPER #465</a:t>
            </a:r>
            <a:endParaRPr lang="en-US" sz="1000" dirty="0"/>
          </a:p>
        </p:txBody>
      </p:sp>
      <p:sp>
        <p:nvSpPr>
          <p:cNvPr id="8" name="Shape 6"/>
          <p:cNvSpPr/>
          <p:nvPr/>
        </p:nvSpPr>
        <p:spPr>
          <a:xfrm>
            <a:off x="11475720" y="6199632"/>
            <a:ext cx="566928" cy="566928"/>
          </a:xfrm>
          <a:prstGeom prst="ellipse">
            <a:avLst/>
          </a:prstGeom>
          <a:solidFill>
            <a:srgbClr val="FFFFFF"/>
          </a:solidFill>
          <a:ln w="19050">
            <a:solidFill>
              <a:srgbClr val="13205C"/>
            </a:solidFill>
            <a:prstDash val="solid"/>
          </a:ln>
        </p:spPr>
      </p:sp>
      <p:sp>
        <p:nvSpPr>
          <p:cNvPr id="9" name="Text 7"/>
          <p:cNvSpPr txBox="1"/>
          <p:nvPr/>
        </p:nvSpPr>
        <p:spPr>
          <a:xfrm>
            <a:off x="11475720" y="6199632"/>
            <a:ext cx="566928" cy="566928"/>
          </a:xfrm>
          <a:prstGeom prst="rect">
            <a:avLst/>
          </a:prstGeom>
          <a:noFill/>
          <a:ln/>
        </p:spPr>
        <p:txBody>
          <a:bodyPr wrap="square" lIns="0" tIns="0" rIns="0" bIns="0" rtlCol="0" anchor="ctr"/>
          <a:lstStyle/>
          <a:p>
            <a:pPr algn="ctr" indent="0" marL="0">
              <a:buNone/>
            </a:pPr>
            <a:r>
              <a:rPr lang="en-US" sz="1500" b="1" dirty="0">
                <a:solidFill>
                  <a:srgbClr val="13205C"/>
                </a:solidFill>
                <a:latin typeface="Cambria" pitchFamily="34" charset="0"/>
                <a:ea typeface="Cambria" pitchFamily="34" charset="-122"/>
                <a:cs typeface="Cambria" pitchFamily="34" charset="-120"/>
              </a:rPr>
              <a:t>7</a:t>
            </a:r>
            <a:endParaRPr lang="en-US" sz="1500" dirty="0"/>
          </a:p>
        </p:txBody>
      </p:sp>
      <p:sp>
        <p:nvSpPr>
          <p:cNvPr id="10" name="Shape 8"/>
          <p:cNvSpPr/>
          <p:nvPr/>
        </p:nvSpPr>
        <p:spPr>
          <a:xfrm>
            <a:off x="1188720" y="1737360"/>
            <a:ext cx="2286000" cy="109728"/>
          </a:xfrm>
          <a:prstGeom prst="rect">
            <a:avLst/>
          </a:prstGeom>
          <a:solidFill>
            <a:srgbClr val="13205C"/>
          </a:solidFill>
          <a:ln/>
        </p:spPr>
      </p:sp>
      <p:sp>
        <p:nvSpPr>
          <p:cNvPr id="11" name="Shape 9"/>
          <p:cNvSpPr/>
          <p:nvPr/>
        </p:nvSpPr>
        <p:spPr>
          <a:xfrm>
            <a:off x="1188720" y="1965960"/>
            <a:ext cx="2286000" cy="1051560"/>
          </a:xfrm>
          <a:prstGeom prst="roundRect">
            <a:avLst>
              <a:gd name="adj" fmla="val 6957"/>
            </a:avLst>
          </a:prstGeom>
          <a:solidFill>
            <a:srgbClr val="F5F6FA"/>
          </a:solidFill>
          <a:ln w="12700">
            <a:solidFill>
              <a:srgbClr val="E4E9F5"/>
            </a:solidFill>
            <a:prstDash val="solid"/>
          </a:ln>
        </p:spPr>
      </p:sp>
      <p:sp>
        <p:nvSpPr>
          <p:cNvPr id="12" name="Text 10"/>
          <p:cNvSpPr txBox="1"/>
          <p:nvPr/>
        </p:nvSpPr>
        <p:spPr>
          <a:xfrm>
            <a:off x="1188720" y="2039112"/>
            <a:ext cx="2286000" cy="578358"/>
          </a:xfrm>
          <a:prstGeom prst="rect">
            <a:avLst/>
          </a:prstGeom>
          <a:noFill/>
          <a:ln/>
        </p:spPr>
        <p:txBody>
          <a:bodyPr wrap="square" lIns="0" tIns="0" rIns="0" bIns="0" rtlCol="0" anchor="b"/>
          <a:lstStyle/>
          <a:p>
            <a:pPr algn="ctr" indent="0" marL="0">
              <a:buNone/>
            </a:pPr>
            <a:r>
              <a:rPr lang="en-US" sz="2400" b="1" dirty="0">
                <a:solidFill>
                  <a:srgbClr val="13205C"/>
                </a:solidFill>
                <a:latin typeface="Cambria" pitchFamily="34" charset="0"/>
                <a:ea typeface="Cambria" pitchFamily="34" charset="-122"/>
                <a:cs typeface="Cambria" pitchFamily="34" charset="-120"/>
              </a:rPr>
              <a:t>0.840</a:t>
            </a:r>
            <a:endParaRPr lang="en-US" sz="2400" dirty="0"/>
          </a:p>
        </p:txBody>
      </p:sp>
      <p:sp>
        <p:nvSpPr>
          <p:cNvPr id="13" name="Text 11"/>
          <p:cNvSpPr txBox="1"/>
          <p:nvPr/>
        </p:nvSpPr>
        <p:spPr>
          <a:xfrm>
            <a:off x="1188720" y="2596896"/>
            <a:ext cx="2286000" cy="368046"/>
          </a:xfrm>
          <a:prstGeom prst="rect">
            <a:avLst/>
          </a:prstGeom>
          <a:noFill/>
          <a:ln/>
        </p:spPr>
        <p:txBody>
          <a:bodyPr wrap="square" lIns="0" tIns="0" rIns="0" bIns="0" rtlCol="0" anchor="t"/>
          <a:lstStyle/>
          <a:p>
            <a:pPr algn="ctr" indent="0" marL="0">
              <a:buNone/>
            </a:pPr>
            <a:r>
              <a:rPr lang="en-US" sz="1050" dirty="0">
                <a:solidFill>
                  <a:srgbClr val="5B6472"/>
                </a:solidFill>
                <a:latin typeface="Calibri" pitchFamily="34" charset="0"/>
                <a:ea typeface="Calibri" pitchFamily="34" charset="-122"/>
                <a:cs typeface="Calibri" pitchFamily="34" charset="-120"/>
              </a:rPr>
              <a:t>Accuracy</a:t>
            </a:r>
            <a:endParaRPr lang="en-US" sz="1050" dirty="0"/>
          </a:p>
        </p:txBody>
      </p:sp>
      <p:sp>
        <p:nvSpPr>
          <p:cNvPr id="14" name="Shape 12"/>
          <p:cNvSpPr/>
          <p:nvPr/>
        </p:nvSpPr>
        <p:spPr>
          <a:xfrm>
            <a:off x="3794760" y="1737360"/>
            <a:ext cx="2286000" cy="109728"/>
          </a:xfrm>
          <a:prstGeom prst="rect">
            <a:avLst/>
          </a:prstGeom>
          <a:solidFill>
            <a:srgbClr val="13205C"/>
          </a:solidFill>
          <a:ln/>
        </p:spPr>
      </p:sp>
      <p:sp>
        <p:nvSpPr>
          <p:cNvPr id="15" name="Shape 13"/>
          <p:cNvSpPr/>
          <p:nvPr/>
        </p:nvSpPr>
        <p:spPr>
          <a:xfrm>
            <a:off x="3794760" y="1965960"/>
            <a:ext cx="2286000" cy="1051560"/>
          </a:xfrm>
          <a:prstGeom prst="roundRect">
            <a:avLst>
              <a:gd name="adj" fmla="val 6957"/>
            </a:avLst>
          </a:prstGeom>
          <a:solidFill>
            <a:srgbClr val="F5F6FA"/>
          </a:solidFill>
          <a:ln w="12700">
            <a:solidFill>
              <a:srgbClr val="E4E9F5"/>
            </a:solidFill>
            <a:prstDash val="solid"/>
          </a:ln>
        </p:spPr>
      </p:sp>
      <p:sp>
        <p:nvSpPr>
          <p:cNvPr id="16" name="Text 14"/>
          <p:cNvSpPr txBox="1"/>
          <p:nvPr/>
        </p:nvSpPr>
        <p:spPr>
          <a:xfrm>
            <a:off x="3794760" y="2039112"/>
            <a:ext cx="2286000" cy="578358"/>
          </a:xfrm>
          <a:prstGeom prst="rect">
            <a:avLst/>
          </a:prstGeom>
          <a:noFill/>
          <a:ln/>
        </p:spPr>
        <p:txBody>
          <a:bodyPr wrap="square" lIns="0" tIns="0" rIns="0" bIns="0" rtlCol="0" anchor="b"/>
          <a:lstStyle/>
          <a:p>
            <a:pPr algn="ctr" indent="0" marL="0">
              <a:buNone/>
            </a:pPr>
            <a:r>
              <a:rPr lang="en-US" sz="2400" b="1" dirty="0">
                <a:solidFill>
                  <a:srgbClr val="13205C"/>
                </a:solidFill>
                <a:latin typeface="Cambria" pitchFamily="34" charset="0"/>
                <a:ea typeface="Cambria" pitchFamily="34" charset="-122"/>
                <a:cs typeface="Cambria" pitchFamily="34" charset="-120"/>
              </a:rPr>
              <a:t>0.972</a:t>
            </a:r>
            <a:endParaRPr lang="en-US" sz="2400" dirty="0"/>
          </a:p>
        </p:txBody>
      </p:sp>
      <p:sp>
        <p:nvSpPr>
          <p:cNvPr id="17" name="Text 15"/>
          <p:cNvSpPr txBox="1"/>
          <p:nvPr/>
        </p:nvSpPr>
        <p:spPr>
          <a:xfrm>
            <a:off x="3794760" y="2596896"/>
            <a:ext cx="2286000" cy="368046"/>
          </a:xfrm>
          <a:prstGeom prst="rect">
            <a:avLst/>
          </a:prstGeom>
          <a:noFill/>
          <a:ln/>
        </p:spPr>
        <p:txBody>
          <a:bodyPr wrap="square" lIns="0" tIns="0" rIns="0" bIns="0" rtlCol="0" anchor="t"/>
          <a:lstStyle/>
          <a:p>
            <a:pPr algn="ctr" indent="0" marL="0">
              <a:buNone/>
            </a:pPr>
            <a:r>
              <a:rPr lang="en-US" sz="1050" dirty="0">
                <a:solidFill>
                  <a:srgbClr val="5B6472"/>
                </a:solidFill>
                <a:latin typeface="Calibri" pitchFamily="34" charset="0"/>
                <a:ea typeface="Calibri" pitchFamily="34" charset="-122"/>
                <a:cs typeface="Calibri" pitchFamily="34" charset="-120"/>
              </a:rPr>
              <a:t>Precision</a:t>
            </a:r>
            <a:endParaRPr lang="en-US" sz="1050" dirty="0"/>
          </a:p>
        </p:txBody>
      </p:sp>
      <p:sp>
        <p:nvSpPr>
          <p:cNvPr id="18" name="Shape 16"/>
          <p:cNvSpPr/>
          <p:nvPr/>
        </p:nvSpPr>
        <p:spPr>
          <a:xfrm>
            <a:off x="6400800" y="1737360"/>
            <a:ext cx="2286000" cy="109728"/>
          </a:xfrm>
          <a:prstGeom prst="rect">
            <a:avLst/>
          </a:prstGeom>
          <a:solidFill>
            <a:srgbClr val="13205C"/>
          </a:solidFill>
          <a:ln/>
        </p:spPr>
      </p:sp>
      <p:sp>
        <p:nvSpPr>
          <p:cNvPr id="19" name="Shape 17"/>
          <p:cNvSpPr/>
          <p:nvPr/>
        </p:nvSpPr>
        <p:spPr>
          <a:xfrm>
            <a:off x="6400800" y="1965960"/>
            <a:ext cx="2286000" cy="1051560"/>
          </a:xfrm>
          <a:prstGeom prst="roundRect">
            <a:avLst>
              <a:gd name="adj" fmla="val 6957"/>
            </a:avLst>
          </a:prstGeom>
          <a:solidFill>
            <a:srgbClr val="F5F6FA"/>
          </a:solidFill>
          <a:ln w="12700">
            <a:solidFill>
              <a:srgbClr val="E4E9F5"/>
            </a:solidFill>
            <a:prstDash val="solid"/>
          </a:ln>
        </p:spPr>
      </p:sp>
      <p:sp>
        <p:nvSpPr>
          <p:cNvPr id="20" name="Text 18"/>
          <p:cNvSpPr txBox="1"/>
          <p:nvPr/>
        </p:nvSpPr>
        <p:spPr>
          <a:xfrm>
            <a:off x="6400800" y="2039112"/>
            <a:ext cx="2286000" cy="578358"/>
          </a:xfrm>
          <a:prstGeom prst="rect">
            <a:avLst/>
          </a:prstGeom>
          <a:noFill/>
          <a:ln/>
        </p:spPr>
        <p:txBody>
          <a:bodyPr wrap="square" lIns="0" tIns="0" rIns="0" bIns="0" rtlCol="0" anchor="b"/>
          <a:lstStyle/>
          <a:p>
            <a:pPr algn="ctr" indent="0" marL="0">
              <a:buNone/>
            </a:pPr>
            <a:r>
              <a:rPr lang="en-US" sz="2400" b="1" dirty="0">
                <a:solidFill>
                  <a:srgbClr val="13205C"/>
                </a:solidFill>
                <a:latin typeface="Cambria" pitchFamily="34" charset="0"/>
                <a:ea typeface="Cambria" pitchFamily="34" charset="-122"/>
                <a:cs typeface="Cambria" pitchFamily="34" charset="-120"/>
              </a:rPr>
              <a:t>0.761</a:t>
            </a:r>
            <a:endParaRPr lang="en-US" sz="2400" dirty="0"/>
          </a:p>
        </p:txBody>
      </p:sp>
      <p:sp>
        <p:nvSpPr>
          <p:cNvPr id="21" name="Text 19"/>
          <p:cNvSpPr txBox="1"/>
          <p:nvPr/>
        </p:nvSpPr>
        <p:spPr>
          <a:xfrm>
            <a:off x="6400800" y="2596896"/>
            <a:ext cx="2286000" cy="368046"/>
          </a:xfrm>
          <a:prstGeom prst="rect">
            <a:avLst/>
          </a:prstGeom>
          <a:noFill/>
          <a:ln/>
        </p:spPr>
        <p:txBody>
          <a:bodyPr wrap="square" lIns="0" tIns="0" rIns="0" bIns="0" rtlCol="0" anchor="t"/>
          <a:lstStyle/>
          <a:p>
            <a:pPr algn="ctr" indent="0" marL="0">
              <a:buNone/>
            </a:pPr>
            <a:r>
              <a:rPr lang="en-US" sz="1050" dirty="0">
                <a:solidFill>
                  <a:srgbClr val="5B6472"/>
                </a:solidFill>
                <a:latin typeface="Calibri" pitchFamily="34" charset="0"/>
                <a:ea typeface="Calibri" pitchFamily="34" charset="-122"/>
                <a:cs typeface="Calibri" pitchFamily="34" charset="-120"/>
              </a:rPr>
              <a:t>Recall</a:t>
            </a:r>
            <a:endParaRPr lang="en-US" sz="1050" dirty="0"/>
          </a:p>
        </p:txBody>
      </p:sp>
      <p:sp>
        <p:nvSpPr>
          <p:cNvPr id="22" name="Shape 20"/>
          <p:cNvSpPr/>
          <p:nvPr/>
        </p:nvSpPr>
        <p:spPr>
          <a:xfrm>
            <a:off x="9006840" y="1737360"/>
            <a:ext cx="2286000" cy="109728"/>
          </a:xfrm>
          <a:prstGeom prst="rect">
            <a:avLst/>
          </a:prstGeom>
          <a:solidFill>
            <a:srgbClr val="13205C"/>
          </a:solidFill>
          <a:ln/>
        </p:spPr>
      </p:sp>
      <p:sp>
        <p:nvSpPr>
          <p:cNvPr id="23" name="Shape 21"/>
          <p:cNvSpPr/>
          <p:nvPr/>
        </p:nvSpPr>
        <p:spPr>
          <a:xfrm>
            <a:off x="9006840" y="1965960"/>
            <a:ext cx="2286000" cy="1051560"/>
          </a:xfrm>
          <a:prstGeom prst="roundRect">
            <a:avLst>
              <a:gd name="adj" fmla="val 6957"/>
            </a:avLst>
          </a:prstGeom>
          <a:solidFill>
            <a:srgbClr val="F5F6FA"/>
          </a:solidFill>
          <a:ln w="12700">
            <a:solidFill>
              <a:srgbClr val="E4E9F5"/>
            </a:solidFill>
            <a:prstDash val="solid"/>
          </a:ln>
        </p:spPr>
      </p:sp>
      <p:sp>
        <p:nvSpPr>
          <p:cNvPr id="24" name="Text 22"/>
          <p:cNvSpPr txBox="1"/>
          <p:nvPr/>
        </p:nvSpPr>
        <p:spPr>
          <a:xfrm>
            <a:off x="9006840" y="2039112"/>
            <a:ext cx="2286000" cy="578358"/>
          </a:xfrm>
          <a:prstGeom prst="rect">
            <a:avLst/>
          </a:prstGeom>
          <a:noFill/>
          <a:ln/>
        </p:spPr>
        <p:txBody>
          <a:bodyPr wrap="square" lIns="0" tIns="0" rIns="0" bIns="0" rtlCol="0" anchor="b"/>
          <a:lstStyle/>
          <a:p>
            <a:pPr algn="ctr" indent="0" marL="0">
              <a:buNone/>
            </a:pPr>
            <a:r>
              <a:rPr lang="en-US" sz="2400" b="1" dirty="0">
                <a:solidFill>
                  <a:srgbClr val="13205C"/>
                </a:solidFill>
                <a:latin typeface="Cambria" pitchFamily="34" charset="0"/>
                <a:ea typeface="Cambria" pitchFamily="34" charset="-122"/>
                <a:cs typeface="Cambria" pitchFamily="34" charset="-120"/>
              </a:rPr>
              <a:t>0.854</a:t>
            </a:r>
            <a:endParaRPr lang="en-US" sz="2400" dirty="0"/>
          </a:p>
        </p:txBody>
      </p:sp>
      <p:sp>
        <p:nvSpPr>
          <p:cNvPr id="25" name="Text 23"/>
          <p:cNvSpPr txBox="1"/>
          <p:nvPr/>
        </p:nvSpPr>
        <p:spPr>
          <a:xfrm>
            <a:off x="9006840" y="2596896"/>
            <a:ext cx="2286000" cy="368046"/>
          </a:xfrm>
          <a:prstGeom prst="rect">
            <a:avLst/>
          </a:prstGeom>
          <a:noFill/>
          <a:ln/>
        </p:spPr>
        <p:txBody>
          <a:bodyPr wrap="square" lIns="0" tIns="0" rIns="0" bIns="0" rtlCol="0" anchor="t"/>
          <a:lstStyle/>
          <a:p>
            <a:pPr algn="ctr" indent="0" marL="0">
              <a:buNone/>
            </a:pPr>
            <a:r>
              <a:rPr lang="en-US" sz="1050" dirty="0">
                <a:solidFill>
                  <a:srgbClr val="5B6472"/>
                </a:solidFill>
                <a:latin typeface="Calibri" pitchFamily="34" charset="0"/>
                <a:ea typeface="Calibri" pitchFamily="34" charset="-122"/>
                <a:cs typeface="Calibri" pitchFamily="34" charset="-120"/>
              </a:rPr>
              <a:t>F1 Score</a:t>
            </a:r>
            <a:endParaRPr lang="en-US" sz="1050" dirty="0"/>
          </a:p>
        </p:txBody>
      </p:sp>
      <p:sp>
        <p:nvSpPr>
          <p:cNvPr id="26" name="Text 24"/>
          <p:cNvSpPr txBox="1"/>
          <p:nvPr/>
        </p:nvSpPr>
        <p:spPr>
          <a:xfrm>
            <a:off x="640080" y="3931920"/>
            <a:ext cx="10881360" cy="548640"/>
          </a:xfrm>
          <a:prstGeom prst="rect">
            <a:avLst/>
          </a:prstGeom>
          <a:noFill/>
          <a:ln/>
        </p:spPr>
        <p:txBody>
          <a:bodyPr wrap="square" lIns="0" tIns="0" rIns="0" bIns="0" rtlCol="0" anchor="ctr"/>
          <a:lstStyle/>
          <a:p>
            <a:pPr indent="0" marL="0">
              <a:lnSpc>
                <a:spcPts val="1700"/>
              </a:lnSpc>
              <a:buNone/>
            </a:pPr>
            <a:r>
              <a:rPr lang="en-US" sz="1300" dirty="0">
                <a:solidFill>
                  <a:srgbClr val="5B6472"/>
                </a:solidFill>
                <a:latin typeface="Calibri" pitchFamily="34" charset="0"/>
                <a:ea typeface="Calibri" pitchFamily="34" charset="-122"/>
                <a:cs typeface="Calibri" pitchFamily="34" charset="-120"/>
              </a:rPr>
              <a:t>At our calibrated 40% alert threshold, across all 300 cases: 0.840 accuracy, 0.972 precision, 0.761 recall, and an F1 score of 0.854.</a:t>
            </a:r>
            <a:endParaRPr lang="en-US" sz="1300" dirty="0"/>
          </a:p>
        </p:txBody>
      </p:sp>
      <p:sp>
        <p:nvSpPr>
          <p:cNvPr id="27" name="Text 25"/>
          <p:cNvSpPr txBox="1"/>
          <p:nvPr/>
        </p:nvSpPr>
        <p:spPr>
          <a:xfrm>
            <a:off x="640080" y="4526280"/>
            <a:ext cx="10881360" cy="457200"/>
          </a:xfrm>
          <a:prstGeom prst="rect">
            <a:avLst/>
          </a:prstGeom>
          <a:noFill/>
          <a:ln/>
        </p:spPr>
        <p:txBody>
          <a:bodyPr wrap="square" lIns="0" tIns="0" rIns="0" bIns="0" rtlCol="0" anchor="ctr"/>
          <a:lstStyle/>
          <a:p>
            <a:pPr indent="0" marL="0">
              <a:buNone/>
            </a:pPr>
            <a:r>
              <a:rPr lang="en-US" sz="1300" b="1" dirty="0">
                <a:solidFill>
                  <a:srgbClr val="13205C"/>
                </a:solidFill>
                <a:latin typeface="Calibri" pitchFamily="34" charset="0"/>
                <a:ea typeface="Calibri" pitchFamily="34" charset="-122"/>
                <a:cs typeface="Calibri" pitchFamily="34" charset="-120"/>
              </a:rPr>
              <a:t>140 of 184</a:t>
            </a:r>
            <a:pPr indent="0" marL="0">
              <a:buNone/>
            </a:pPr>
            <a:r>
              <a:rPr lang="en-US" sz="1300" dirty="0">
                <a:solidFill>
                  <a:srgbClr val="5B6472"/>
                </a:solidFill>
                <a:latin typeface="Calibri" pitchFamily="34" charset="0"/>
                <a:ea typeface="Calibri" pitchFamily="34" charset="-122"/>
                <a:cs typeface="Calibri" pitchFamily="34" charset="-120"/>
              </a:rPr>
              <a:t> hallucinations caught, with only </a:t>
            </a:r>
            <a:pPr indent="0" marL="0">
              <a:buNone/>
            </a:pPr>
            <a:r>
              <a:rPr lang="en-US" sz="1300" b="1" dirty="0">
                <a:solidFill>
                  <a:srgbClr val="13205C"/>
                </a:solidFill>
                <a:latin typeface="Calibri" pitchFamily="34" charset="0"/>
                <a:ea typeface="Calibri" pitchFamily="34" charset="-122"/>
                <a:cs typeface="Calibri" pitchFamily="34" charset="-120"/>
              </a:rPr>
              <a:t>4 false alarms</a:t>
            </a:r>
            <a:pPr indent="0" marL="0">
              <a:buNone/>
            </a:pPr>
            <a:r>
              <a:rPr lang="en-US" sz="1300" dirty="0">
                <a:solidFill>
                  <a:srgbClr val="5B6472"/>
                </a:solidFill>
                <a:latin typeface="Calibri" pitchFamily="34" charset="0"/>
                <a:ea typeface="Calibri" pitchFamily="34" charset="-122"/>
                <a:cs typeface="Calibri" pitchFamily="34" charset="-120"/>
              </a:rPr>
              <a:t> out of 116 correct statements.</a:t>
            </a:r>
            <a:endParaRPr lang="en-US" sz="1300" dirty="0"/>
          </a:p>
        </p:txBody>
      </p:sp>
      <p:sp>
        <p:nvSpPr>
          <p:cNvPr id="28" name="Text 26"/>
          <p:cNvSpPr txBox="1"/>
          <p:nvPr/>
        </p:nvSpPr>
        <p:spPr>
          <a:xfrm>
            <a:off x="640080" y="4983480"/>
            <a:ext cx="10881360" cy="45720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Average response time: </a:t>
            </a:r>
            <a:pPr indent="0" marL="0">
              <a:buNone/>
            </a:pPr>
            <a:r>
              <a:rPr lang="en-US" sz="1300" b="1" dirty="0">
                <a:solidFill>
                  <a:srgbClr val="13205C"/>
                </a:solidFill>
                <a:latin typeface="Calibri" pitchFamily="34" charset="0"/>
                <a:ea typeface="Calibri" pitchFamily="34" charset="-122"/>
                <a:cs typeface="Calibri" pitchFamily="34" charset="-120"/>
              </a:rPr>
              <a:t>1.26 seconds</a:t>
            </a:r>
            <a:pPr indent="0" marL="0">
              <a:buNone/>
            </a:pPr>
            <a:r>
              <a:rPr lang="en-US" sz="1300" dirty="0">
                <a:solidFill>
                  <a:srgbClr val="5B6472"/>
                </a:solidFill>
                <a:latin typeface="Calibri" pitchFamily="34" charset="0"/>
                <a:ea typeface="Calibri" pitchFamily="34" charset="-122"/>
                <a:cs typeface="Calibri" pitchFamily="34" charset="-120"/>
              </a:rPr>
              <a:t> — comfortably within our 2-second real-time target.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7315200" cy="274320"/>
          </a:xfrm>
          <a:prstGeom prst="rect">
            <a:avLst/>
          </a:prstGeom>
          <a:noFill/>
          <a:ln/>
        </p:spPr>
        <p:txBody>
          <a:bodyPr wrap="square" lIns="0" tIns="0" rIns="0" bIns="0" rtlCol="0" anchor="ctr"/>
          <a:lstStyle/>
          <a:p>
            <a:pPr indent="0" marL="0">
              <a:buNone/>
            </a:pPr>
            <a:r>
              <a:rPr lang="en-US" sz="1050" b="1" spc="200" kern="0" dirty="0">
                <a:solidFill>
                  <a:srgbClr val="2C5FB8"/>
                </a:solidFill>
                <a:latin typeface="Calibri" pitchFamily="34" charset="0"/>
                <a:ea typeface="Calibri" pitchFamily="34" charset="-122"/>
                <a:cs typeface="Calibri" pitchFamily="34" charset="-120"/>
              </a:rPr>
              <a:t>RESULTS &amp; DISCUSSION</a:t>
            </a:r>
            <a:endParaRPr lang="en-US" sz="1050" dirty="0"/>
          </a:p>
        </p:txBody>
      </p:sp>
      <p:sp>
        <p:nvSpPr>
          <p:cNvPr id="3" name="Text 1"/>
          <p:cNvSpPr txBox="1"/>
          <p:nvPr/>
        </p:nvSpPr>
        <p:spPr>
          <a:xfrm>
            <a:off x="457200" y="566928"/>
            <a:ext cx="9601200" cy="640080"/>
          </a:xfrm>
          <a:prstGeom prst="rect">
            <a:avLst/>
          </a:prstGeom>
          <a:noFill/>
          <a:ln/>
        </p:spPr>
        <p:txBody>
          <a:bodyPr wrap="square" lIns="0" tIns="0" rIns="0" bIns="0" rtlCol="0" anchor="ctr"/>
          <a:lstStyle/>
          <a:p>
            <a:pPr indent="0" marL="0">
              <a:buNone/>
            </a:pPr>
            <a:r>
              <a:rPr lang="en-US" sz="2600" b="1" dirty="0">
                <a:solidFill>
                  <a:srgbClr val="16255E"/>
                </a:solidFill>
                <a:latin typeface="Cambria" pitchFamily="34" charset="0"/>
                <a:ea typeface="Cambria" pitchFamily="34" charset="-122"/>
                <a:cs typeface="Cambria" pitchFamily="34" charset="-120"/>
              </a:rPr>
              <a:t>Consistent Across Subdomains</a:t>
            </a:r>
            <a:endParaRPr lang="en-US" sz="2600" dirty="0"/>
          </a:p>
        </p:txBody>
      </p:sp>
      <p:sp>
        <p:nvSpPr>
          <p:cNvPr id="4" name="Shape 2"/>
          <p:cNvSpPr/>
          <p:nvPr/>
        </p:nvSpPr>
        <p:spPr>
          <a:xfrm>
            <a:off x="11109960" y="256032"/>
            <a:ext cx="685800" cy="685800"/>
          </a:xfrm>
          <a:prstGeom prst="ellipse">
            <a:avLst/>
          </a:prstGeom>
          <a:solidFill>
            <a:srgbClr val="FFFFFF"/>
          </a:solidFill>
          <a:ln w="19050">
            <a:solidFill>
              <a:srgbClr val="13205C"/>
            </a:solidFill>
            <a:prstDash val="solid"/>
          </a:ln>
        </p:spPr>
      </p:sp>
      <p:sp>
        <p:nvSpPr>
          <p:cNvPr id="5" name="Text 3"/>
          <p:cNvSpPr txBox="1"/>
          <p:nvPr/>
        </p:nvSpPr>
        <p:spPr>
          <a:xfrm>
            <a:off x="11109960" y="256032"/>
            <a:ext cx="685800" cy="685800"/>
          </a:xfrm>
          <a:prstGeom prst="rect">
            <a:avLst/>
          </a:prstGeom>
          <a:noFill/>
          <a:ln/>
        </p:spPr>
        <p:txBody>
          <a:bodyPr wrap="square" lIns="0" tIns="0" rIns="0" bIns="0" rtlCol="0" anchor="ctr"/>
          <a:lstStyle/>
          <a:p>
            <a:pPr algn="ctr" indent="0" marL="0">
              <a:lnSpc>
                <a:spcPts val="800"/>
              </a:lnSpc>
              <a:buNone/>
            </a:pPr>
            <a:r>
              <a:rPr lang="en-US" sz="700" b="1" dirty="0">
                <a:solidFill>
                  <a:srgbClr val="13205C"/>
                </a:solidFill>
                <a:latin typeface="Calibri" pitchFamily="34" charset="0"/>
                <a:ea typeface="Calibri" pitchFamily="34" charset="-122"/>
                <a:cs typeface="Calibri" pitchFamily="34" charset="-120"/>
              </a:rPr>
              <a:t>AIB</a:t>
            </a:r>
            <a:endParaRPr lang="en-US" sz="700" dirty="0"/>
          </a:p>
          <a:p>
            <a:pPr algn="ctr" indent="0" marL="0">
              <a:lnSpc>
                <a:spcPts val="800"/>
              </a:lnSpc>
              <a:buNone/>
            </a:pPr>
            <a:r>
              <a:rPr lang="en-US" sz="700" b="1" dirty="0">
                <a:solidFill>
                  <a:srgbClr val="13205C"/>
                </a:solidFill>
                <a:latin typeface="Calibri" pitchFamily="34" charset="0"/>
                <a:ea typeface="Calibri" pitchFamily="34" charset="-122"/>
                <a:cs typeface="Calibri" pitchFamily="34" charset="-120"/>
              </a:rPr>
              <a:t>THINGS</a:t>
            </a:r>
            <a:endParaRPr lang="en-US" sz="700" dirty="0"/>
          </a:p>
        </p:txBody>
      </p:sp>
      <p:sp>
        <p:nvSpPr>
          <p:cNvPr id="6" name="Shape 4"/>
          <p:cNvSpPr/>
          <p:nvPr/>
        </p:nvSpPr>
        <p:spPr>
          <a:xfrm>
            <a:off x="0" y="6400800"/>
            <a:ext cx="12191695" cy="457200"/>
          </a:xfrm>
          <a:prstGeom prst="rect">
            <a:avLst/>
          </a:prstGeom>
          <a:solidFill>
            <a:srgbClr val="13205C"/>
          </a:solidFill>
          <a:ln/>
        </p:spPr>
      </p:sp>
      <p:sp>
        <p:nvSpPr>
          <p:cNvPr id="7" name="Text 5"/>
          <p:cNvSpPr txBox="1"/>
          <p:nvPr/>
        </p:nvSpPr>
        <p:spPr>
          <a:xfrm>
            <a:off x="457200" y="6400800"/>
            <a:ext cx="5486400"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AIBTHINGS 2026  •  PAPER #465</a:t>
            </a:r>
            <a:endParaRPr lang="en-US" sz="1000" dirty="0"/>
          </a:p>
        </p:txBody>
      </p:sp>
      <p:sp>
        <p:nvSpPr>
          <p:cNvPr id="8" name="Shape 6"/>
          <p:cNvSpPr/>
          <p:nvPr/>
        </p:nvSpPr>
        <p:spPr>
          <a:xfrm>
            <a:off x="11475720" y="6199632"/>
            <a:ext cx="566928" cy="566928"/>
          </a:xfrm>
          <a:prstGeom prst="ellipse">
            <a:avLst/>
          </a:prstGeom>
          <a:solidFill>
            <a:srgbClr val="FFFFFF"/>
          </a:solidFill>
          <a:ln w="19050">
            <a:solidFill>
              <a:srgbClr val="13205C"/>
            </a:solidFill>
            <a:prstDash val="solid"/>
          </a:ln>
        </p:spPr>
      </p:sp>
      <p:sp>
        <p:nvSpPr>
          <p:cNvPr id="9" name="Text 7"/>
          <p:cNvSpPr txBox="1"/>
          <p:nvPr/>
        </p:nvSpPr>
        <p:spPr>
          <a:xfrm>
            <a:off x="11475720" y="6199632"/>
            <a:ext cx="566928" cy="566928"/>
          </a:xfrm>
          <a:prstGeom prst="rect">
            <a:avLst/>
          </a:prstGeom>
          <a:noFill/>
          <a:ln/>
        </p:spPr>
        <p:txBody>
          <a:bodyPr wrap="square" lIns="0" tIns="0" rIns="0" bIns="0" rtlCol="0" anchor="ctr"/>
          <a:lstStyle/>
          <a:p>
            <a:pPr algn="ctr" indent="0" marL="0">
              <a:buNone/>
            </a:pPr>
            <a:r>
              <a:rPr lang="en-US" sz="1500" b="1" dirty="0">
                <a:solidFill>
                  <a:srgbClr val="13205C"/>
                </a:solidFill>
                <a:latin typeface="Cambria" pitchFamily="34" charset="0"/>
                <a:ea typeface="Cambria" pitchFamily="34" charset="-122"/>
                <a:cs typeface="Cambria" pitchFamily="34" charset="-120"/>
              </a:rPr>
              <a:t>8</a:t>
            </a:r>
            <a:endParaRPr lang="en-US" sz="1500" dirty="0"/>
          </a:p>
        </p:txBody>
      </p:sp>
      <p:sp>
        <p:nvSpPr>
          <p:cNvPr id="10" name="Text 8"/>
          <p:cNvSpPr txBox="1"/>
          <p:nvPr/>
        </p:nvSpPr>
        <p:spPr>
          <a:xfrm>
            <a:off x="548640" y="1508760"/>
            <a:ext cx="5943600" cy="320040"/>
          </a:xfrm>
          <a:prstGeom prst="rect">
            <a:avLst/>
          </a:prstGeom>
          <a:noFill/>
          <a:ln/>
        </p:spPr>
        <p:txBody>
          <a:bodyPr wrap="square" lIns="0" tIns="0" rIns="0" bIns="0" rtlCol="0" anchor="ctr"/>
          <a:lstStyle/>
          <a:p>
            <a:pPr indent="0" marL="0">
              <a:buNone/>
            </a:pPr>
            <a:r>
              <a:rPr lang="en-US" sz="1200" b="1" dirty="0">
                <a:solidFill>
                  <a:srgbClr val="13205C"/>
                </a:solidFill>
                <a:latin typeface="Calibri" pitchFamily="34" charset="0"/>
                <a:ea typeface="Calibri" pitchFamily="34" charset="-122"/>
                <a:cs typeface="Calibri" pitchFamily="34" charset="-120"/>
              </a:rPr>
              <a:t>Accuracy by Subdomain</a:t>
            </a:r>
            <a:endParaRPr lang="en-US" sz="1200" dirty="0"/>
          </a:p>
        </p:txBody>
      </p:sp>
      <p:sp>
        <p:nvSpPr>
          <p:cNvPr id="11" name="Text 9"/>
          <p:cNvSpPr txBox="1"/>
          <p:nvPr/>
        </p:nvSpPr>
        <p:spPr>
          <a:xfrm>
            <a:off x="548640" y="1965960"/>
            <a:ext cx="1554480" cy="365760"/>
          </a:xfrm>
          <a:prstGeom prst="rect">
            <a:avLst/>
          </a:prstGeom>
          <a:noFill/>
          <a:ln/>
        </p:spPr>
        <p:txBody>
          <a:bodyPr wrap="square" lIns="0" tIns="0" rIns="0" bIns="0" rtlCol="0" anchor="ctr"/>
          <a:lstStyle/>
          <a:p>
            <a:pPr indent="0" marL="0">
              <a:buNone/>
            </a:pPr>
            <a:r>
              <a:rPr lang="en-US" sz="1050" dirty="0">
                <a:solidFill>
                  <a:srgbClr val="5B6472"/>
                </a:solidFill>
                <a:latin typeface="Calibri" pitchFamily="34" charset="0"/>
                <a:ea typeface="Calibri" pitchFamily="34" charset="-122"/>
                <a:cs typeface="Calibri" pitchFamily="34" charset="-120"/>
              </a:rPr>
              <a:t>Mechanical</a:t>
            </a:r>
            <a:endParaRPr lang="en-US" sz="1050" dirty="0"/>
          </a:p>
        </p:txBody>
      </p:sp>
      <p:sp>
        <p:nvSpPr>
          <p:cNvPr id="12" name="Shape 10"/>
          <p:cNvSpPr/>
          <p:nvPr/>
        </p:nvSpPr>
        <p:spPr>
          <a:xfrm>
            <a:off x="2194560" y="2039112"/>
            <a:ext cx="3379622" cy="256032"/>
          </a:xfrm>
          <a:prstGeom prst="rect">
            <a:avLst/>
          </a:prstGeom>
          <a:solidFill>
            <a:srgbClr val="13205C"/>
          </a:solidFill>
          <a:ln/>
        </p:spPr>
      </p:sp>
      <p:sp>
        <p:nvSpPr>
          <p:cNvPr id="13" name="Text 11"/>
          <p:cNvSpPr txBox="1"/>
          <p:nvPr/>
        </p:nvSpPr>
        <p:spPr>
          <a:xfrm>
            <a:off x="5665622" y="1965960"/>
            <a:ext cx="640080" cy="365760"/>
          </a:xfrm>
          <a:prstGeom prst="rect">
            <a:avLst/>
          </a:prstGeom>
          <a:noFill/>
          <a:ln/>
        </p:spPr>
        <p:txBody>
          <a:bodyPr wrap="square" lIns="0" tIns="0" rIns="0" bIns="0" rtlCol="0" anchor="ctr"/>
          <a:lstStyle/>
          <a:p>
            <a:pPr indent="0" marL="0">
              <a:buNone/>
            </a:pPr>
            <a:r>
              <a:rPr lang="en-US" sz="1050" b="1" dirty="0">
                <a:solidFill>
                  <a:srgbClr val="13205C"/>
                </a:solidFill>
                <a:latin typeface="Calibri" pitchFamily="34" charset="0"/>
                <a:ea typeface="Calibri" pitchFamily="34" charset="-122"/>
                <a:cs typeface="Calibri" pitchFamily="34" charset="-120"/>
              </a:rPr>
              <a:t>0.880</a:t>
            </a:r>
            <a:endParaRPr lang="en-US" sz="1050" dirty="0"/>
          </a:p>
        </p:txBody>
      </p:sp>
      <p:sp>
        <p:nvSpPr>
          <p:cNvPr id="14" name="Text 12"/>
          <p:cNvSpPr txBox="1"/>
          <p:nvPr/>
        </p:nvSpPr>
        <p:spPr>
          <a:xfrm>
            <a:off x="548640" y="2532888"/>
            <a:ext cx="1554480" cy="365760"/>
          </a:xfrm>
          <a:prstGeom prst="rect">
            <a:avLst/>
          </a:prstGeom>
          <a:noFill/>
          <a:ln/>
        </p:spPr>
        <p:txBody>
          <a:bodyPr wrap="square" lIns="0" tIns="0" rIns="0" bIns="0" rtlCol="0" anchor="ctr"/>
          <a:lstStyle/>
          <a:p>
            <a:pPr indent="0" marL="0">
              <a:buNone/>
            </a:pPr>
            <a:r>
              <a:rPr lang="en-US" sz="1050" dirty="0">
                <a:solidFill>
                  <a:srgbClr val="5B6472"/>
                </a:solidFill>
                <a:latin typeface="Calibri" pitchFamily="34" charset="0"/>
                <a:ea typeface="Calibri" pitchFamily="34" charset="-122"/>
                <a:cs typeface="Calibri" pitchFamily="34" charset="-120"/>
              </a:rPr>
              <a:t>Safety</a:t>
            </a:r>
            <a:endParaRPr lang="en-US" sz="1050" dirty="0"/>
          </a:p>
        </p:txBody>
      </p:sp>
      <p:sp>
        <p:nvSpPr>
          <p:cNvPr id="15" name="Shape 13"/>
          <p:cNvSpPr/>
          <p:nvPr/>
        </p:nvSpPr>
        <p:spPr>
          <a:xfrm>
            <a:off x="2194560" y="2606040"/>
            <a:ext cx="3379622" cy="256032"/>
          </a:xfrm>
          <a:prstGeom prst="rect">
            <a:avLst/>
          </a:prstGeom>
          <a:solidFill>
            <a:srgbClr val="13205C"/>
          </a:solidFill>
          <a:ln/>
        </p:spPr>
      </p:sp>
      <p:sp>
        <p:nvSpPr>
          <p:cNvPr id="16" name="Text 14"/>
          <p:cNvSpPr txBox="1"/>
          <p:nvPr/>
        </p:nvSpPr>
        <p:spPr>
          <a:xfrm>
            <a:off x="5665622" y="2532888"/>
            <a:ext cx="640080" cy="365760"/>
          </a:xfrm>
          <a:prstGeom prst="rect">
            <a:avLst/>
          </a:prstGeom>
          <a:noFill/>
          <a:ln/>
        </p:spPr>
        <p:txBody>
          <a:bodyPr wrap="square" lIns="0" tIns="0" rIns="0" bIns="0" rtlCol="0" anchor="ctr"/>
          <a:lstStyle/>
          <a:p>
            <a:pPr indent="0" marL="0">
              <a:buNone/>
            </a:pPr>
            <a:r>
              <a:rPr lang="en-US" sz="1050" b="1" dirty="0">
                <a:solidFill>
                  <a:srgbClr val="13205C"/>
                </a:solidFill>
                <a:latin typeface="Calibri" pitchFamily="34" charset="0"/>
                <a:ea typeface="Calibri" pitchFamily="34" charset="-122"/>
                <a:cs typeface="Calibri" pitchFamily="34" charset="-120"/>
              </a:rPr>
              <a:t>0.880</a:t>
            </a:r>
            <a:endParaRPr lang="en-US" sz="1050" dirty="0"/>
          </a:p>
        </p:txBody>
      </p:sp>
      <p:sp>
        <p:nvSpPr>
          <p:cNvPr id="17" name="Text 15"/>
          <p:cNvSpPr txBox="1"/>
          <p:nvPr/>
        </p:nvSpPr>
        <p:spPr>
          <a:xfrm>
            <a:off x="548640" y="3099816"/>
            <a:ext cx="1554480" cy="365760"/>
          </a:xfrm>
          <a:prstGeom prst="rect">
            <a:avLst/>
          </a:prstGeom>
          <a:noFill/>
          <a:ln/>
        </p:spPr>
        <p:txBody>
          <a:bodyPr wrap="square" lIns="0" tIns="0" rIns="0" bIns="0" rtlCol="0" anchor="ctr"/>
          <a:lstStyle/>
          <a:p>
            <a:pPr indent="0" marL="0">
              <a:buNone/>
            </a:pPr>
            <a:r>
              <a:rPr lang="en-US" sz="1050" dirty="0">
                <a:solidFill>
                  <a:srgbClr val="5B6472"/>
                </a:solidFill>
                <a:latin typeface="Calibri" pitchFamily="34" charset="0"/>
                <a:ea typeface="Calibri" pitchFamily="34" charset="-122"/>
                <a:cs typeface="Calibri" pitchFamily="34" charset="-120"/>
              </a:rPr>
              <a:t>Software</a:t>
            </a:r>
            <a:endParaRPr lang="en-US" sz="1050" dirty="0"/>
          </a:p>
        </p:txBody>
      </p:sp>
      <p:sp>
        <p:nvSpPr>
          <p:cNvPr id="18" name="Shape 16"/>
          <p:cNvSpPr/>
          <p:nvPr/>
        </p:nvSpPr>
        <p:spPr>
          <a:xfrm>
            <a:off x="2194560" y="3172968"/>
            <a:ext cx="3122310" cy="256032"/>
          </a:xfrm>
          <a:prstGeom prst="rect">
            <a:avLst/>
          </a:prstGeom>
          <a:solidFill>
            <a:srgbClr val="13205C"/>
          </a:solidFill>
          <a:ln/>
        </p:spPr>
      </p:sp>
      <p:sp>
        <p:nvSpPr>
          <p:cNvPr id="19" name="Text 17"/>
          <p:cNvSpPr txBox="1"/>
          <p:nvPr/>
        </p:nvSpPr>
        <p:spPr>
          <a:xfrm>
            <a:off x="5408310" y="3099816"/>
            <a:ext cx="640080" cy="365760"/>
          </a:xfrm>
          <a:prstGeom prst="rect">
            <a:avLst/>
          </a:prstGeom>
          <a:noFill/>
          <a:ln/>
        </p:spPr>
        <p:txBody>
          <a:bodyPr wrap="square" lIns="0" tIns="0" rIns="0" bIns="0" rtlCol="0" anchor="ctr"/>
          <a:lstStyle/>
          <a:p>
            <a:pPr indent="0" marL="0">
              <a:buNone/>
            </a:pPr>
            <a:r>
              <a:rPr lang="en-US" sz="1050" b="1" dirty="0">
                <a:solidFill>
                  <a:srgbClr val="13205C"/>
                </a:solidFill>
                <a:latin typeface="Calibri" pitchFamily="34" charset="0"/>
                <a:ea typeface="Calibri" pitchFamily="34" charset="-122"/>
                <a:cs typeface="Calibri" pitchFamily="34" charset="-120"/>
              </a:rPr>
              <a:t>0.813</a:t>
            </a:r>
            <a:endParaRPr lang="en-US" sz="1050" dirty="0"/>
          </a:p>
        </p:txBody>
      </p:sp>
      <p:sp>
        <p:nvSpPr>
          <p:cNvPr id="20" name="Text 18"/>
          <p:cNvSpPr txBox="1"/>
          <p:nvPr/>
        </p:nvSpPr>
        <p:spPr>
          <a:xfrm>
            <a:off x="548640" y="3666744"/>
            <a:ext cx="1554480" cy="365760"/>
          </a:xfrm>
          <a:prstGeom prst="rect">
            <a:avLst/>
          </a:prstGeom>
          <a:noFill/>
          <a:ln/>
        </p:spPr>
        <p:txBody>
          <a:bodyPr wrap="square" lIns="0" tIns="0" rIns="0" bIns="0" rtlCol="0" anchor="ctr"/>
          <a:lstStyle/>
          <a:p>
            <a:pPr indent="0" marL="0">
              <a:buNone/>
            </a:pPr>
            <a:r>
              <a:rPr lang="en-US" sz="1050" dirty="0">
                <a:solidFill>
                  <a:srgbClr val="5B6472"/>
                </a:solidFill>
                <a:latin typeface="Calibri" pitchFamily="34" charset="0"/>
                <a:ea typeface="Calibri" pitchFamily="34" charset="-122"/>
                <a:cs typeface="Calibri" pitchFamily="34" charset="-120"/>
              </a:rPr>
              <a:t>Electrical</a:t>
            </a:r>
            <a:endParaRPr lang="en-US" sz="1050" dirty="0"/>
          </a:p>
        </p:txBody>
      </p:sp>
      <p:sp>
        <p:nvSpPr>
          <p:cNvPr id="21" name="Shape 19"/>
          <p:cNvSpPr/>
          <p:nvPr/>
        </p:nvSpPr>
        <p:spPr>
          <a:xfrm>
            <a:off x="2194560" y="3739896"/>
            <a:ext cx="3022458" cy="256032"/>
          </a:xfrm>
          <a:prstGeom prst="rect">
            <a:avLst/>
          </a:prstGeom>
          <a:solidFill>
            <a:srgbClr val="13205C"/>
          </a:solidFill>
          <a:ln/>
        </p:spPr>
      </p:sp>
      <p:sp>
        <p:nvSpPr>
          <p:cNvPr id="22" name="Text 20"/>
          <p:cNvSpPr txBox="1"/>
          <p:nvPr/>
        </p:nvSpPr>
        <p:spPr>
          <a:xfrm>
            <a:off x="5308458" y="3666744"/>
            <a:ext cx="640080" cy="365760"/>
          </a:xfrm>
          <a:prstGeom prst="rect">
            <a:avLst/>
          </a:prstGeom>
          <a:noFill/>
          <a:ln/>
        </p:spPr>
        <p:txBody>
          <a:bodyPr wrap="square" lIns="0" tIns="0" rIns="0" bIns="0" rtlCol="0" anchor="ctr"/>
          <a:lstStyle/>
          <a:p>
            <a:pPr indent="0" marL="0">
              <a:buNone/>
            </a:pPr>
            <a:r>
              <a:rPr lang="en-US" sz="1050" b="1" dirty="0">
                <a:solidFill>
                  <a:srgbClr val="13205C"/>
                </a:solidFill>
                <a:latin typeface="Calibri" pitchFamily="34" charset="0"/>
                <a:ea typeface="Calibri" pitchFamily="34" charset="-122"/>
                <a:cs typeface="Calibri" pitchFamily="34" charset="-120"/>
              </a:rPr>
              <a:t>0.787</a:t>
            </a:r>
            <a:endParaRPr lang="en-US" sz="1050" dirty="0"/>
          </a:p>
        </p:txBody>
      </p:sp>
      <p:sp>
        <p:nvSpPr>
          <p:cNvPr id="23" name="Shape 21"/>
          <p:cNvSpPr/>
          <p:nvPr/>
        </p:nvSpPr>
        <p:spPr>
          <a:xfrm>
            <a:off x="6949440" y="1508760"/>
            <a:ext cx="4663440" cy="2651760"/>
          </a:xfrm>
          <a:prstGeom prst="rect">
            <a:avLst/>
          </a:prstGeom>
          <a:solidFill>
            <a:srgbClr val="13205C"/>
          </a:solidFill>
          <a:ln/>
        </p:spPr>
      </p:sp>
      <p:sp>
        <p:nvSpPr>
          <p:cNvPr id="24" name="Text 22"/>
          <p:cNvSpPr txBox="1"/>
          <p:nvPr/>
        </p:nvSpPr>
        <p:spPr>
          <a:xfrm>
            <a:off x="7223760" y="1691640"/>
            <a:ext cx="411480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Why the Hybrid Matters</a:t>
            </a:r>
            <a:endParaRPr lang="en-US" sz="1100" dirty="0"/>
          </a:p>
        </p:txBody>
      </p:sp>
      <p:sp>
        <p:nvSpPr>
          <p:cNvPr id="25" name="Text 23"/>
          <p:cNvSpPr txBox="1"/>
          <p:nvPr/>
        </p:nvSpPr>
        <p:spPr>
          <a:xfrm>
            <a:off x="7223760" y="2194560"/>
            <a:ext cx="4114800" cy="274320"/>
          </a:xfrm>
          <a:prstGeom prst="rect">
            <a:avLst/>
          </a:prstGeom>
          <a:noFill/>
          <a:ln/>
        </p:spPr>
        <p:txBody>
          <a:bodyPr wrap="square" lIns="0" tIns="0" rIns="0" bIns="0" rtlCol="0" anchor="ctr"/>
          <a:lstStyle/>
          <a:p>
            <a:pPr indent="0" marL="0">
              <a:buNone/>
            </a:pPr>
            <a:r>
              <a:rPr lang="en-US" sz="1000" dirty="0">
                <a:solidFill>
                  <a:srgbClr val="AEB9E0"/>
                </a:solidFill>
                <a:latin typeface="Calibri" pitchFamily="34" charset="0"/>
                <a:ea typeface="Calibri" pitchFamily="34" charset="-122"/>
                <a:cs typeface="Calibri" pitchFamily="34" charset="-120"/>
              </a:rPr>
              <a:t>Rules Only</a:t>
            </a:r>
            <a:endParaRPr lang="en-US" sz="1000" dirty="0"/>
          </a:p>
        </p:txBody>
      </p:sp>
      <p:sp>
        <p:nvSpPr>
          <p:cNvPr id="26" name="Text 24"/>
          <p:cNvSpPr txBox="1"/>
          <p:nvPr/>
        </p:nvSpPr>
        <p:spPr>
          <a:xfrm>
            <a:off x="7223760" y="2468880"/>
            <a:ext cx="4114800" cy="457200"/>
          </a:xfrm>
          <a:prstGeom prst="rect">
            <a:avLst/>
          </a:prstGeom>
          <a:noFill/>
          <a:ln/>
        </p:spPr>
        <p:txBody>
          <a:bodyPr wrap="square" lIns="0" tIns="0" rIns="0" bIns="0" rtlCol="0" anchor="ctr"/>
          <a:lstStyle/>
          <a:p>
            <a:pPr indent="0" marL="0">
              <a:buNone/>
            </a:pPr>
            <a:r>
              <a:rPr lang="en-US" sz="2200" b="1" dirty="0">
                <a:solidFill>
                  <a:srgbClr val="AEB9E0"/>
                </a:solidFill>
                <a:latin typeface="Cambria" pitchFamily="34" charset="0"/>
                <a:ea typeface="Cambria" pitchFamily="34" charset="-122"/>
                <a:cs typeface="Cambria" pitchFamily="34" charset="-120"/>
              </a:rPr>
              <a:t>0.033 recall</a:t>
            </a:r>
            <a:endParaRPr lang="en-US" sz="2200" dirty="0"/>
          </a:p>
        </p:txBody>
      </p:sp>
      <p:sp>
        <p:nvSpPr>
          <p:cNvPr id="27" name="Text 25"/>
          <p:cNvSpPr txBox="1"/>
          <p:nvPr/>
        </p:nvSpPr>
        <p:spPr>
          <a:xfrm>
            <a:off x="7223760" y="3063240"/>
            <a:ext cx="4114800" cy="274320"/>
          </a:xfrm>
          <a:prstGeom prst="rect">
            <a:avLst/>
          </a:prstGeom>
          <a:noFill/>
          <a:ln/>
        </p:spPr>
        <p:txBody>
          <a:bodyPr wrap="square" lIns="0" tIns="0" rIns="0" bIns="0" rtlCol="0" anchor="ctr"/>
          <a:lstStyle/>
          <a:p>
            <a:pPr indent="0" marL="0">
              <a:buNone/>
            </a:pPr>
            <a:r>
              <a:rPr lang="en-US" sz="1000" dirty="0">
                <a:solidFill>
                  <a:srgbClr val="D7DEF5"/>
                </a:solidFill>
                <a:latin typeface="Calibri" pitchFamily="34" charset="0"/>
                <a:ea typeface="Calibri" pitchFamily="34" charset="-122"/>
                <a:cs typeface="Calibri" pitchFamily="34" charset="-120"/>
              </a:rPr>
              <a:t>Full Hybrid System</a:t>
            </a:r>
            <a:endParaRPr lang="en-US" sz="1000" dirty="0"/>
          </a:p>
        </p:txBody>
      </p:sp>
      <p:sp>
        <p:nvSpPr>
          <p:cNvPr id="28" name="Text 26"/>
          <p:cNvSpPr txBox="1"/>
          <p:nvPr/>
        </p:nvSpPr>
        <p:spPr>
          <a:xfrm>
            <a:off x="7223760" y="3337560"/>
            <a:ext cx="4114800" cy="548640"/>
          </a:xfrm>
          <a:prstGeom prst="rect">
            <a:avLst/>
          </a:prstGeom>
          <a:noFill/>
          <a:ln/>
        </p:spPr>
        <p:txBody>
          <a:bodyPr wrap="square" lIns="0" tIns="0" rIns="0" bIns="0" rtlCol="0" anchor="ctr"/>
          <a:lstStyle/>
          <a:p>
            <a:pPr indent="0" marL="0">
              <a:buNone/>
            </a:pPr>
            <a:r>
              <a:rPr lang="en-US" sz="2600" b="1" dirty="0">
                <a:solidFill>
                  <a:srgbClr val="F3C94D"/>
                </a:solidFill>
                <a:latin typeface="Cambria" pitchFamily="34" charset="0"/>
                <a:ea typeface="Cambria" pitchFamily="34" charset="-122"/>
                <a:cs typeface="Cambria" pitchFamily="34" charset="-120"/>
              </a:rPr>
              <a:t>0.761 recall</a:t>
            </a:r>
            <a:endParaRPr lang="en-US" sz="2600" dirty="0"/>
          </a:p>
        </p:txBody>
      </p:sp>
      <p:sp>
        <p:nvSpPr>
          <p:cNvPr id="29" name="Text 27"/>
          <p:cNvSpPr txBox="1"/>
          <p:nvPr/>
        </p:nvSpPr>
        <p:spPr>
          <a:xfrm>
            <a:off x="548640" y="4434840"/>
            <a:ext cx="11064240" cy="1554480"/>
          </a:xfrm>
          <a:prstGeom prst="rect">
            <a:avLst/>
          </a:prstGeom>
          <a:noFill/>
          <a:ln/>
        </p:spPr>
        <p:txBody>
          <a:bodyPr wrap="square" lIns="0" tIns="0" rIns="0" bIns="0" rtlCol="0" anchor="ctr"/>
          <a:lstStyle/>
          <a:p>
            <a:pPr indent="0" marL="0">
              <a:lnSpc>
                <a:spcPts val="1700"/>
              </a:lnSpc>
              <a:buNone/>
            </a:pPr>
            <a:r>
              <a:rPr lang="en-US" sz="1200" dirty="0">
                <a:solidFill>
                  <a:srgbClr val="5B6472"/>
                </a:solidFill>
                <a:latin typeface="Calibri" pitchFamily="34" charset="0"/>
                <a:ea typeface="Calibri" pitchFamily="34" charset="-122"/>
                <a:cs typeface="Calibri" pitchFamily="34" charset="-120"/>
              </a:rPr>
              <a:t>Accuracy stays strong across all four subdomains (0.787–0.880), so there is no clear weak spot. The ablation answers a real question: is the hybrid design necessary? The LLM judge does the large majority of the detection work; the rule layer's job is precision, not coverage — it exists mainly to keep the system precise.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7315200" cy="274320"/>
          </a:xfrm>
          <a:prstGeom prst="rect">
            <a:avLst/>
          </a:prstGeom>
          <a:noFill/>
          <a:ln/>
        </p:spPr>
        <p:txBody>
          <a:bodyPr wrap="square" lIns="0" tIns="0" rIns="0" bIns="0" rtlCol="0" anchor="ctr"/>
          <a:lstStyle/>
          <a:p>
            <a:pPr indent="0" marL="0">
              <a:buNone/>
            </a:pPr>
            <a:r>
              <a:rPr lang="en-US" sz="1050" b="1" spc="200" kern="0" dirty="0">
                <a:solidFill>
                  <a:srgbClr val="2C5FB8"/>
                </a:solidFill>
                <a:latin typeface="Calibri" pitchFamily="34" charset="0"/>
                <a:ea typeface="Calibri" pitchFamily="34" charset="-122"/>
                <a:cs typeface="Calibri" pitchFamily="34" charset="-120"/>
              </a:rPr>
              <a:t>RESULTS &amp; DISCUSSION</a:t>
            </a:r>
            <a:endParaRPr lang="en-US" sz="1050" dirty="0"/>
          </a:p>
        </p:txBody>
      </p:sp>
      <p:sp>
        <p:nvSpPr>
          <p:cNvPr id="3" name="Text 1"/>
          <p:cNvSpPr txBox="1"/>
          <p:nvPr/>
        </p:nvSpPr>
        <p:spPr>
          <a:xfrm>
            <a:off x="457200" y="566928"/>
            <a:ext cx="9601200" cy="640080"/>
          </a:xfrm>
          <a:prstGeom prst="rect">
            <a:avLst/>
          </a:prstGeom>
          <a:noFill/>
          <a:ln/>
        </p:spPr>
        <p:txBody>
          <a:bodyPr wrap="square" lIns="0" tIns="0" rIns="0" bIns="0" rtlCol="0" anchor="ctr"/>
          <a:lstStyle/>
          <a:p>
            <a:pPr indent="0" marL="0">
              <a:buNone/>
            </a:pPr>
            <a:r>
              <a:rPr lang="en-US" sz="2600" b="1" dirty="0">
                <a:solidFill>
                  <a:srgbClr val="16255E"/>
                </a:solidFill>
                <a:latin typeface="Cambria" pitchFamily="34" charset="0"/>
                <a:ea typeface="Cambria" pitchFamily="34" charset="-122"/>
                <a:cs typeface="Cambria" pitchFamily="34" charset="-120"/>
              </a:rPr>
              <a:t>An Honest Calibration Finding</a:t>
            </a:r>
            <a:endParaRPr lang="en-US" sz="2600" dirty="0"/>
          </a:p>
        </p:txBody>
      </p:sp>
      <p:sp>
        <p:nvSpPr>
          <p:cNvPr id="4" name="Shape 2"/>
          <p:cNvSpPr/>
          <p:nvPr/>
        </p:nvSpPr>
        <p:spPr>
          <a:xfrm>
            <a:off x="11109960" y="256032"/>
            <a:ext cx="685800" cy="685800"/>
          </a:xfrm>
          <a:prstGeom prst="ellipse">
            <a:avLst/>
          </a:prstGeom>
          <a:solidFill>
            <a:srgbClr val="FFFFFF"/>
          </a:solidFill>
          <a:ln w="19050">
            <a:solidFill>
              <a:srgbClr val="13205C"/>
            </a:solidFill>
            <a:prstDash val="solid"/>
          </a:ln>
        </p:spPr>
      </p:sp>
      <p:sp>
        <p:nvSpPr>
          <p:cNvPr id="5" name="Text 3"/>
          <p:cNvSpPr txBox="1"/>
          <p:nvPr/>
        </p:nvSpPr>
        <p:spPr>
          <a:xfrm>
            <a:off x="11109960" y="256032"/>
            <a:ext cx="685800" cy="685800"/>
          </a:xfrm>
          <a:prstGeom prst="rect">
            <a:avLst/>
          </a:prstGeom>
          <a:noFill/>
          <a:ln/>
        </p:spPr>
        <p:txBody>
          <a:bodyPr wrap="square" lIns="0" tIns="0" rIns="0" bIns="0" rtlCol="0" anchor="ctr"/>
          <a:lstStyle/>
          <a:p>
            <a:pPr algn="ctr" indent="0" marL="0">
              <a:lnSpc>
                <a:spcPts val="800"/>
              </a:lnSpc>
              <a:buNone/>
            </a:pPr>
            <a:r>
              <a:rPr lang="en-US" sz="700" b="1" dirty="0">
                <a:solidFill>
                  <a:srgbClr val="13205C"/>
                </a:solidFill>
                <a:latin typeface="Calibri" pitchFamily="34" charset="0"/>
                <a:ea typeface="Calibri" pitchFamily="34" charset="-122"/>
                <a:cs typeface="Calibri" pitchFamily="34" charset="-120"/>
              </a:rPr>
              <a:t>AIB</a:t>
            </a:r>
            <a:endParaRPr lang="en-US" sz="700" dirty="0"/>
          </a:p>
          <a:p>
            <a:pPr algn="ctr" indent="0" marL="0">
              <a:lnSpc>
                <a:spcPts val="800"/>
              </a:lnSpc>
              <a:buNone/>
            </a:pPr>
            <a:r>
              <a:rPr lang="en-US" sz="700" b="1" dirty="0">
                <a:solidFill>
                  <a:srgbClr val="13205C"/>
                </a:solidFill>
                <a:latin typeface="Calibri" pitchFamily="34" charset="0"/>
                <a:ea typeface="Calibri" pitchFamily="34" charset="-122"/>
                <a:cs typeface="Calibri" pitchFamily="34" charset="-120"/>
              </a:rPr>
              <a:t>THINGS</a:t>
            </a:r>
            <a:endParaRPr lang="en-US" sz="700" dirty="0"/>
          </a:p>
        </p:txBody>
      </p:sp>
      <p:sp>
        <p:nvSpPr>
          <p:cNvPr id="6" name="Shape 4"/>
          <p:cNvSpPr/>
          <p:nvPr/>
        </p:nvSpPr>
        <p:spPr>
          <a:xfrm>
            <a:off x="0" y="6400800"/>
            <a:ext cx="12191695" cy="457200"/>
          </a:xfrm>
          <a:prstGeom prst="rect">
            <a:avLst/>
          </a:prstGeom>
          <a:solidFill>
            <a:srgbClr val="13205C"/>
          </a:solidFill>
          <a:ln/>
        </p:spPr>
      </p:sp>
      <p:sp>
        <p:nvSpPr>
          <p:cNvPr id="7" name="Text 5"/>
          <p:cNvSpPr txBox="1"/>
          <p:nvPr/>
        </p:nvSpPr>
        <p:spPr>
          <a:xfrm>
            <a:off x="457200" y="6400800"/>
            <a:ext cx="5486400"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AIBTHINGS 2026  •  PAPER #465</a:t>
            </a:r>
            <a:endParaRPr lang="en-US" sz="1000" dirty="0"/>
          </a:p>
        </p:txBody>
      </p:sp>
      <p:sp>
        <p:nvSpPr>
          <p:cNvPr id="8" name="Shape 6"/>
          <p:cNvSpPr/>
          <p:nvPr/>
        </p:nvSpPr>
        <p:spPr>
          <a:xfrm>
            <a:off x="11475720" y="6199632"/>
            <a:ext cx="566928" cy="566928"/>
          </a:xfrm>
          <a:prstGeom prst="ellipse">
            <a:avLst/>
          </a:prstGeom>
          <a:solidFill>
            <a:srgbClr val="FFFFFF"/>
          </a:solidFill>
          <a:ln w="19050">
            <a:solidFill>
              <a:srgbClr val="13205C"/>
            </a:solidFill>
            <a:prstDash val="solid"/>
          </a:ln>
        </p:spPr>
      </p:sp>
      <p:sp>
        <p:nvSpPr>
          <p:cNvPr id="9" name="Text 7"/>
          <p:cNvSpPr txBox="1"/>
          <p:nvPr/>
        </p:nvSpPr>
        <p:spPr>
          <a:xfrm>
            <a:off x="11475720" y="6199632"/>
            <a:ext cx="566928" cy="566928"/>
          </a:xfrm>
          <a:prstGeom prst="rect">
            <a:avLst/>
          </a:prstGeom>
          <a:noFill/>
          <a:ln/>
        </p:spPr>
        <p:txBody>
          <a:bodyPr wrap="square" lIns="0" tIns="0" rIns="0" bIns="0" rtlCol="0" anchor="ctr"/>
          <a:lstStyle/>
          <a:p>
            <a:pPr algn="ctr" indent="0" marL="0">
              <a:buNone/>
            </a:pPr>
            <a:r>
              <a:rPr lang="en-US" sz="1500" b="1" dirty="0">
                <a:solidFill>
                  <a:srgbClr val="13205C"/>
                </a:solidFill>
                <a:latin typeface="Cambria" pitchFamily="34" charset="0"/>
                <a:ea typeface="Cambria" pitchFamily="34" charset="-122"/>
                <a:cs typeface="Cambria" pitchFamily="34" charset="-120"/>
              </a:rPr>
              <a:t>9</a:t>
            </a:r>
            <a:endParaRPr lang="en-US" sz="1500" dirty="0"/>
          </a:p>
        </p:txBody>
      </p:sp>
      <p:sp>
        <p:nvSpPr>
          <p:cNvPr id="10" name="Shape 8"/>
          <p:cNvSpPr/>
          <p:nvPr/>
        </p:nvSpPr>
        <p:spPr>
          <a:xfrm>
            <a:off x="548640" y="1554480"/>
            <a:ext cx="5394960" cy="3200400"/>
          </a:xfrm>
          <a:prstGeom prst="roundRect">
            <a:avLst>
              <a:gd name="adj" fmla="val 1714"/>
            </a:avLst>
          </a:prstGeom>
          <a:solidFill>
            <a:srgbClr val="F5F6FA"/>
          </a:solidFill>
          <a:ln w="12700">
            <a:solidFill>
              <a:srgbClr val="E4E9F5"/>
            </a:solidFill>
            <a:prstDash val="solid"/>
          </a:ln>
        </p:spPr>
      </p:sp>
      <p:sp>
        <p:nvSpPr>
          <p:cNvPr id="11" name="Text 9"/>
          <p:cNvSpPr txBox="1"/>
          <p:nvPr/>
        </p:nvSpPr>
        <p:spPr>
          <a:xfrm>
            <a:off x="822960" y="1783080"/>
            <a:ext cx="4846320" cy="365760"/>
          </a:xfrm>
          <a:prstGeom prst="rect">
            <a:avLst/>
          </a:prstGeom>
          <a:noFill/>
          <a:ln/>
        </p:spPr>
        <p:txBody>
          <a:bodyPr wrap="square" lIns="0" tIns="0" rIns="0" bIns="0" rtlCol="0" anchor="ctr"/>
          <a:lstStyle/>
          <a:p>
            <a:pPr algn="ctr" indent="0" marL="0">
              <a:buNone/>
            </a:pPr>
            <a:r>
              <a:rPr lang="en-US" sz="1300" b="1" dirty="0">
                <a:solidFill>
                  <a:srgbClr val="13205C"/>
                </a:solidFill>
                <a:latin typeface="Cambria" pitchFamily="34" charset="0"/>
                <a:ea typeface="Cambria" pitchFamily="34" charset="-122"/>
                <a:cs typeface="Cambria" pitchFamily="34" charset="-120"/>
              </a:rPr>
              <a:t>Threshold Recalibration</a:t>
            </a:r>
            <a:endParaRPr lang="en-US" sz="1300" dirty="0"/>
          </a:p>
        </p:txBody>
      </p:sp>
      <p:sp>
        <p:nvSpPr>
          <p:cNvPr id="12" name="Text 10"/>
          <p:cNvSpPr txBox="1"/>
          <p:nvPr/>
        </p:nvSpPr>
        <p:spPr>
          <a:xfrm>
            <a:off x="822960" y="2468880"/>
            <a:ext cx="4846320" cy="365760"/>
          </a:xfrm>
          <a:prstGeom prst="rect">
            <a:avLst/>
          </a:prstGeom>
          <a:noFill/>
          <a:ln/>
        </p:spPr>
        <p:txBody>
          <a:bodyPr wrap="square" lIns="0" tIns="0" rIns="0" bIns="0" rtlCol="0" anchor="ctr"/>
          <a:lstStyle/>
          <a:p>
            <a:pPr algn="ctr" indent="0" marL="0">
              <a:buNone/>
            </a:pPr>
            <a:r>
              <a:rPr lang="en-US" sz="1300" dirty="0">
                <a:solidFill>
                  <a:srgbClr val="9AA3B8"/>
                </a:solidFill>
                <a:latin typeface="Calibri" pitchFamily="34" charset="0"/>
                <a:ea typeface="Calibri" pitchFamily="34" charset="-122"/>
                <a:cs typeface="Calibri" pitchFamily="34" charset="-120"/>
              </a:rPr>
              <a:t>50%  →  11 caught</a:t>
            </a:r>
            <a:endParaRPr lang="en-US" sz="1300" dirty="0"/>
          </a:p>
        </p:txBody>
      </p:sp>
      <p:sp>
        <p:nvSpPr>
          <p:cNvPr id="13" name="Text 11"/>
          <p:cNvSpPr txBox="1"/>
          <p:nvPr/>
        </p:nvSpPr>
        <p:spPr>
          <a:xfrm>
            <a:off x="822960" y="2880360"/>
            <a:ext cx="4846320" cy="502920"/>
          </a:xfrm>
          <a:prstGeom prst="rect">
            <a:avLst/>
          </a:prstGeom>
          <a:noFill/>
          <a:ln/>
        </p:spPr>
        <p:txBody>
          <a:bodyPr wrap="square" lIns="0" tIns="0" rIns="0" bIns="0" rtlCol="0" anchor="ctr"/>
          <a:lstStyle/>
          <a:p>
            <a:pPr algn="ctr" indent="0" marL="0">
              <a:buNone/>
            </a:pPr>
            <a:r>
              <a:rPr lang="en-US" sz="2000" b="1" dirty="0">
                <a:solidFill>
                  <a:srgbClr val="7A1F2B"/>
                </a:solidFill>
                <a:latin typeface="Cambria" pitchFamily="34" charset="0"/>
                <a:ea typeface="Cambria" pitchFamily="34" charset="-122"/>
                <a:cs typeface="Cambria" pitchFamily="34" charset="-120"/>
              </a:rPr>
              <a:t>40%  →  140 caught</a:t>
            </a:r>
            <a:endParaRPr lang="en-US" sz="2000" dirty="0"/>
          </a:p>
        </p:txBody>
      </p:sp>
      <p:sp>
        <p:nvSpPr>
          <p:cNvPr id="14" name="Text 12"/>
          <p:cNvSpPr txBox="1"/>
          <p:nvPr/>
        </p:nvSpPr>
        <p:spPr>
          <a:xfrm>
            <a:off x="822960" y="3520440"/>
            <a:ext cx="4846320" cy="320040"/>
          </a:xfrm>
          <a:prstGeom prst="rect">
            <a:avLst/>
          </a:prstGeom>
          <a:noFill/>
          <a:ln/>
        </p:spPr>
        <p:txBody>
          <a:bodyPr wrap="square" lIns="0" tIns="0" rIns="0" bIns="0" rtlCol="0" anchor="ctr"/>
          <a:lstStyle/>
          <a:p>
            <a:pPr algn="ctr" indent="0" marL="0">
              <a:buNone/>
            </a:pPr>
            <a:r>
              <a:rPr lang="en-US" sz="1000" i="1" dirty="0">
                <a:solidFill>
                  <a:srgbClr val="5B6472"/>
                </a:solidFill>
                <a:latin typeface="Calibri" pitchFamily="34" charset="0"/>
                <a:ea typeface="Calibri" pitchFamily="34" charset="-122"/>
                <a:cs typeface="Calibri" pitchFamily="34" charset="-120"/>
              </a:rPr>
              <a:t>Reported openly</a:t>
            </a:r>
            <a:endParaRPr lang="en-US" sz="1000" dirty="0"/>
          </a:p>
        </p:txBody>
      </p:sp>
      <p:sp>
        <p:nvSpPr>
          <p:cNvPr id="15" name="Shape 13"/>
          <p:cNvSpPr/>
          <p:nvPr/>
        </p:nvSpPr>
        <p:spPr>
          <a:xfrm>
            <a:off x="6217920" y="1554480"/>
            <a:ext cx="5394960" cy="3200400"/>
          </a:xfrm>
          <a:prstGeom prst="roundRect">
            <a:avLst>
              <a:gd name="adj" fmla="val 1714"/>
            </a:avLst>
          </a:prstGeom>
          <a:solidFill>
            <a:srgbClr val="F5F6FA"/>
          </a:solidFill>
          <a:ln w="12700">
            <a:solidFill>
              <a:srgbClr val="E4E9F5"/>
            </a:solidFill>
            <a:prstDash val="solid"/>
          </a:ln>
        </p:spPr>
      </p:sp>
      <p:sp>
        <p:nvSpPr>
          <p:cNvPr id="16" name="Text 14"/>
          <p:cNvSpPr txBox="1"/>
          <p:nvPr/>
        </p:nvSpPr>
        <p:spPr>
          <a:xfrm>
            <a:off x="6492240" y="1783080"/>
            <a:ext cx="4846320" cy="365760"/>
          </a:xfrm>
          <a:prstGeom prst="rect">
            <a:avLst/>
          </a:prstGeom>
          <a:noFill/>
          <a:ln/>
        </p:spPr>
        <p:txBody>
          <a:bodyPr wrap="square" lIns="0" tIns="0" rIns="0" bIns="0" rtlCol="0" anchor="ctr"/>
          <a:lstStyle/>
          <a:p>
            <a:pPr algn="ctr" indent="0" marL="0">
              <a:buNone/>
            </a:pPr>
            <a:r>
              <a:rPr lang="en-US" sz="1300" b="1" dirty="0">
                <a:solidFill>
                  <a:srgbClr val="13205C"/>
                </a:solidFill>
                <a:latin typeface="Cambria" pitchFamily="34" charset="0"/>
                <a:ea typeface="Cambria" pitchFamily="34" charset="-122"/>
                <a:cs typeface="Cambria" pitchFamily="34" charset="-120"/>
              </a:rPr>
              <a:t>Limitations &amp; Future Work</a:t>
            </a:r>
            <a:endParaRPr lang="en-US" sz="1300" dirty="0"/>
          </a:p>
        </p:txBody>
      </p:sp>
      <p:sp>
        <p:nvSpPr>
          <p:cNvPr id="17" name="Text 15"/>
          <p:cNvSpPr txBox="1"/>
          <p:nvPr/>
        </p:nvSpPr>
        <p:spPr>
          <a:xfrm>
            <a:off x="6492240" y="2240280"/>
            <a:ext cx="4846320" cy="2286000"/>
          </a:xfrm>
          <a:prstGeom prst="rect">
            <a:avLst/>
          </a:prstGeom>
          <a:noFill/>
          <a:ln/>
        </p:spPr>
        <p:txBody>
          <a:bodyPr wrap="square" lIns="0" tIns="0" rIns="0" bIns="0" rtlCol="0" anchor="ctr"/>
          <a:lstStyle/>
          <a:p>
            <a:pPr indent="0" marL="0">
              <a:lnSpc>
                <a:spcPts val="1500"/>
              </a:lnSpc>
              <a:buNone/>
            </a:pPr>
            <a:r>
              <a:rPr lang="en-US" sz="1050" dirty="0">
                <a:solidFill>
                  <a:srgbClr val="5B6472"/>
                </a:solidFill>
                <a:latin typeface="Calibri" pitchFamily="34" charset="0"/>
                <a:ea typeface="Calibri" pitchFamily="34" charset="-122"/>
                <a:cs typeface="Calibri" pitchFamily="34" charset="-120"/>
              </a:rPr>
              <a:t>•  Fault-injected, not live-harvested cases
</a:t>
            </a:r>
            <a:pPr indent="0" marL="0">
              <a:lnSpc>
                <a:spcPts val="1500"/>
              </a:lnSpc>
              <a:buNone/>
            </a:pPr>
            <a:r>
              <a:rPr lang="en-US" sz="1050" dirty="0">
                <a:solidFill>
                  <a:srgbClr val="5B6472"/>
                </a:solidFill>
                <a:latin typeface="Calibri" pitchFamily="34" charset="0"/>
                <a:ea typeface="Calibri" pitchFamily="34" charset="-122"/>
                <a:cs typeface="Calibri" pitchFamily="34" charset="-120"/>
              </a:rPr>
              <a:t>•  Single-reviewer labels (standards-auditable)
</a:t>
            </a:r>
            <a:pPr indent="0" marL="0">
              <a:lnSpc>
                <a:spcPts val="1500"/>
              </a:lnSpc>
              <a:buNone/>
            </a:pPr>
            <a:r>
              <a:rPr lang="en-US" sz="1050" dirty="0">
                <a:solidFill>
                  <a:srgbClr val="5B6472"/>
                </a:solidFill>
                <a:latin typeface="Calibri" pitchFamily="34" charset="0"/>
                <a:ea typeface="Calibri" pitchFamily="34" charset="-122"/>
                <a:cs typeface="Calibri" pitchFamily="34" charset="-120"/>
              </a:rPr>
              <a:t>•  146-entry KB — a curated slice
</a:t>
            </a:r>
            <a:pPr indent="0" marL="0">
              <a:lnSpc>
                <a:spcPts val="1500"/>
              </a:lnSpc>
              <a:buNone/>
            </a:pPr>
            <a:r>
              <a:rPr lang="en-US" sz="1050" b="1" dirty="0">
                <a:solidFill>
                  <a:srgbClr val="2C5FB8"/>
                </a:solidFill>
                <a:latin typeface="Calibri" pitchFamily="34" charset="0"/>
                <a:ea typeface="Calibri" pitchFamily="34" charset="-122"/>
                <a:cs typeface="Calibri" pitchFamily="34" charset="-120"/>
              </a:rPr>
              <a:t>Next: </a:t>
            </a:r>
            <a:pPr indent="0" marL="0">
              <a:lnSpc>
                <a:spcPts val="1500"/>
              </a:lnSpc>
              <a:buNone/>
            </a:pPr>
            <a:r>
              <a:rPr lang="en-US" sz="1050" dirty="0">
                <a:solidFill>
                  <a:srgbClr val="2C5FB8"/>
                </a:solidFill>
                <a:latin typeface="Calibri" pitchFamily="34" charset="0"/>
                <a:ea typeface="Calibri" pitchFamily="34" charset="-122"/>
                <a:cs typeface="Calibri" pitchFamily="34" charset="-120"/>
              </a:rPr>
              <a:t>dense retrieval • local model • new domains</a:t>
            </a:r>
            <a:endParaRPr lang="en-US" sz="1050" dirty="0"/>
          </a:p>
        </p:txBody>
      </p:sp>
      <p:sp>
        <p:nvSpPr>
          <p:cNvPr id="18" name="Text 16"/>
          <p:cNvSpPr txBox="1"/>
          <p:nvPr/>
        </p:nvSpPr>
        <p:spPr>
          <a:xfrm>
            <a:off x="548640" y="4937760"/>
            <a:ext cx="11064240" cy="1005840"/>
          </a:xfrm>
          <a:prstGeom prst="rect">
            <a:avLst/>
          </a:prstGeom>
          <a:noFill/>
          <a:ln/>
        </p:spPr>
        <p:txBody>
          <a:bodyPr wrap="square" lIns="0" tIns="0" rIns="0" bIns="0" rtlCol="0" anchor="ctr"/>
          <a:lstStyle/>
          <a:p>
            <a:pPr indent="0" marL="0">
              <a:lnSpc>
                <a:spcPts val="1500"/>
              </a:lnSpc>
              <a:buNone/>
            </a:pPr>
            <a:r>
              <a:rPr lang="en-US" sz="1100" i="1" dirty="0">
                <a:solidFill>
                  <a:srgbClr val="5B6472"/>
                </a:solidFill>
                <a:latin typeface="Calibri" pitchFamily="34" charset="0"/>
                <a:ea typeface="Calibri" pitchFamily="34" charset="-122"/>
                <a:cs typeface="Calibri" pitchFamily="34" charset="-120"/>
              </a:rPr>
              <a:t>One finding is worth sharing directly: our alert setting was originally too strict (caught only 11 cases); we recalibrated to 40% based on the judge's actual scoring pattern, raising detection to 140 cases — a real limitation we found and fixed, reported openly.</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7315200" cy="274320"/>
          </a:xfrm>
          <a:prstGeom prst="rect">
            <a:avLst/>
          </a:prstGeom>
          <a:noFill/>
          <a:ln/>
        </p:spPr>
        <p:txBody>
          <a:bodyPr wrap="square" lIns="0" tIns="0" rIns="0" bIns="0" rtlCol="0" anchor="ctr"/>
          <a:lstStyle/>
          <a:p>
            <a:pPr indent="0" marL="0">
              <a:buNone/>
            </a:pPr>
            <a:r>
              <a:rPr lang="en-US" sz="1050" b="1" spc="200" kern="0" dirty="0">
                <a:solidFill>
                  <a:srgbClr val="2C5FB8"/>
                </a:solidFill>
                <a:latin typeface="Calibri" pitchFamily="34" charset="0"/>
                <a:ea typeface="Calibri" pitchFamily="34" charset="-122"/>
                <a:cs typeface="Calibri" pitchFamily="34" charset="-120"/>
              </a:rPr>
              <a:t>CONCLUSION AND FUTURE DIRECTIONS</a:t>
            </a:r>
            <a:endParaRPr lang="en-US" sz="1050" dirty="0"/>
          </a:p>
        </p:txBody>
      </p:sp>
      <p:sp>
        <p:nvSpPr>
          <p:cNvPr id="3" name="Text 1"/>
          <p:cNvSpPr txBox="1"/>
          <p:nvPr/>
        </p:nvSpPr>
        <p:spPr>
          <a:xfrm>
            <a:off x="457200" y="566928"/>
            <a:ext cx="9601200" cy="640080"/>
          </a:xfrm>
          <a:prstGeom prst="rect">
            <a:avLst/>
          </a:prstGeom>
          <a:noFill/>
          <a:ln/>
        </p:spPr>
        <p:txBody>
          <a:bodyPr wrap="square" lIns="0" tIns="0" rIns="0" bIns="0" rtlCol="0" anchor="ctr"/>
          <a:lstStyle/>
          <a:p>
            <a:pPr indent="0" marL="0">
              <a:buNone/>
            </a:pPr>
            <a:r>
              <a:rPr lang="en-US" sz="2600" b="1" dirty="0">
                <a:solidFill>
                  <a:srgbClr val="16255E"/>
                </a:solidFill>
                <a:latin typeface="Cambria" pitchFamily="34" charset="0"/>
                <a:ea typeface="Cambria" pitchFamily="34" charset="-122"/>
                <a:cs typeface="Cambria" pitchFamily="34" charset="-120"/>
              </a:rPr>
              <a:t>Comparison</a:t>
            </a:r>
            <a:endParaRPr lang="en-US" sz="2600" dirty="0"/>
          </a:p>
        </p:txBody>
      </p:sp>
      <p:sp>
        <p:nvSpPr>
          <p:cNvPr id="4" name="Shape 2"/>
          <p:cNvSpPr/>
          <p:nvPr/>
        </p:nvSpPr>
        <p:spPr>
          <a:xfrm>
            <a:off x="11109960" y="256032"/>
            <a:ext cx="685800" cy="685800"/>
          </a:xfrm>
          <a:prstGeom prst="ellipse">
            <a:avLst/>
          </a:prstGeom>
          <a:solidFill>
            <a:srgbClr val="FFFFFF"/>
          </a:solidFill>
          <a:ln w="19050">
            <a:solidFill>
              <a:srgbClr val="13205C"/>
            </a:solidFill>
            <a:prstDash val="solid"/>
          </a:ln>
        </p:spPr>
      </p:sp>
      <p:sp>
        <p:nvSpPr>
          <p:cNvPr id="5" name="Text 3"/>
          <p:cNvSpPr txBox="1"/>
          <p:nvPr/>
        </p:nvSpPr>
        <p:spPr>
          <a:xfrm>
            <a:off x="11109960" y="256032"/>
            <a:ext cx="685800" cy="685800"/>
          </a:xfrm>
          <a:prstGeom prst="rect">
            <a:avLst/>
          </a:prstGeom>
          <a:noFill/>
          <a:ln/>
        </p:spPr>
        <p:txBody>
          <a:bodyPr wrap="square" lIns="0" tIns="0" rIns="0" bIns="0" rtlCol="0" anchor="ctr"/>
          <a:lstStyle/>
          <a:p>
            <a:pPr algn="ctr" indent="0" marL="0">
              <a:lnSpc>
                <a:spcPts val="800"/>
              </a:lnSpc>
              <a:buNone/>
            </a:pPr>
            <a:r>
              <a:rPr lang="en-US" sz="700" b="1" dirty="0">
                <a:solidFill>
                  <a:srgbClr val="13205C"/>
                </a:solidFill>
                <a:latin typeface="Calibri" pitchFamily="34" charset="0"/>
                <a:ea typeface="Calibri" pitchFamily="34" charset="-122"/>
                <a:cs typeface="Calibri" pitchFamily="34" charset="-120"/>
              </a:rPr>
              <a:t>AIB</a:t>
            </a:r>
            <a:endParaRPr lang="en-US" sz="700" dirty="0"/>
          </a:p>
          <a:p>
            <a:pPr algn="ctr" indent="0" marL="0">
              <a:lnSpc>
                <a:spcPts val="800"/>
              </a:lnSpc>
              <a:buNone/>
            </a:pPr>
            <a:r>
              <a:rPr lang="en-US" sz="700" b="1" dirty="0">
                <a:solidFill>
                  <a:srgbClr val="13205C"/>
                </a:solidFill>
                <a:latin typeface="Calibri" pitchFamily="34" charset="0"/>
                <a:ea typeface="Calibri" pitchFamily="34" charset="-122"/>
                <a:cs typeface="Calibri" pitchFamily="34" charset="-120"/>
              </a:rPr>
              <a:t>THINGS</a:t>
            </a:r>
            <a:endParaRPr lang="en-US" sz="700" dirty="0"/>
          </a:p>
        </p:txBody>
      </p:sp>
      <p:sp>
        <p:nvSpPr>
          <p:cNvPr id="6" name="Shape 4"/>
          <p:cNvSpPr/>
          <p:nvPr/>
        </p:nvSpPr>
        <p:spPr>
          <a:xfrm>
            <a:off x="0" y="6400800"/>
            <a:ext cx="12191695" cy="457200"/>
          </a:xfrm>
          <a:prstGeom prst="rect">
            <a:avLst/>
          </a:prstGeom>
          <a:solidFill>
            <a:srgbClr val="13205C"/>
          </a:solidFill>
          <a:ln/>
        </p:spPr>
      </p:sp>
      <p:sp>
        <p:nvSpPr>
          <p:cNvPr id="7" name="Text 5"/>
          <p:cNvSpPr txBox="1"/>
          <p:nvPr/>
        </p:nvSpPr>
        <p:spPr>
          <a:xfrm>
            <a:off x="457200" y="6400800"/>
            <a:ext cx="5486400"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AIBTHINGS 2026  •  PAPER #465</a:t>
            </a:r>
            <a:endParaRPr lang="en-US" sz="1000" dirty="0"/>
          </a:p>
        </p:txBody>
      </p:sp>
      <p:sp>
        <p:nvSpPr>
          <p:cNvPr id="8" name="Shape 6"/>
          <p:cNvSpPr/>
          <p:nvPr/>
        </p:nvSpPr>
        <p:spPr>
          <a:xfrm>
            <a:off x="11475720" y="6199632"/>
            <a:ext cx="566928" cy="566928"/>
          </a:xfrm>
          <a:prstGeom prst="ellipse">
            <a:avLst/>
          </a:prstGeom>
          <a:solidFill>
            <a:srgbClr val="FFFFFF"/>
          </a:solidFill>
          <a:ln w="19050">
            <a:solidFill>
              <a:srgbClr val="13205C"/>
            </a:solidFill>
            <a:prstDash val="solid"/>
          </a:ln>
        </p:spPr>
      </p:sp>
      <p:sp>
        <p:nvSpPr>
          <p:cNvPr id="9" name="Text 7"/>
          <p:cNvSpPr txBox="1"/>
          <p:nvPr/>
        </p:nvSpPr>
        <p:spPr>
          <a:xfrm>
            <a:off x="11475720" y="6199632"/>
            <a:ext cx="566928" cy="566928"/>
          </a:xfrm>
          <a:prstGeom prst="rect">
            <a:avLst/>
          </a:prstGeom>
          <a:noFill/>
          <a:ln/>
        </p:spPr>
        <p:txBody>
          <a:bodyPr wrap="square" lIns="0" tIns="0" rIns="0" bIns="0" rtlCol="0" anchor="ctr"/>
          <a:lstStyle/>
          <a:p>
            <a:pPr algn="ctr" indent="0" marL="0">
              <a:buNone/>
            </a:pPr>
            <a:r>
              <a:rPr lang="en-US" sz="1500" b="1" dirty="0">
                <a:solidFill>
                  <a:srgbClr val="13205C"/>
                </a:solidFill>
                <a:latin typeface="Cambria" pitchFamily="34" charset="0"/>
                <a:ea typeface="Cambria" pitchFamily="34" charset="-122"/>
                <a:cs typeface="Cambria" pitchFamily="34" charset="-120"/>
              </a:rPr>
              <a:t>10</a:t>
            </a:r>
            <a:endParaRPr lang="en-US" sz="1500" dirty="0"/>
          </a:p>
        </p:txBody>
      </p:sp>
      <p:sp>
        <p:nvSpPr>
          <p:cNvPr id="10" name="Shape 8"/>
          <p:cNvSpPr/>
          <p:nvPr/>
        </p:nvSpPr>
        <p:spPr>
          <a:xfrm>
            <a:off x="2926080" y="1737360"/>
            <a:ext cx="2093976" cy="502920"/>
          </a:xfrm>
          <a:prstGeom prst="rect">
            <a:avLst/>
          </a:prstGeom>
          <a:solidFill>
            <a:srgbClr val="13205C"/>
          </a:solidFill>
          <a:ln/>
        </p:spPr>
      </p:sp>
      <p:sp>
        <p:nvSpPr>
          <p:cNvPr id="11" name="Text 9"/>
          <p:cNvSpPr txBox="1"/>
          <p:nvPr/>
        </p:nvSpPr>
        <p:spPr>
          <a:xfrm>
            <a:off x="2926080" y="1737360"/>
            <a:ext cx="2093976" cy="502920"/>
          </a:xfrm>
          <a:prstGeom prst="rect">
            <a:avLst/>
          </a:prstGeom>
          <a:noFill/>
          <a:ln/>
        </p:spPr>
        <p:txBody>
          <a:bodyPr wrap="square" lIns="0" tIns="0" rIns="0" bIns="0" rtlCol="0" anchor="ctr"/>
          <a:lstStyle/>
          <a:p>
            <a:pPr algn="ctr" indent="0" marL="0">
              <a:lnSpc>
                <a:spcPts val="1100"/>
              </a:lnSpc>
              <a:buNone/>
            </a:pPr>
            <a:r>
              <a:rPr lang="en-US" sz="950" b="1" dirty="0">
                <a:solidFill>
                  <a:srgbClr val="FFFFFF"/>
                </a:solidFill>
                <a:latin typeface="Calibri" pitchFamily="34" charset="0"/>
                <a:ea typeface="Calibri" pitchFamily="34" charset="-122"/>
                <a:cs typeface="Calibri" pitchFamily="34" charset="-120"/>
              </a:rPr>
              <a:t>Both</a:t>
            </a:r>
            <a:endParaRPr lang="en-US" sz="950" dirty="0"/>
          </a:p>
          <a:p>
            <a:pPr algn="ctr" indent="0" marL="0">
              <a:lnSpc>
                <a:spcPts val="1100"/>
              </a:lnSpc>
              <a:buNone/>
            </a:pPr>
            <a:r>
              <a:rPr lang="en-US" sz="950" b="1" dirty="0">
                <a:solidFill>
                  <a:srgbClr val="FFFFFF"/>
                </a:solidFill>
                <a:latin typeface="Calibri" pitchFamily="34" charset="0"/>
                <a:ea typeface="Calibri" pitchFamily="34" charset="-122"/>
                <a:cs typeface="Calibri" pitchFamily="34" charset="-120"/>
              </a:rPr>
              <a:t>Categories</a:t>
            </a:r>
            <a:endParaRPr lang="en-US" sz="950" dirty="0"/>
          </a:p>
        </p:txBody>
      </p:sp>
      <p:sp>
        <p:nvSpPr>
          <p:cNvPr id="12" name="Shape 10"/>
          <p:cNvSpPr/>
          <p:nvPr/>
        </p:nvSpPr>
        <p:spPr>
          <a:xfrm>
            <a:off x="5074920" y="1737360"/>
            <a:ext cx="2093976" cy="502920"/>
          </a:xfrm>
          <a:prstGeom prst="rect">
            <a:avLst/>
          </a:prstGeom>
          <a:solidFill>
            <a:srgbClr val="13205C"/>
          </a:solidFill>
          <a:ln/>
        </p:spPr>
      </p:sp>
      <p:sp>
        <p:nvSpPr>
          <p:cNvPr id="13" name="Text 11"/>
          <p:cNvSpPr txBox="1"/>
          <p:nvPr/>
        </p:nvSpPr>
        <p:spPr>
          <a:xfrm>
            <a:off x="5074920" y="1737360"/>
            <a:ext cx="2093976" cy="502920"/>
          </a:xfrm>
          <a:prstGeom prst="rect">
            <a:avLst/>
          </a:prstGeom>
          <a:noFill/>
          <a:ln/>
        </p:spPr>
        <p:txBody>
          <a:bodyPr wrap="square" lIns="0" tIns="0" rIns="0" bIns="0" rtlCol="0" anchor="ctr"/>
          <a:lstStyle/>
          <a:p>
            <a:pPr algn="ctr" indent="0" marL="0">
              <a:lnSpc>
                <a:spcPts val="1100"/>
              </a:lnSpc>
              <a:buNone/>
            </a:pPr>
            <a:r>
              <a:rPr lang="en-US" sz="950" b="1" dirty="0">
                <a:solidFill>
                  <a:srgbClr val="FFFFFF"/>
                </a:solidFill>
                <a:latin typeface="Calibri" pitchFamily="34" charset="0"/>
                <a:ea typeface="Calibri" pitchFamily="34" charset="-122"/>
                <a:cs typeface="Calibri" pitchFamily="34" charset="-120"/>
              </a:rPr>
              <a:t>Verifiable</a:t>
            </a:r>
            <a:endParaRPr lang="en-US" sz="950" dirty="0"/>
          </a:p>
          <a:p>
            <a:pPr algn="ctr" indent="0" marL="0">
              <a:lnSpc>
                <a:spcPts val="1100"/>
              </a:lnSpc>
              <a:buNone/>
            </a:pPr>
            <a:r>
              <a:rPr lang="en-US" sz="950" b="1" dirty="0">
                <a:solidFill>
                  <a:srgbClr val="FFFFFF"/>
                </a:solidFill>
                <a:latin typeface="Calibri" pitchFamily="34" charset="0"/>
                <a:ea typeface="Calibri" pitchFamily="34" charset="-122"/>
                <a:cs typeface="Calibri" pitchFamily="34" charset="-120"/>
              </a:rPr>
              <a:t>Repair</a:t>
            </a:r>
            <a:endParaRPr lang="en-US" sz="950" dirty="0"/>
          </a:p>
        </p:txBody>
      </p:sp>
      <p:sp>
        <p:nvSpPr>
          <p:cNvPr id="14" name="Shape 12"/>
          <p:cNvSpPr/>
          <p:nvPr/>
        </p:nvSpPr>
        <p:spPr>
          <a:xfrm>
            <a:off x="7223760" y="1737360"/>
            <a:ext cx="2093976" cy="502920"/>
          </a:xfrm>
          <a:prstGeom prst="rect">
            <a:avLst/>
          </a:prstGeom>
          <a:solidFill>
            <a:srgbClr val="13205C"/>
          </a:solidFill>
          <a:ln/>
        </p:spPr>
      </p:sp>
      <p:sp>
        <p:nvSpPr>
          <p:cNvPr id="15" name="Text 13"/>
          <p:cNvSpPr txBox="1"/>
          <p:nvPr/>
        </p:nvSpPr>
        <p:spPr>
          <a:xfrm>
            <a:off x="7223760" y="1737360"/>
            <a:ext cx="2093976" cy="502920"/>
          </a:xfrm>
          <a:prstGeom prst="rect">
            <a:avLst/>
          </a:prstGeom>
          <a:noFill/>
          <a:ln/>
        </p:spPr>
        <p:txBody>
          <a:bodyPr wrap="square" lIns="0" tIns="0" rIns="0" bIns="0" rtlCol="0" anchor="ctr"/>
          <a:lstStyle/>
          <a:p>
            <a:pPr algn="ctr" indent="0" marL="0">
              <a:lnSpc>
                <a:spcPts val="1100"/>
              </a:lnSpc>
              <a:buNone/>
            </a:pPr>
            <a:r>
              <a:rPr lang="en-US" sz="950" b="1" dirty="0">
                <a:solidFill>
                  <a:srgbClr val="FFFFFF"/>
                </a:solidFill>
                <a:latin typeface="Calibri" pitchFamily="34" charset="0"/>
                <a:ea typeface="Calibri" pitchFamily="34" charset="-122"/>
                <a:cs typeface="Calibri" pitchFamily="34" charset="-120"/>
              </a:rPr>
              <a:t>&lt; 2s</a:t>
            </a:r>
            <a:endParaRPr lang="en-US" sz="950" dirty="0"/>
          </a:p>
          <a:p>
            <a:pPr algn="ctr" indent="0" marL="0">
              <a:lnSpc>
                <a:spcPts val="1100"/>
              </a:lnSpc>
              <a:buNone/>
            </a:pPr>
            <a:r>
              <a:rPr lang="en-US" sz="950" b="1" dirty="0">
                <a:solidFill>
                  <a:srgbClr val="FFFFFF"/>
                </a:solidFill>
                <a:latin typeface="Calibri" pitchFamily="34" charset="0"/>
                <a:ea typeface="Calibri" pitchFamily="34" charset="-122"/>
                <a:cs typeface="Calibri" pitchFamily="34" charset="-120"/>
              </a:rPr>
              <a:t>Real-Time</a:t>
            </a:r>
            <a:endParaRPr lang="en-US" sz="950" dirty="0"/>
          </a:p>
        </p:txBody>
      </p:sp>
      <p:sp>
        <p:nvSpPr>
          <p:cNvPr id="16" name="Shape 14"/>
          <p:cNvSpPr/>
          <p:nvPr/>
        </p:nvSpPr>
        <p:spPr>
          <a:xfrm>
            <a:off x="9372600" y="1737360"/>
            <a:ext cx="2093976" cy="502920"/>
          </a:xfrm>
          <a:prstGeom prst="rect">
            <a:avLst/>
          </a:prstGeom>
          <a:solidFill>
            <a:srgbClr val="13205C"/>
          </a:solidFill>
          <a:ln/>
        </p:spPr>
      </p:sp>
      <p:sp>
        <p:nvSpPr>
          <p:cNvPr id="17" name="Text 15"/>
          <p:cNvSpPr txBox="1"/>
          <p:nvPr/>
        </p:nvSpPr>
        <p:spPr>
          <a:xfrm>
            <a:off x="9372600" y="1737360"/>
            <a:ext cx="2093976" cy="502920"/>
          </a:xfrm>
          <a:prstGeom prst="rect">
            <a:avLst/>
          </a:prstGeom>
          <a:noFill/>
          <a:ln/>
        </p:spPr>
        <p:txBody>
          <a:bodyPr wrap="square" lIns="0" tIns="0" rIns="0" bIns="0" rtlCol="0" anchor="ctr"/>
          <a:lstStyle/>
          <a:p>
            <a:pPr algn="ctr" indent="0" marL="0">
              <a:lnSpc>
                <a:spcPts val="1100"/>
              </a:lnSpc>
              <a:buNone/>
            </a:pPr>
            <a:r>
              <a:rPr lang="en-US" sz="950" b="1" dirty="0">
                <a:solidFill>
                  <a:srgbClr val="FFFFFF"/>
                </a:solidFill>
                <a:latin typeface="Calibri" pitchFamily="34" charset="0"/>
                <a:ea typeface="Calibri" pitchFamily="34" charset="-122"/>
                <a:cs typeface="Calibri" pitchFamily="34" charset="-120"/>
              </a:rPr>
              <a:t>Automotive-</a:t>
            </a:r>
            <a:endParaRPr lang="en-US" sz="950" dirty="0"/>
          </a:p>
          <a:p>
            <a:pPr algn="ctr" indent="0" marL="0">
              <a:lnSpc>
                <a:spcPts val="1100"/>
              </a:lnSpc>
              <a:buNone/>
            </a:pPr>
            <a:r>
              <a:rPr lang="en-US" sz="950" b="1" dirty="0">
                <a:solidFill>
                  <a:srgbClr val="FFFFFF"/>
                </a:solidFill>
                <a:latin typeface="Calibri" pitchFamily="34" charset="0"/>
                <a:ea typeface="Calibri" pitchFamily="34" charset="-122"/>
                <a:cs typeface="Calibri" pitchFamily="34" charset="-120"/>
              </a:rPr>
              <a:t>Specific</a:t>
            </a:r>
            <a:endParaRPr lang="en-US" sz="950" dirty="0"/>
          </a:p>
        </p:txBody>
      </p:sp>
      <p:sp>
        <p:nvSpPr>
          <p:cNvPr id="18" name="Shape 16"/>
          <p:cNvSpPr/>
          <p:nvPr/>
        </p:nvSpPr>
        <p:spPr>
          <a:xfrm>
            <a:off x="548640" y="2286000"/>
            <a:ext cx="2304288" cy="777240"/>
          </a:xfrm>
          <a:prstGeom prst="roundRect">
            <a:avLst>
              <a:gd name="adj" fmla="val 4706"/>
            </a:avLst>
          </a:prstGeom>
          <a:solidFill>
            <a:srgbClr val="F5F6FA"/>
          </a:solidFill>
          <a:ln w="12700">
            <a:solidFill>
              <a:srgbClr val="E4E9F5"/>
            </a:solidFill>
            <a:prstDash val="solid"/>
          </a:ln>
        </p:spPr>
      </p:sp>
      <p:sp>
        <p:nvSpPr>
          <p:cNvPr id="19" name="Text 17"/>
          <p:cNvSpPr txBox="1"/>
          <p:nvPr/>
        </p:nvSpPr>
        <p:spPr>
          <a:xfrm>
            <a:off x="548640" y="2286000"/>
            <a:ext cx="2304288" cy="777240"/>
          </a:xfrm>
          <a:prstGeom prst="rect">
            <a:avLst/>
          </a:prstGeom>
          <a:noFill/>
          <a:ln/>
        </p:spPr>
        <p:txBody>
          <a:bodyPr wrap="square" lIns="0" tIns="0" rIns="0" bIns="0" rtlCol="0" anchor="ctr"/>
          <a:lstStyle/>
          <a:p>
            <a:pPr algn="ctr" indent="0" marL="0">
              <a:buNone/>
            </a:pPr>
            <a:r>
              <a:rPr lang="en-US" sz="1100" b="1" dirty="0">
                <a:solidFill>
                  <a:srgbClr val="13205C"/>
                </a:solidFill>
                <a:latin typeface="Calibri" pitchFamily="34" charset="0"/>
                <a:ea typeface="Calibri" pitchFamily="34" charset="-122"/>
                <a:cs typeface="Calibri" pitchFamily="34" charset="-120"/>
              </a:rPr>
              <a:t>SelfCheckGPT</a:t>
            </a:r>
            <a:endParaRPr lang="en-US" sz="1100" dirty="0"/>
          </a:p>
        </p:txBody>
      </p:sp>
      <p:sp>
        <p:nvSpPr>
          <p:cNvPr id="20" name="Shape 18"/>
          <p:cNvSpPr/>
          <p:nvPr/>
        </p:nvSpPr>
        <p:spPr>
          <a:xfrm>
            <a:off x="2926080" y="2286000"/>
            <a:ext cx="2093976" cy="777240"/>
          </a:xfrm>
          <a:prstGeom prst="roundRect">
            <a:avLst>
              <a:gd name="adj" fmla="val 4706"/>
            </a:avLst>
          </a:prstGeom>
          <a:solidFill>
            <a:srgbClr val="F5F6FA"/>
          </a:solidFill>
          <a:ln w="12700">
            <a:solidFill>
              <a:srgbClr val="E4E9F5"/>
            </a:solidFill>
            <a:prstDash val="solid"/>
          </a:ln>
        </p:spPr>
      </p:sp>
      <p:sp>
        <p:nvSpPr>
          <p:cNvPr id="21" name="Text 19"/>
          <p:cNvSpPr txBox="1"/>
          <p:nvPr/>
        </p:nvSpPr>
        <p:spPr>
          <a:xfrm>
            <a:off x="2926080" y="2331720"/>
            <a:ext cx="2093976" cy="411480"/>
          </a:xfrm>
          <a:prstGeom prst="rect">
            <a:avLst/>
          </a:prstGeom>
          <a:noFill/>
          <a:ln/>
        </p:spPr>
        <p:txBody>
          <a:bodyPr wrap="square" lIns="0" tIns="0" rIns="0" bIns="0" rtlCol="0" anchor="ctr"/>
          <a:lstStyle/>
          <a:p>
            <a:pPr algn="ctr" indent="0" marL="0">
              <a:buNone/>
            </a:pPr>
            <a:r>
              <a:rPr lang="en-US" sz="1500" b="1" dirty="0">
                <a:solidFill>
                  <a:srgbClr val="C0392B"/>
                </a:solidFill>
                <a:latin typeface="Calibri" pitchFamily="34" charset="0"/>
                <a:ea typeface="Calibri" pitchFamily="34" charset="-122"/>
                <a:cs typeface="Calibri" pitchFamily="34" charset="-120"/>
              </a:rPr>
              <a:t>✗</a:t>
            </a:r>
            <a:endParaRPr lang="en-US" sz="1500" dirty="0"/>
          </a:p>
        </p:txBody>
      </p:sp>
      <p:sp>
        <p:nvSpPr>
          <p:cNvPr id="22" name="Text 20"/>
          <p:cNvSpPr txBox="1"/>
          <p:nvPr/>
        </p:nvSpPr>
        <p:spPr>
          <a:xfrm>
            <a:off x="2926080" y="2724912"/>
            <a:ext cx="2093976" cy="320040"/>
          </a:xfrm>
          <a:prstGeom prst="rect">
            <a:avLst/>
          </a:prstGeom>
          <a:noFill/>
          <a:ln/>
        </p:spPr>
        <p:txBody>
          <a:bodyPr wrap="square" lIns="0" tIns="0" rIns="0" bIns="0" rtlCol="0" anchor="ctr"/>
          <a:lstStyle/>
          <a:p>
            <a:pPr algn="ctr" indent="0" marL="0">
              <a:buNone/>
            </a:pPr>
            <a:r>
              <a:rPr lang="en-US" sz="800" dirty="0">
                <a:solidFill>
                  <a:srgbClr val="5B6472"/>
                </a:solidFill>
                <a:latin typeface="Calibri" pitchFamily="34" charset="0"/>
                <a:ea typeface="Calibri" pitchFamily="34" charset="-122"/>
                <a:cs typeface="Calibri" pitchFamily="34" charset="-120"/>
              </a:rPr>
              <a:t>general check</a:t>
            </a:r>
            <a:endParaRPr lang="en-US" sz="800" dirty="0"/>
          </a:p>
        </p:txBody>
      </p:sp>
      <p:sp>
        <p:nvSpPr>
          <p:cNvPr id="23" name="Shape 21"/>
          <p:cNvSpPr/>
          <p:nvPr/>
        </p:nvSpPr>
        <p:spPr>
          <a:xfrm>
            <a:off x="5074920" y="2286000"/>
            <a:ext cx="2093976" cy="777240"/>
          </a:xfrm>
          <a:prstGeom prst="roundRect">
            <a:avLst>
              <a:gd name="adj" fmla="val 4706"/>
            </a:avLst>
          </a:prstGeom>
          <a:solidFill>
            <a:srgbClr val="F5F6FA"/>
          </a:solidFill>
          <a:ln w="12700">
            <a:solidFill>
              <a:srgbClr val="E4E9F5"/>
            </a:solidFill>
            <a:prstDash val="solid"/>
          </a:ln>
        </p:spPr>
      </p:sp>
      <p:sp>
        <p:nvSpPr>
          <p:cNvPr id="24" name="Text 22"/>
          <p:cNvSpPr txBox="1"/>
          <p:nvPr/>
        </p:nvSpPr>
        <p:spPr>
          <a:xfrm>
            <a:off x="5074920" y="2331720"/>
            <a:ext cx="2093976" cy="411480"/>
          </a:xfrm>
          <a:prstGeom prst="rect">
            <a:avLst/>
          </a:prstGeom>
          <a:noFill/>
          <a:ln/>
        </p:spPr>
        <p:txBody>
          <a:bodyPr wrap="square" lIns="0" tIns="0" rIns="0" bIns="0" rtlCol="0" anchor="ctr"/>
          <a:lstStyle/>
          <a:p>
            <a:pPr algn="ctr" indent="0" marL="0">
              <a:buNone/>
            </a:pPr>
            <a:r>
              <a:rPr lang="en-US" sz="1500" b="1" dirty="0">
                <a:solidFill>
                  <a:srgbClr val="C0392B"/>
                </a:solidFill>
                <a:latin typeface="Calibri" pitchFamily="34" charset="0"/>
                <a:ea typeface="Calibri" pitchFamily="34" charset="-122"/>
                <a:cs typeface="Calibri" pitchFamily="34" charset="-120"/>
              </a:rPr>
              <a:t>✗</a:t>
            </a:r>
            <a:endParaRPr lang="en-US" sz="1500" dirty="0"/>
          </a:p>
        </p:txBody>
      </p:sp>
      <p:sp>
        <p:nvSpPr>
          <p:cNvPr id="25" name="Text 23"/>
          <p:cNvSpPr txBox="1"/>
          <p:nvPr/>
        </p:nvSpPr>
        <p:spPr>
          <a:xfrm>
            <a:off x="5074920" y="2724912"/>
            <a:ext cx="2093976" cy="320040"/>
          </a:xfrm>
          <a:prstGeom prst="rect">
            <a:avLst/>
          </a:prstGeom>
          <a:noFill/>
          <a:ln/>
        </p:spPr>
        <p:txBody>
          <a:bodyPr wrap="square" lIns="0" tIns="0" rIns="0" bIns="0" rtlCol="0" anchor="ctr"/>
          <a:lstStyle/>
          <a:p>
            <a:pPr algn="ctr" indent="0" marL="0">
              <a:buNone/>
            </a:pPr>
            <a:r>
              <a:rPr lang="en-US" sz="800" dirty="0">
                <a:solidFill>
                  <a:srgbClr val="5B6472"/>
                </a:solidFill>
                <a:latin typeface="Calibri" pitchFamily="34" charset="0"/>
                <a:ea typeface="Calibri" pitchFamily="34" charset="-122"/>
                <a:cs typeface="Calibri" pitchFamily="34" charset="-120"/>
              </a:rPr>
              <a:t>detect only</a:t>
            </a:r>
            <a:endParaRPr lang="en-US" sz="800" dirty="0"/>
          </a:p>
        </p:txBody>
      </p:sp>
      <p:sp>
        <p:nvSpPr>
          <p:cNvPr id="26" name="Shape 24"/>
          <p:cNvSpPr/>
          <p:nvPr/>
        </p:nvSpPr>
        <p:spPr>
          <a:xfrm>
            <a:off x="7223760" y="2286000"/>
            <a:ext cx="2093976" cy="777240"/>
          </a:xfrm>
          <a:prstGeom prst="roundRect">
            <a:avLst>
              <a:gd name="adj" fmla="val 4706"/>
            </a:avLst>
          </a:prstGeom>
          <a:solidFill>
            <a:srgbClr val="F5F6FA"/>
          </a:solidFill>
          <a:ln w="12700">
            <a:solidFill>
              <a:srgbClr val="E4E9F5"/>
            </a:solidFill>
            <a:prstDash val="solid"/>
          </a:ln>
        </p:spPr>
      </p:sp>
      <p:sp>
        <p:nvSpPr>
          <p:cNvPr id="27" name="Text 25"/>
          <p:cNvSpPr txBox="1"/>
          <p:nvPr/>
        </p:nvSpPr>
        <p:spPr>
          <a:xfrm>
            <a:off x="7223760" y="2331720"/>
            <a:ext cx="2093976" cy="411480"/>
          </a:xfrm>
          <a:prstGeom prst="rect">
            <a:avLst/>
          </a:prstGeom>
          <a:noFill/>
          <a:ln/>
        </p:spPr>
        <p:txBody>
          <a:bodyPr wrap="square" lIns="0" tIns="0" rIns="0" bIns="0" rtlCol="0" anchor="ctr"/>
          <a:lstStyle/>
          <a:p>
            <a:pPr algn="ctr" indent="0" marL="0">
              <a:buNone/>
            </a:pPr>
            <a:r>
              <a:rPr lang="en-US" sz="1500" b="1" dirty="0">
                <a:solidFill>
                  <a:srgbClr val="C0392B"/>
                </a:solidFill>
                <a:latin typeface="Calibri" pitchFamily="34" charset="0"/>
                <a:ea typeface="Calibri" pitchFamily="34" charset="-122"/>
                <a:cs typeface="Calibri" pitchFamily="34" charset="-120"/>
              </a:rPr>
              <a:t>✗</a:t>
            </a:r>
            <a:endParaRPr lang="en-US" sz="1500" dirty="0"/>
          </a:p>
        </p:txBody>
      </p:sp>
      <p:sp>
        <p:nvSpPr>
          <p:cNvPr id="28" name="Text 26"/>
          <p:cNvSpPr txBox="1"/>
          <p:nvPr/>
        </p:nvSpPr>
        <p:spPr>
          <a:xfrm>
            <a:off x="7223760" y="2724912"/>
            <a:ext cx="2093976" cy="320040"/>
          </a:xfrm>
          <a:prstGeom prst="rect">
            <a:avLst/>
          </a:prstGeom>
          <a:noFill/>
          <a:ln/>
        </p:spPr>
        <p:txBody>
          <a:bodyPr wrap="square" lIns="0" tIns="0" rIns="0" bIns="0" rtlCol="0" anchor="ctr"/>
          <a:lstStyle/>
          <a:p>
            <a:pPr algn="ctr" indent="0" marL="0">
              <a:buNone/>
            </a:pPr>
            <a:r>
              <a:rPr lang="en-US" sz="800" dirty="0">
                <a:solidFill>
                  <a:srgbClr val="5B6472"/>
                </a:solidFill>
                <a:latin typeface="Calibri" pitchFamily="34" charset="0"/>
                <a:ea typeface="Calibri" pitchFamily="34" charset="-122"/>
                <a:cs typeface="Calibri" pitchFamily="34" charset="-120"/>
              </a:rPr>
              <a:t>1.5–4 s</a:t>
            </a:r>
            <a:endParaRPr lang="en-US" sz="800" dirty="0"/>
          </a:p>
        </p:txBody>
      </p:sp>
      <p:sp>
        <p:nvSpPr>
          <p:cNvPr id="29" name="Shape 27"/>
          <p:cNvSpPr/>
          <p:nvPr/>
        </p:nvSpPr>
        <p:spPr>
          <a:xfrm>
            <a:off x="9372600" y="2286000"/>
            <a:ext cx="2093976" cy="777240"/>
          </a:xfrm>
          <a:prstGeom prst="roundRect">
            <a:avLst>
              <a:gd name="adj" fmla="val 4706"/>
            </a:avLst>
          </a:prstGeom>
          <a:solidFill>
            <a:srgbClr val="F5F6FA"/>
          </a:solidFill>
          <a:ln w="12700">
            <a:solidFill>
              <a:srgbClr val="E4E9F5"/>
            </a:solidFill>
            <a:prstDash val="solid"/>
          </a:ln>
        </p:spPr>
      </p:sp>
      <p:sp>
        <p:nvSpPr>
          <p:cNvPr id="30" name="Text 28"/>
          <p:cNvSpPr txBox="1"/>
          <p:nvPr/>
        </p:nvSpPr>
        <p:spPr>
          <a:xfrm>
            <a:off x="9372600" y="2331720"/>
            <a:ext cx="2093976" cy="411480"/>
          </a:xfrm>
          <a:prstGeom prst="rect">
            <a:avLst/>
          </a:prstGeom>
          <a:noFill/>
          <a:ln/>
        </p:spPr>
        <p:txBody>
          <a:bodyPr wrap="square" lIns="0" tIns="0" rIns="0" bIns="0" rtlCol="0" anchor="ctr"/>
          <a:lstStyle/>
          <a:p>
            <a:pPr algn="ctr" indent="0" marL="0">
              <a:buNone/>
            </a:pPr>
            <a:r>
              <a:rPr lang="en-US" sz="1500" b="1" dirty="0">
                <a:solidFill>
                  <a:srgbClr val="5B6472"/>
                </a:solidFill>
                <a:latin typeface="Calibri" pitchFamily="34" charset="0"/>
                <a:ea typeface="Calibri" pitchFamily="34" charset="-122"/>
                <a:cs typeface="Calibri" pitchFamily="34" charset="-120"/>
              </a:rPr>
              <a:t>~</a:t>
            </a:r>
            <a:endParaRPr lang="en-US" sz="1500" dirty="0"/>
          </a:p>
        </p:txBody>
      </p:sp>
      <p:sp>
        <p:nvSpPr>
          <p:cNvPr id="31" name="Text 29"/>
          <p:cNvSpPr txBox="1"/>
          <p:nvPr/>
        </p:nvSpPr>
        <p:spPr>
          <a:xfrm>
            <a:off x="9372600" y="2724912"/>
            <a:ext cx="2093976" cy="320040"/>
          </a:xfrm>
          <a:prstGeom prst="rect">
            <a:avLst/>
          </a:prstGeom>
          <a:noFill/>
          <a:ln/>
        </p:spPr>
        <p:txBody>
          <a:bodyPr wrap="square" lIns="0" tIns="0" rIns="0" bIns="0" rtlCol="0" anchor="ctr"/>
          <a:lstStyle/>
          <a:p>
            <a:pPr algn="ctr" indent="0" marL="0">
              <a:buNone/>
            </a:pPr>
            <a:r>
              <a:rPr lang="en-US" sz="800" dirty="0">
                <a:solidFill>
                  <a:srgbClr val="5B6472"/>
                </a:solidFill>
                <a:latin typeface="Calibri" pitchFamily="34" charset="0"/>
                <a:ea typeface="Calibri" pitchFamily="34" charset="-122"/>
                <a:cs typeface="Calibri" pitchFamily="34" charset="-120"/>
              </a:rPr>
              <a:t>ADAS only</a:t>
            </a:r>
            <a:endParaRPr lang="en-US" sz="800" dirty="0"/>
          </a:p>
        </p:txBody>
      </p:sp>
      <p:sp>
        <p:nvSpPr>
          <p:cNvPr id="32" name="Shape 30"/>
          <p:cNvSpPr/>
          <p:nvPr/>
        </p:nvSpPr>
        <p:spPr>
          <a:xfrm>
            <a:off x="548640" y="3127248"/>
            <a:ext cx="2304288" cy="777240"/>
          </a:xfrm>
          <a:prstGeom prst="roundRect">
            <a:avLst>
              <a:gd name="adj" fmla="val 4706"/>
            </a:avLst>
          </a:prstGeom>
          <a:solidFill>
            <a:srgbClr val="F5F6FA"/>
          </a:solidFill>
          <a:ln w="12700">
            <a:solidFill>
              <a:srgbClr val="E4E9F5"/>
            </a:solidFill>
            <a:prstDash val="solid"/>
          </a:ln>
        </p:spPr>
      </p:sp>
      <p:sp>
        <p:nvSpPr>
          <p:cNvPr id="33" name="Text 31"/>
          <p:cNvSpPr txBox="1"/>
          <p:nvPr/>
        </p:nvSpPr>
        <p:spPr>
          <a:xfrm>
            <a:off x="548640" y="3127248"/>
            <a:ext cx="2304288" cy="777240"/>
          </a:xfrm>
          <a:prstGeom prst="rect">
            <a:avLst/>
          </a:prstGeom>
          <a:noFill/>
          <a:ln/>
        </p:spPr>
        <p:txBody>
          <a:bodyPr wrap="square" lIns="0" tIns="0" rIns="0" bIns="0" rtlCol="0" anchor="ctr"/>
          <a:lstStyle/>
          <a:p>
            <a:pPr algn="ctr" indent="0" marL="0">
              <a:buNone/>
            </a:pPr>
            <a:r>
              <a:rPr lang="en-US" sz="1100" b="1" dirty="0">
                <a:solidFill>
                  <a:srgbClr val="13205C"/>
                </a:solidFill>
                <a:latin typeface="Calibri" pitchFamily="34" charset="0"/>
                <a:ea typeface="Calibri" pitchFamily="34" charset="-122"/>
                <a:cs typeface="Calibri" pitchFamily="34" charset="-120"/>
              </a:rPr>
              <a:t>AST Validation</a:t>
            </a:r>
            <a:endParaRPr lang="en-US" sz="1100" dirty="0"/>
          </a:p>
        </p:txBody>
      </p:sp>
      <p:sp>
        <p:nvSpPr>
          <p:cNvPr id="34" name="Shape 32"/>
          <p:cNvSpPr/>
          <p:nvPr/>
        </p:nvSpPr>
        <p:spPr>
          <a:xfrm>
            <a:off x="2926080" y="3127248"/>
            <a:ext cx="2093976" cy="777240"/>
          </a:xfrm>
          <a:prstGeom prst="roundRect">
            <a:avLst>
              <a:gd name="adj" fmla="val 4706"/>
            </a:avLst>
          </a:prstGeom>
          <a:solidFill>
            <a:srgbClr val="F5F6FA"/>
          </a:solidFill>
          <a:ln w="12700">
            <a:solidFill>
              <a:srgbClr val="E4E9F5"/>
            </a:solidFill>
            <a:prstDash val="solid"/>
          </a:ln>
        </p:spPr>
      </p:sp>
      <p:sp>
        <p:nvSpPr>
          <p:cNvPr id="35" name="Text 33"/>
          <p:cNvSpPr txBox="1"/>
          <p:nvPr/>
        </p:nvSpPr>
        <p:spPr>
          <a:xfrm>
            <a:off x="2926080" y="3172968"/>
            <a:ext cx="2093976" cy="411480"/>
          </a:xfrm>
          <a:prstGeom prst="rect">
            <a:avLst/>
          </a:prstGeom>
          <a:noFill/>
          <a:ln/>
        </p:spPr>
        <p:txBody>
          <a:bodyPr wrap="square" lIns="0" tIns="0" rIns="0" bIns="0" rtlCol="0" anchor="ctr"/>
          <a:lstStyle/>
          <a:p>
            <a:pPr algn="ctr" indent="0" marL="0">
              <a:buNone/>
            </a:pPr>
            <a:r>
              <a:rPr lang="en-US" sz="1500" b="1" dirty="0">
                <a:solidFill>
                  <a:srgbClr val="C0392B"/>
                </a:solidFill>
                <a:latin typeface="Calibri" pitchFamily="34" charset="0"/>
                <a:ea typeface="Calibri" pitchFamily="34" charset="-122"/>
                <a:cs typeface="Calibri" pitchFamily="34" charset="-120"/>
              </a:rPr>
              <a:t>✗</a:t>
            </a:r>
            <a:endParaRPr lang="en-US" sz="1500" dirty="0"/>
          </a:p>
        </p:txBody>
      </p:sp>
      <p:sp>
        <p:nvSpPr>
          <p:cNvPr id="36" name="Text 34"/>
          <p:cNvSpPr txBox="1"/>
          <p:nvPr/>
        </p:nvSpPr>
        <p:spPr>
          <a:xfrm>
            <a:off x="2926080" y="3566160"/>
            <a:ext cx="2093976" cy="320040"/>
          </a:xfrm>
          <a:prstGeom prst="rect">
            <a:avLst/>
          </a:prstGeom>
          <a:noFill/>
          <a:ln/>
        </p:spPr>
        <p:txBody>
          <a:bodyPr wrap="square" lIns="0" tIns="0" rIns="0" bIns="0" rtlCol="0" anchor="ctr"/>
          <a:lstStyle/>
          <a:p>
            <a:pPr algn="ctr" indent="0" marL="0">
              <a:buNone/>
            </a:pPr>
            <a:r>
              <a:rPr lang="en-US" sz="800" dirty="0">
                <a:solidFill>
                  <a:srgbClr val="5B6472"/>
                </a:solidFill>
                <a:latin typeface="Calibri" pitchFamily="34" charset="0"/>
                <a:ea typeface="Calibri" pitchFamily="34" charset="-122"/>
                <a:cs typeface="Calibri" pitchFamily="34" charset="-120"/>
              </a:rPr>
              <a:t>code only</a:t>
            </a:r>
            <a:endParaRPr lang="en-US" sz="800" dirty="0"/>
          </a:p>
        </p:txBody>
      </p:sp>
      <p:sp>
        <p:nvSpPr>
          <p:cNvPr id="37" name="Shape 35"/>
          <p:cNvSpPr/>
          <p:nvPr/>
        </p:nvSpPr>
        <p:spPr>
          <a:xfrm>
            <a:off x="5074920" y="3127248"/>
            <a:ext cx="2093976" cy="777240"/>
          </a:xfrm>
          <a:prstGeom prst="roundRect">
            <a:avLst>
              <a:gd name="adj" fmla="val 4706"/>
            </a:avLst>
          </a:prstGeom>
          <a:solidFill>
            <a:srgbClr val="F5F6FA"/>
          </a:solidFill>
          <a:ln w="12700">
            <a:solidFill>
              <a:srgbClr val="E4E9F5"/>
            </a:solidFill>
            <a:prstDash val="solid"/>
          </a:ln>
        </p:spPr>
      </p:sp>
      <p:sp>
        <p:nvSpPr>
          <p:cNvPr id="38" name="Text 36"/>
          <p:cNvSpPr txBox="1"/>
          <p:nvPr/>
        </p:nvSpPr>
        <p:spPr>
          <a:xfrm>
            <a:off x="5074920" y="3172968"/>
            <a:ext cx="2093976" cy="411480"/>
          </a:xfrm>
          <a:prstGeom prst="rect">
            <a:avLst/>
          </a:prstGeom>
          <a:noFill/>
          <a:ln/>
        </p:spPr>
        <p:txBody>
          <a:bodyPr wrap="square" lIns="0" tIns="0" rIns="0" bIns="0" rtlCol="0" anchor="ctr"/>
          <a:lstStyle/>
          <a:p>
            <a:pPr algn="ctr" indent="0" marL="0">
              <a:buNone/>
            </a:pPr>
            <a:r>
              <a:rPr lang="en-US" sz="1500" b="1" dirty="0">
                <a:solidFill>
                  <a:srgbClr val="1F9D63"/>
                </a:solidFill>
                <a:latin typeface="Calibri" pitchFamily="34" charset="0"/>
                <a:ea typeface="Calibri" pitchFamily="34" charset="-122"/>
                <a:cs typeface="Calibri" pitchFamily="34" charset="-120"/>
              </a:rPr>
              <a:t>✓</a:t>
            </a:r>
            <a:endParaRPr lang="en-US" sz="1500" dirty="0"/>
          </a:p>
        </p:txBody>
      </p:sp>
      <p:sp>
        <p:nvSpPr>
          <p:cNvPr id="39" name="Text 37"/>
          <p:cNvSpPr txBox="1"/>
          <p:nvPr/>
        </p:nvSpPr>
        <p:spPr>
          <a:xfrm>
            <a:off x="5074920" y="3566160"/>
            <a:ext cx="2093976" cy="320040"/>
          </a:xfrm>
          <a:prstGeom prst="rect">
            <a:avLst/>
          </a:prstGeom>
          <a:noFill/>
          <a:ln/>
        </p:spPr>
        <p:txBody>
          <a:bodyPr wrap="square" lIns="0" tIns="0" rIns="0" bIns="0" rtlCol="0" anchor="ctr"/>
          <a:lstStyle/>
          <a:p>
            <a:pPr algn="ctr" indent="0" marL="0">
              <a:buNone/>
            </a:pPr>
            <a:r>
              <a:rPr lang="en-US" sz="800" dirty="0">
                <a:solidFill>
                  <a:srgbClr val="5B6472"/>
                </a:solidFill>
                <a:latin typeface="Calibri" pitchFamily="34" charset="0"/>
                <a:ea typeface="Calibri" pitchFamily="34" charset="-122"/>
                <a:cs typeface="Calibri" pitchFamily="34" charset="-120"/>
              </a:rPr>
              <a:t>code fixes</a:t>
            </a:r>
            <a:endParaRPr lang="en-US" sz="800" dirty="0"/>
          </a:p>
        </p:txBody>
      </p:sp>
      <p:sp>
        <p:nvSpPr>
          <p:cNvPr id="40" name="Shape 38"/>
          <p:cNvSpPr/>
          <p:nvPr/>
        </p:nvSpPr>
        <p:spPr>
          <a:xfrm>
            <a:off x="7223760" y="3127248"/>
            <a:ext cx="2093976" cy="777240"/>
          </a:xfrm>
          <a:prstGeom prst="roundRect">
            <a:avLst>
              <a:gd name="adj" fmla="val 4706"/>
            </a:avLst>
          </a:prstGeom>
          <a:solidFill>
            <a:srgbClr val="F5F6FA"/>
          </a:solidFill>
          <a:ln w="12700">
            <a:solidFill>
              <a:srgbClr val="E4E9F5"/>
            </a:solidFill>
            <a:prstDash val="solid"/>
          </a:ln>
        </p:spPr>
      </p:sp>
      <p:sp>
        <p:nvSpPr>
          <p:cNvPr id="41" name="Text 39"/>
          <p:cNvSpPr txBox="1"/>
          <p:nvPr/>
        </p:nvSpPr>
        <p:spPr>
          <a:xfrm>
            <a:off x="7223760" y="3172968"/>
            <a:ext cx="2093976" cy="411480"/>
          </a:xfrm>
          <a:prstGeom prst="rect">
            <a:avLst/>
          </a:prstGeom>
          <a:noFill/>
          <a:ln/>
        </p:spPr>
        <p:txBody>
          <a:bodyPr wrap="square" lIns="0" tIns="0" rIns="0" bIns="0" rtlCol="0" anchor="ctr"/>
          <a:lstStyle/>
          <a:p>
            <a:pPr algn="ctr" indent="0" marL="0">
              <a:buNone/>
            </a:pPr>
            <a:r>
              <a:rPr lang="en-US" sz="1500" b="1" dirty="0">
                <a:solidFill>
                  <a:srgbClr val="5B6472"/>
                </a:solidFill>
                <a:latin typeface="Calibri" pitchFamily="34" charset="0"/>
                <a:ea typeface="Calibri" pitchFamily="34" charset="-122"/>
                <a:cs typeface="Calibri" pitchFamily="34" charset="-120"/>
              </a:rPr>
              <a:t>–</a:t>
            </a:r>
            <a:endParaRPr lang="en-US" sz="1500" dirty="0"/>
          </a:p>
        </p:txBody>
      </p:sp>
      <p:sp>
        <p:nvSpPr>
          <p:cNvPr id="42" name="Text 40"/>
          <p:cNvSpPr txBox="1"/>
          <p:nvPr/>
        </p:nvSpPr>
        <p:spPr>
          <a:xfrm>
            <a:off x="7223760" y="3566160"/>
            <a:ext cx="2093976" cy="320040"/>
          </a:xfrm>
          <a:prstGeom prst="rect">
            <a:avLst/>
          </a:prstGeom>
          <a:noFill/>
          <a:ln/>
        </p:spPr>
        <p:txBody>
          <a:bodyPr wrap="square" lIns="0" tIns="0" rIns="0" bIns="0" rtlCol="0" anchor="ctr"/>
          <a:lstStyle/>
          <a:p>
            <a:pPr algn="ctr" indent="0" marL="0">
              <a:buNone/>
            </a:pPr>
            <a:r>
              <a:rPr lang="en-US" sz="800" dirty="0">
                <a:solidFill>
                  <a:srgbClr val="5B6472"/>
                </a:solidFill>
                <a:latin typeface="Calibri" pitchFamily="34" charset="0"/>
                <a:ea typeface="Calibri" pitchFamily="34" charset="-122"/>
                <a:cs typeface="Calibri" pitchFamily="34" charset="-120"/>
              </a:rPr>
              <a:t>not reported</a:t>
            </a:r>
            <a:endParaRPr lang="en-US" sz="800" dirty="0"/>
          </a:p>
        </p:txBody>
      </p:sp>
      <p:sp>
        <p:nvSpPr>
          <p:cNvPr id="43" name="Shape 41"/>
          <p:cNvSpPr/>
          <p:nvPr/>
        </p:nvSpPr>
        <p:spPr>
          <a:xfrm>
            <a:off x="9372600" y="3127248"/>
            <a:ext cx="2093976" cy="777240"/>
          </a:xfrm>
          <a:prstGeom prst="roundRect">
            <a:avLst>
              <a:gd name="adj" fmla="val 4706"/>
            </a:avLst>
          </a:prstGeom>
          <a:solidFill>
            <a:srgbClr val="F5F6FA"/>
          </a:solidFill>
          <a:ln w="12700">
            <a:solidFill>
              <a:srgbClr val="E4E9F5"/>
            </a:solidFill>
            <a:prstDash val="solid"/>
          </a:ln>
        </p:spPr>
      </p:sp>
      <p:sp>
        <p:nvSpPr>
          <p:cNvPr id="44" name="Text 42"/>
          <p:cNvSpPr txBox="1"/>
          <p:nvPr/>
        </p:nvSpPr>
        <p:spPr>
          <a:xfrm>
            <a:off x="9372600" y="3172968"/>
            <a:ext cx="2093976" cy="411480"/>
          </a:xfrm>
          <a:prstGeom prst="rect">
            <a:avLst/>
          </a:prstGeom>
          <a:noFill/>
          <a:ln/>
        </p:spPr>
        <p:txBody>
          <a:bodyPr wrap="square" lIns="0" tIns="0" rIns="0" bIns="0" rtlCol="0" anchor="ctr"/>
          <a:lstStyle/>
          <a:p>
            <a:pPr algn="ctr" indent="0" marL="0">
              <a:buNone/>
            </a:pPr>
            <a:r>
              <a:rPr lang="en-US" sz="1500" b="1" dirty="0">
                <a:solidFill>
                  <a:srgbClr val="C0392B"/>
                </a:solidFill>
                <a:latin typeface="Calibri" pitchFamily="34" charset="0"/>
                <a:ea typeface="Calibri" pitchFamily="34" charset="-122"/>
                <a:cs typeface="Calibri" pitchFamily="34" charset="-120"/>
              </a:rPr>
              <a:t>✗</a:t>
            </a:r>
            <a:endParaRPr lang="en-US" sz="1500" dirty="0"/>
          </a:p>
        </p:txBody>
      </p:sp>
      <p:sp>
        <p:nvSpPr>
          <p:cNvPr id="45" name="Text 43"/>
          <p:cNvSpPr txBox="1"/>
          <p:nvPr/>
        </p:nvSpPr>
        <p:spPr>
          <a:xfrm>
            <a:off x="9372600" y="3566160"/>
            <a:ext cx="2093976" cy="320040"/>
          </a:xfrm>
          <a:prstGeom prst="rect">
            <a:avLst/>
          </a:prstGeom>
          <a:noFill/>
          <a:ln/>
        </p:spPr>
        <p:txBody>
          <a:bodyPr wrap="square" lIns="0" tIns="0" rIns="0" bIns="0" rtlCol="0" anchor="ctr"/>
          <a:lstStyle/>
          <a:p>
            <a:pPr algn="ctr" indent="0" marL="0">
              <a:buNone/>
            </a:pPr>
            <a:r>
              <a:rPr lang="en-US" sz="800" dirty="0">
                <a:solidFill>
                  <a:srgbClr val="5B6472"/>
                </a:solidFill>
                <a:latin typeface="Calibri" pitchFamily="34" charset="0"/>
                <a:ea typeface="Calibri" pitchFamily="34" charset="-122"/>
                <a:cs typeface="Calibri" pitchFamily="34" charset="-120"/>
              </a:rPr>
              <a:t>general code</a:t>
            </a:r>
            <a:endParaRPr lang="en-US" sz="800" dirty="0"/>
          </a:p>
        </p:txBody>
      </p:sp>
      <p:sp>
        <p:nvSpPr>
          <p:cNvPr id="46" name="Shape 44"/>
          <p:cNvSpPr/>
          <p:nvPr/>
        </p:nvSpPr>
        <p:spPr>
          <a:xfrm>
            <a:off x="548640" y="3968496"/>
            <a:ext cx="2304288" cy="777240"/>
          </a:xfrm>
          <a:prstGeom prst="roundRect">
            <a:avLst>
              <a:gd name="adj" fmla="val 4706"/>
            </a:avLst>
          </a:prstGeom>
          <a:solidFill>
            <a:srgbClr val="F5F6FA"/>
          </a:solidFill>
          <a:ln w="12700">
            <a:solidFill>
              <a:srgbClr val="E4E9F5"/>
            </a:solidFill>
            <a:prstDash val="solid"/>
          </a:ln>
        </p:spPr>
      </p:sp>
      <p:sp>
        <p:nvSpPr>
          <p:cNvPr id="47" name="Text 45"/>
          <p:cNvSpPr txBox="1"/>
          <p:nvPr/>
        </p:nvSpPr>
        <p:spPr>
          <a:xfrm>
            <a:off x="548640" y="3968496"/>
            <a:ext cx="2304288" cy="777240"/>
          </a:xfrm>
          <a:prstGeom prst="rect">
            <a:avLst/>
          </a:prstGeom>
          <a:noFill/>
          <a:ln/>
        </p:spPr>
        <p:txBody>
          <a:bodyPr wrap="square" lIns="0" tIns="0" rIns="0" bIns="0" rtlCol="0" anchor="ctr"/>
          <a:lstStyle/>
          <a:p>
            <a:pPr algn="ctr" indent="0" marL="0">
              <a:buNone/>
            </a:pPr>
            <a:r>
              <a:rPr lang="en-US" sz="1100" b="1" dirty="0">
                <a:solidFill>
                  <a:srgbClr val="13205C"/>
                </a:solidFill>
                <a:latin typeface="Calibri" pitchFamily="34" charset="0"/>
                <a:ea typeface="Calibri" pitchFamily="34" charset="-122"/>
                <a:cs typeface="Calibri" pitchFamily="34" charset="-120"/>
              </a:rPr>
              <a:t>Naïve RAG</a:t>
            </a:r>
            <a:endParaRPr lang="en-US" sz="1100" dirty="0"/>
          </a:p>
        </p:txBody>
      </p:sp>
      <p:sp>
        <p:nvSpPr>
          <p:cNvPr id="48" name="Shape 46"/>
          <p:cNvSpPr/>
          <p:nvPr/>
        </p:nvSpPr>
        <p:spPr>
          <a:xfrm>
            <a:off x="2926080" y="3968496"/>
            <a:ext cx="2093976" cy="777240"/>
          </a:xfrm>
          <a:prstGeom prst="roundRect">
            <a:avLst>
              <a:gd name="adj" fmla="val 4706"/>
            </a:avLst>
          </a:prstGeom>
          <a:solidFill>
            <a:srgbClr val="F5F6FA"/>
          </a:solidFill>
          <a:ln w="12700">
            <a:solidFill>
              <a:srgbClr val="E4E9F5"/>
            </a:solidFill>
            <a:prstDash val="solid"/>
          </a:ln>
        </p:spPr>
      </p:sp>
      <p:sp>
        <p:nvSpPr>
          <p:cNvPr id="49" name="Text 47"/>
          <p:cNvSpPr txBox="1"/>
          <p:nvPr/>
        </p:nvSpPr>
        <p:spPr>
          <a:xfrm>
            <a:off x="2926080" y="4014216"/>
            <a:ext cx="2093976" cy="411480"/>
          </a:xfrm>
          <a:prstGeom prst="rect">
            <a:avLst/>
          </a:prstGeom>
          <a:noFill/>
          <a:ln/>
        </p:spPr>
        <p:txBody>
          <a:bodyPr wrap="square" lIns="0" tIns="0" rIns="0" bIns="0" rtlCol="0" anchor="ctr"/>
          <a:lstStyle/>
          <a:p>
            <a:pPr algn="ctr" indent="0" marL="0">
              <a:buNone/>
            </a:pPr>
            <a:r>
              <a:rPr lang="en-US" sz="1500" b="1" dirty="0">
                <a:solidFill>
                  <a:srgbClr val="5B6472"/>
                </a:solidFill>
                <a:latin typeface="Calibri" pitchFamily="34" charset="0"/>
                <a:ea typeface="Calibri" pitchFamily="34" charset="-122"/>
                <a:cs typeface="Calibri" pitchFamily="34" charset="-120"/>
              </a:rPr>
              <a:t>–</a:t>
            </a:r>
            <a:endParaRPr lang="en-US" sz="1500" dirty="0"/>
          </a:p>
        </p:txBody>
      </p:sp>
      <p:sp>
        <p:nvSpPr>
          <p:cNvPr id="50" name="Text 48"/>
          <p:cNvSpPr txBox="1"/>
          <p:nvPr/>
        </p:nvSpPr>
        <p:spPr>
          <a:xfrm>
            <a:off x="2926080" y="4407408"/>
            <a:ext cx="2093976" cy="320040"/>
          </a:xfrm>
          <a:prstGeom prst="rect">
            <a:avLst/>
          </a:prstGeom>
          <a:noFill/>
          <a:ln/>
        </p:spPr>
        <p:txBody>
          <a:bodyPr wrap="square" lIns="0" tIns="0" rIns="0" bIns="0" rtlCol="0" anchor="ctr"/>
          <a:lstStyle/>
          <a:p>
            <a:pPr algn="ctr" indent="0" marL="0">
              <a:buNone/>
            </a:pPr>
            <a:r>
              <a:rPr lang="en-US" sz="800" dirty="0">
                <a:solidFill>
                  <a:srgbClr val="5B6472"/>
                </a:solidFill>
                <a:latin typeface="Calibri" pitchFamily="34" charset="0"/>
                <a:ea typeface="Calibri" pitchFamily="34" charset="-122"/>
                <a:cs typeface="Calibri" pitchFamily="34" charset="-120"/>
              </a:rPr>
              <a:t>not reported</a:t>
            </a:r>
            <a:endParaRPr lang="en-US" sz="800" dirty="0"/>
          </a:p>
        </p:txBody>
      </p:sp>
      <p:sp>
        <p:nvSpPr>
          <p:cNvPr id="51" name="Shape 49"/>
          <p:cNvSpPr/>
          <p:nvPr/>
        </p:nvSpPr>
        <p:spPr>
          <a:xfrm>
            <a:off x="5074920" y="3968496"/>
            <a:ext cx="2093976" cy="777240"/>
          </a:xfrm>
          <a:prstGeom prst="roundRect">
            <a:avLst>
              <a:gd name="adj" fmla="val 4706"/>
            </a:avLst>
          </a:prstGeom>
          <a:solidFill>
            <a:srgbClr val="F5F6FA"/>
          </a:solidFill>
          <a:ln w="12700">
            <a:solidFill>
              <a:srgbClr val="E4E9F5"/>
            </a:solidFill>
            <a:prstDash val="solid"/>
          </a:ln>
        </p:spPr>
      </p:sp>
      <p:sp>
        <p:nvSpPr>
          <p:cNvPr id="52" name="Text 50"/>
          <p:cNvSpPr txBox="1"/>
          <p:nvPr/>
        </p:nvSpPr>
        <p:spPr>
          <a:xfrm>
            <a:off x="5074920" y="4014216"/>
            <a:ext cx="2093976" cy="411480"/>
          </a:xfrm>
          <a:prstGeom prst="rect">
            <a:avLst/>
          </a:prstGeom>
          <a:noFill/>
          <a:ln/>
        </p:spPr>
        <p:txBody>
          <a:bodyPr wrap="square" lIns="0" tIns="0" rIns="0" bIns="0" rtlCol="0" anchor="ctr"/>
          <a:lstStyle/>
          <a:p>
            <a:pPr algn="ctr" indent="0" marL="0">
              <a:buNone/>
            </a:pPr>
            <a:r>
              <a:rPr lang="en-US" sz="1500" b="1" dirty="0">
                <a:solidFill>
                  <a:srgbClr val="5B6472"/>
                </a:solidFill>
                <a:latin typeface="Calibri" pitchFamily="34" charset="0"/>
                <a:ea typeface="Calibri" pitchFamily="34" charset="-122"/>
                <a:cs typeface="Calibri" pitchFamily="34" charset="-120"/>
              </a:rPr>
              <a:t>–</a:t>
            </a:r>
            <a:endParaRPr lang="en-US" sz="1500" dirty="0"/>
          </a:p>
        </p:txBody>
      </p:sp>
      <p:sp>
        <p:nvSpPr>
          <p:cNvPr id="53" name="Text 51"/>
          <p:cNvSpPr txBox="1"/>
          <p:nvPr/>
        </p:nvSpPr>
        <p:spPr>
          <a:xfrm>
            <a:off x="5074920" y="4407408"/>
            <a:ext cx="2093976" cy="320040"/>
          </a:xfrm>
          <a:prstGeom prst="rect">
            <a:avLst/>
          </a:prstGeom>
          <a:noFill/>
          <a:ln/>
        </p:spPr>
        <p:txBody>
          <a:bodyPr wrap="square" lIns="0" tIns="0" rIns="0" bIns="0" rtlCol="0" anchor="ctr"/>
          <a:lstStyle/>
          <a:p>
            <a:pPr algn="ctr" indent="0" marL="0">
              <a:buNone/>
            </a:pPr>
            <a:r>
              <a:rPr lang="en-US" sz="800" dirty="0">
                <a:solidFill>
                  <a:srgbClr val="5B6472"/>
                </a:solidFill>
                <a:latin typeface="Calibri" pitchFamily="34" charset="0"/>
                <a:ea typeface="Calibri" pitchFamily="34" charset="-122"/>
                <a:cs typeface="Calibri" pitchFamily="34" charset="-120"/>
              </a:rPr>
              <a:t>not reported</a:t>
            </a:r>
            <a:endParaRPr lang="en-US" sz="800" dirty="0"/>
          </a:p>
        </p:txBody>
      </p:sp>
      <p:sp>
        <p:nvSpPr>
          <p:cNvPr id="54" name="Shape 52"/>
          <p:cNvSpPr/>
          <p:nvPr/>
        </p:nvSpPr>
        <p:spPr>
          <a:xfrm>
            <a:off x="7223760" y="3968496"/>
            <a:ext cx="2093976" cy="777240"/>
          </a:xfrm>
          <a:prstGeom prst="roundRect">
            <a:avLst>
              <a:gd name="adj" fmla="val 4706"/>
            </a:avLst>
          </a:prstGeom>
          <a:solidFill>
            <a:srgbClr val="F5F6FA"/>
          </a:solidFill>
          <a:ln w="12700">
            <a:solidFill>
              <a:srgbClr val="E4E9F5"/>
            </a:solidFill>
            <a:prstDash val="solid"/>
          </a:ln>
        </p:spPr>
      </p:sp>
      <p:sp>
        <p:nvSpPr>
          <p:cNvPr id="55" name="Text 53"/>
          <p:cNvSpPr txBox="1"/>
          <p:nvPr/>
        </p:nvSpPr>
        <p:spPr>
          <a:xfrm>
            <a:off x="7223760" y="4014216"/>
            <a:ext cx="2093976" cy="411480"/>
          </a:xfrm>
          <a:prstGeom prst="rect">
            <a:avLst/>
          </a:prstGeom>
          <a:noFill/>
          <a:ln/>
        </p:spPr>
        <p:txBody>
          <a:bodyPr wrap="square" lIns="0" tIns="0" rIns="0" bIns="0" rtlCol="0" anchor="ctr"/>
          <a:lstStyle/>
          <a:p>
            <a:pPr algn="ctr" indent="0" marL="0">
              <a:buNone/>
            </a:pPr>
            <a:r>
              <a:rPr lang="en-US" sz="1500" b="1" dirty="0">
                <a:solidFill>
                  <a:srgbClr val="5B6472"/>
                </a:solidFill>
                <a:latin typeface="Calibri" pitchFamily="34" charset="0"/>
                <a:ea typeface="Calibri" pitchFamily="34" charset="-122"/>
                <a:cs typeface="Calibri" pitchFamily="34" charset="-120"/>
              </a:rPr>
              <a:t>–</a:t>
            </a:r>
            <a:endParaRPr lang="en-US" sz="1500" dirty="0"/>
          </a:p>
        </p:txBody>
      </p:sp>
      <p:sp>
        <p:nvSpPr>
          <p:cNvPr id="56" name="Text 54"/>
          <p:cNvSpPr txBox="1"/>
          <p:nvPr/>
        </p:nvSpPr>
        <p:spPr>
          <a:xfrm>
            <a:off x="7223760" y="4407408"/>
            <a:ext cx="2093976" cy="320040"/>
          </a:xfrm>
          <a:prstGeom prst="rect">
            <a:avLst/>
          </a:prstGeom>
          <a:noFill/>
          <a:ln/>
        </p:spPr>
        <p:txBody>
          <a:bodyPr wrap="square" lIns="0" tIns="0" rIns="0" bIns="0" rtlCol="0" anchor="ctr"/>
          <a:lstStyle/>
          <a:p>
            <a:pPr algn="ctr" indent="0" marL="0">
              <a:buNone/>
            </a:pPr>
            <a:r>
              <a:rPr lang="en-US" sz="800" dirty="0">
                <a:solidFill>
                  <a:srgbClr val="5B6472"/>
                </a:solidFill>
                <a:latin typeface="Calibri" pitchFamily="34" charset="0"/>
                <a:ea typeface="Calibri" pitchFamily="34" charset="-122"/>
                <a:cs typeface="Calibri" pitchFamily="34" charset="-120"/>
              </a:rPr>
              <a:t>not reported</a:t>
            </a:r>
            <a:endParaRPr lang="en-US" sz="800" dirty="0"/>
          </a:p>
        </p:txBody>
      </p:sp>
      <p:sp>
        <p:nvSpPr>
          <p:cNvPr id="57" name="Shape 55"/>
          <p:cNvSpPr/>
          <p:nvPr/>
        </p:nvSpPr>
        <p:spPr>
          <a:xfrm>
            <a:off x="9372600" y="3968496"/>
            <a:ext cx="2093976" cy="777240"/>
          </a:xfrm>
          <a:prstGeom prst="roundRect">
            <a:avLst>
              <a:gd name="adj" fmla="val 4706"/>
            </a:avLst>
          </a:prstGeom>
          <a:solidFill>
            <a:srgbClr val="F5F6FA"/>
          </a:solidFill>
          <a:ln w="12700">
            <a:solidFill>
              <a:srgbClr val="E4E9F5"/>
            </a:solidFill>
            <a:prstDash val="solid"/>
          </a:ln>
        </p:spPr>
      </p:sp>
      <p:sp>
        <p:nvSpPr>
          <p:cNvPr id="58" name="Text 56"/>
          <p:cNvSpPr txBox="1"/>
          <p:nvPr/>
        </p:nvSpPr>
        <p:spPr>
          <a:xfrm>
            <a:off x="9372600" y="4014216"/>
            <a:ext cx="2093976" cy="411480"/>
          </a:xfrm>
          <a:prstGeom prst="rect">
            <a:avLst/>
          </a:prstGeom>
          <a:noFill/>
          <a:ln/>
        </p:spPr>
        <p:txBody>
          <a:bodyPr wrap="square" lIns="0" tIns="0" rIns="0" bIns="0" rtlCol="0" anchor="ctr"/>
          <a:lstStyle/>
          <a:p>
            <a:pPr algn="ctr" indent="0" marL="0">
              <a:buNone/>
            </a:pPr>
            <a:r>
              <a:rPr lang="en-US" sz="1500" b="1" dirty="0">
                <a:solidFill>
                  <a:srgbClr val="C0392B"/>
                </a:solidFill>
                <a:latin typeface="Calibri" pitchFamily="34" charset="0"/>
                <a:ea typeface="Calibri" pitchFamily="34" charset="-122"/>
                <a:cs typeface="Calibri" pitchFamily="34" charset="-120"/>
              </a:rPr>
              <a:t>✗</a:t>
            </a:r>
            <a:endParaRPr lang="en-US" sz="1500" dirty="0"/>
          </a:p>
        </p:txBody>
      </p:sp>
      <p:sp>
        <p:nvSpPr>
          <p:cNvPr id="59" name="Text 57"/>
          <p:cNvSpPr txBox="1"/>
          <p:nvPr/>
        </p:nvSpPr>
        <p:spPr>
          <a:xfrm>
            <a:off x="9372600" y="4407408"/>
            <a:ext cx="2093976" cy="320040"/>
          </a:xfrm>
          <a:prstGeom prst="rect">
            <a:avLst/>
          </a:prstGeom>
          <a:noFill/>
          <a:ln/>
        </p:spPr>
        <p:txBody>
          <a:bodyPr wrap="square" lIns="0" tIns="0" rIns="0" bIns="0" rtlCol="0" anchor="ctr"/>
          <a:lstStyle/>
          <a:p>
            <a:pPr algn="ctr" indent="0" marL="0">
              <a:buNone/>
            </a:pPr>
            <a:r>
              <a:rPr lang="en-US" sz="800" dirty="0">
                <a:solidFill>
                  <a:srgbClr val="5B6472"/>
                </a:solidFill>
                <a:latin typeface="Calibri" pitchFamily="34" charset="0"/>
                <a:ea typeface="Calibri" pitchFamily="34" charset="-122"/>
                <a:cs typeface="Calibri" pitchFamily="34" charset="-120"/>
              </a:rPr>
              <a:t>general purpose</a:t>
            </a:r>
            <a:endParaRPr lang="en-US" sz="800" dirty="0"/>
          </a:p>
        </p:txBody>
      </p:sp>
      <p:sp>
        <p:nvSpPr>
          <p:cNvPr id="60" name="Shape 58"/>
          <p:cNvSpPr/>
          <p:nvPr/>
        </p:nvSpPr>
        <p:spPr>
          <a:xfrm>
            <a:off x="548640" y="4809744"/>
            <a:ext cx="2304288" cy="777240"/>
          </a:xfrm>
          <a:prstGeom prst="roundRect">
            <a:avLst>
              <a:gd name="adj" fmla="val 4706"/>
            </a:avLst>
          </a:prstGeom>
          <a:solidFill>
            <a:srgbClr val="EAF7F5"/>
          </a:solidFill>
          <a:ln w="19050">
            <a:solidFill>
              <a:srgbClr val="2FA6A0"/>
            </a:solidFill>
            <a:prstDash val="solid"/>
          </a:ln>
        </p:spPr>
      </p:sp>
      <p:sp>
        <p:nvSpPr>
          <p:cNvPr id="61" name="Text 59"/>
          <p:cNvSpPr txBox="1"/>
          <p:nvPr/>
        </p:nvSpPr>
        <p:spPr>
          <a:xfrm>
            <a:off x="548640" y="4809744"/>
            <a:ext cx="2304288" cy="777240"/>
          </a:xfrm>
          <a:prstGeom prst="rect">
            <a:avLst/>
          </a:prstGeom>
          <a:noFill/>
          <a:ln/>
        </p:spPr>
        <p:txBody>
          <a:bodyPr wrap="square" lIns="0" tIns="0" rIns="0" bIns="0" rtlCol="0" anchor="ctr"/>
          <a:lstStyle/>
          <a:p>
            <a:pPr algn="ctr" indent="0" marL="0">
              <a:buNone/>
            </a:pPr>
            <a:r>
              <a:rPr lang="en-US" sz="1100" b="1" dirty="0">
                <a:solidFill>
                  <a:srgbClr val="13205C"/>
                </a:solidFill>
                <a:latin typeface="Calibri" pitchFamily="34" charset="0"/>
                <a:ea typeface="Calibri" pitchFamily="34" charset="-122"/>
                <a:cs typeface="Calibri" pitchFamily="34" charset="-120"/>
              </a:rPr>
              <a:t>The Verifier</a:t>
            </a:r>
            <a:endParaRPr lang="en-US" sz="1100" dirty="0"/>
          </a:p>
        </p:txBody>
      </p:sp>
      <p:sp>
        <p:nvSpPr>
          <p:cNvPr id="62" name="Shape 60"/>
          <p:cNvSpPr/>
          <p:nvPr/>
        </p:nvSpPr>
        <p:spPr>
          <a:xfrm>
            <a:off x="2926080" y="4809744"/>
            <a:ext cx="2093976" cy="777240"/>
          </a:xfrm>
          <a:prstGeom prst="roundRect">
            <a:avLst>
              <a:gd name="adj" fmla="val 4706"/>
            </a:avLst>
          </a:prstGeom>
          <a:solidFill>
            <a:srgbClr val="EAF7F5"/>
          </a:solidFill>
          <a:ln w="19050">
            <a:solidFill>
              <a:srgbClr val="2FA6A0"/>
            </a:solidFill>
            <a:prstDash val="solid"/>
          </a:ln>
        </p:spPr>
      </p:sp>
      <p:sp>
        <p:nvSpPr>
          <p:cNvPr id="63" name="Text 61"/>
          <p:cNvSpPr txBox="1"/>
          <p:nvPr/>
        </p:nvSpPr>
        <p:spPr>
          <a:xfrm>
            <a:off x="2926080" y="4855464"/>
            <a:ext cx="2093976" cy="411480"/>
          </a:xfrm>
          <a:prstGeom prst="rect">
            <a:avLst/>
          </a:prstGeom>
          <a:noFill/>
          <a:ln/>
        </p:spPr>
        <p:txBody>
          <a:bodyPr wrap="square" lIns="0" tIns="0" rIns="0" bIns="0" rtlCol="0" anchor="ctr"/>
          <a:lstStyle/>
          <a:p>
            <a:pPr algn="ctr" indent="0" marL="0">
              <a:buNone/>
            </a:pPr>
            <a:r>
              <a:rPr lang="en-US" sz="1500" b="1" dirty="0">
                <a:solidFill>
                  <a:srgbClr val="1F9D63"/>
                </a:solidFill>
                <a:latin typeface="Calibri" pitchFamily="34" charset="0"/>
                <a:ea typeface="Calibri" pitchFamily="34" charset="-122"/>
                <a:cs typeface="Calibri" pitchFamily="34" charset="-120"/>
              </a:rPr>
              <a:t>✓</a:t>
            </a:r>
            <a:endParaRPr lang="en-US" sz="1500" dirty="0"/>
          </a:p>
        </p:txBody>
      </p:sp>
      <p:sp>
        <p:nvSpPr>
          <p:cNvPr id="64" name="Text 62"/>
          <p:cNvSpPr txBox="1"/>
          <p:nvPr/>
        </p:nvSpPr>
        <p:spPr>
          <a:xfrm>
            <a:off x="2926080" y="5248656"/>
            <a:ext cx="2093976" cy="320040"/>
          </a:xfrm>
          <a:prstGeom prst="rect">
            <a:avLst/>
          </a:prstGeom>
          <a:noFill/>
          <a:ln/>
        </p:spPr>
        <p:txBody>
          <a:bodyPr wrap="square" lIns="0" tIns="0" rIns="0" bIns="0" rtlCol="0" anchor="ctr"/>
          <a:lstStyle/>
          <a:p>
            <a:pPr algn="ctr" indent="0" marL="0">
              <a:buNone/>
            </a:pPr>
            <a:r>
              <a:rPr lang="en-US" sz="800" dirty="0">
                <a:solidFill>
                  <a:srgbClr val="5B6472"/>
                </a:solidFill>
                <a:latin typeface="Calibri" pitchFamily="34" charset="0"/>
                <a:ea typeface="Calibri" pitchFamily="34" charset="-122"/>
                <a:cs typeface="Calibri" pitchFamily="34" charset="-120"/>
              </a:rPr>
              <a:t>Data + Reasoning</a:t>
            </a:r>
            <a:endParaRPr lang="en-US" sz="800" dirty="0"/>
          </a:p>
        </p:txBody>
      </p:sp>
      <p:sp>
        <p:nvSpPr>
          <p:cNvPr id="65" name="Shape 63"/>
          <p:cNvSpPr/>
          <p:nvPr/>
        </p:nvSpPr>
        <p:spPr>
          <a:xfrm>
            <a:off x="5074920" y="4809744"/>
            <a:ext cx="2093976" cy="777240"/>
          </a:xfrm>
          <a:prstGeom prst="roundRect">
            <a:avLst>
              <a:gd name="adj" fmla="val 4706"/>
            </a:avLst>
          </a:prstGeom>
          <a:solidFill>
            <a:srgbClr val="EAF7F5"/>
          </a:solidFill>
          <a:ln w="19050">
            <a:solidFill>
              <a:srgbClr val="2FA6A0"/>
            </a:solidFill>
            <a:prstDash val="solid"/>
          </a:ln>
        </p:spPr>
      </p:sp>
      <p:sp>
        <p:nvSpPr>
          <p:cNvPr id="66" name="Text 64"/>
          <p:cNvSpPr txBox="1"/>
          <p:nvPr/>
        </p:nvSpPr>
        <p:spPr>
          <a:xfrm>
            <a:off x="5074920" y="4855464"/>
            <a:ext cx="2093976" cy="411480"/>
          </a:xfrm>
          <a:prstGeom prst="rect">
            <a:avLst/>
          </a:prstGeom>
          <a:noFill/>
          <a:ln/>
        </p:spPr>
        <p:txBody>
          <a:bodyPr wrap="square" lIns="0" tIns="0" rIns="0" bIns="0" rtlCol="0" anchor="ctr"/>
          <a:lstStyle/>
          <a:p>
            <a:pPr algn="ctr" indent="0" marL="0">
              <a:buNone/>
            </a:pPr>
            <a:r>
              <a:rPr lang="en-US" sz="1500" b="1" dirty="0">
                <a:solidFill>
                  <a:srgbClr val="1F9D63"/>
                </a:solidFill>
                <a:latin typeface="Calibri" pitchFamily="34" charset="0"/>
                <a:ea typeface="Calibri" pitchFamily="34" charset="-122"/>
                <a:cs typeface="Calibri" pitchFamily="34" charset="-120"/>
              </a:rPr>
              <a:t>✓</a:t>
            </a:r>
            <a:endParaRPr lang="en-US" sz="1500" dirty="0"/>
          </a:p>
        </p:txBody>
      </p:sp>
      <p:sp>
        <p:nvSpPr>
          <p:cNvPr id="67" name="Text 65"/>
          <p:cNvSpPr txBox="1"/>
          <p:nvPr/>
        </p:nvSpPr>
        <p:spPr>
          <a:xfrm>
            <a:off x="5074920" y="5248656"/>
            <a:ext cx="2093976" cy="320040"/>
          </a:xfrm>
          <a:prstGeom prst="rect">
            <a:avLst/>
          </a:prstGeom>
          <a:noFill/>
          <a:ln/>
        </p:spPr>
        <p:txBody>
          <a:bodyPr wrap="square" lIns="0" tIns="0" rIns="0" bIns="0" rtlCol="0" anchor="ctr"/>
          <a:lstStyle/>
          <a:p>
            <a:pPr algn="ctr" indent="0" marL="0">
              <a:buNone/>
            </a:pPr>
            <a:r>
              <a:rPr lang="en-US" sz="800" dirty="0">
                <a:solidFill>
                  <a:srgbClr val="5B6472"/>
                </a:solidFill>
                <a:latin typeface="Calibri" pitchFamily="34" charset="0"/>
                <a:ea typeface="Calibri" pitchFamily="34" charset="-122"/>
                <a:cs typeface="Calibri" pitchFamily="34" charset="-120"/>
              </a:rPr>
              <a:t>ROUGE-L scored</a:t>
            </a:r>
            <a:endParaRPr lang="en-US" sz="800" dirty="0"/>
          </a:p>
        </p:txBody>
      </p:sp>
      <p:sp>
        <p:nvSpPr>
          <p:cNvPr id="68" name="Shape 66"/>
          <p:cNvSpPr/>
          <p:nvPr/>
        </p:nvSpPr>
        <p:spPr>
          <a:xfrm>
            <a:off x="7223760" y="4809744"/>
            <a:ext cx="2093976" cy="777240"/>
          </a:xfrm>
          <a:prstGeom prst="roundRect">
            <a:avLst>
              <a:gd name="adj" fmla="val 4706"/>
            </a:avLst>
          </a:prstGeom>
          <a:solidFill>
            <a:srgbClr val="EAF7F5"/>
          </a:solidFill>
          <a:ln w="19050">
            <a:solidFill>
              <a:srgbClr val="2FA6A0"/>
            </a:solidFill>
            <a:prstDash val="solid"/>
          </a:ln>
        </p:spPr>
      </p:sp>
      <p:sp>
        <p:nvSpPr>
          <p:cNvPr id="69" name="Text 67"/>
          <p:cNvSpPr txBox="1"/>
          <p:nvPr/>
        </p:nvSpPr>
        <p:spPr>
          <a:xfrm>
            <a:off x="7223760" y="4855464"/>
            <a:ext cx="2093976" cy="411480"/>
          </a:xfrm>
          <a:prstGeom prst="rect">
            <a:avLst/>
          </a:prstGeom>
          <a:noFill/>
          <a:ln/>
        </p:spPr>
        <p:txBody>
          <a:bodyPr wrap="square" lIns="0" tIns="0" rIns="0" bIns="0" rtlCol="0" anchor="ctr"/>
          <a:lstStyle/>
          <a:p>
            <a:pPr algn="ctr" indent="0" marL="0">
              <a:buNone/>
            </a:pPr>
            <a:r>
              <a:rPr lang="en-US" sz="1500" b="1" dirty="0">
                <a:solidFill>
                  <a:srgbClr val="1F9D63"/>
                </a:solidFill>
                <a:latin typeface="Calibri" pitchFamily="34" charset="0"/>
                <a:ea typeface="Calibri" pitchFamily="34" charset="-122"/>
                <a:cs typeface="Calibri" pitchFamily="34" charset="-120"/>
              </a:rPr>
              <a:t>✓</a:t>
            </a:r>
            <a:endParaRPr lang="en-US" sz="1500" dirty="0"/>
          </a:p>
        </p:txBody>
      </p:sp>
      <p:sp>
        <p:nvSpPr>
          <p:cNvPr id="70" name="Text 68"/>
          <p:cNvSpPr txBox="1"/>
          <p:nvPr/>
        </p:nvSpPr>
        <p:spPr>
          <a:xfrm>
            <a:off x="7223760" y="5248656"/>
            <a:ext cx="2093976" cy="320040"/>
          </a:xfrm>
          <a:prstGeom prst="rect">
            <a:avLst/>
          </a:prstGeom>
          <a:noFill/>
          <a:ln/>
        </p:spPr>
        <p:txBody>
          <a:bodyPr wrap="square" lIns="0" tIns="0" rIns="0" bIns="0" rtlCol="0" anchor="ctr"/>
          <a:lstStyle/>
          <a:p>
            <a:pPr algn="ctr" indent="0" marL="0">
              <a:buNone/>
            </a:pPr>
            <a:r>
              <a:rPr lang="en-US" sz="800" dirty="0">
                <a:solidFill>
                  <a:srgbClr val="5B6472"/>
                </a:solidFill>
                <a:latin typeface="Calibri" pitchFamily="34" charset="0"/>
                <a:ea typeface="Calibri" pitchFamily="34" charset="-122"/>
                <a:cs typeface="Calibri" pitchFamily="34" charset="-120"/>
              </a:rPr>
              <a:t>1.26 s mean</a:t>
            </a:r>
            <a:endParaRPr lang="en-US" sz="800" dirty="0"/>
          </a:p>
        </p:txBody>
      </p:sp>
      <p:sp>
        <p:nvSpPr>
          <p:cNvPr id="71" name="Shape 69"/>
          <p:cNvSpPr/>
          <p:nvPr/>
        </p:nvSpPr>
        <p:spPr>
          <a:xfrm>
            <a:off x="9372600" y="4809744"/>
            <a:ext cx="2093976" cy="777240"/>
          </a:xfrm>
          <a:prstGeom prst="roundRect">
            <a:avLst>
              <a:gd name="adj" fmla="val 4706"/>
            </a:avLst>
          </a:prstGeom>
          <a:solidFill>
            <a:srgbClr val="EAF7F5"/>
          </a:solidFill>
          <a:ln w="19050">
            <a:solidFill>
              <a:srgbClr val="2FA6A0"/>
            </a:solidFill>
            <a:prstDash val="solid"/>
          </a:ln>
        </p:spPr>
      </p:sp>
      <p:sp>
        <p:nvSpPr>
          <p:cNvPr id="72" name="Text 70"/>
          <p:cNvSpPr txBox="1"/>
          <p:nvPr/>
        </p:nvSpPr>
        <p:spPr>
          <a:xfrm>
            <a:off x="9372600" y="4855464"/>
            <a:ext cx="2093976" cy="411480"/>
          </a:xfrm>
          <a:prstGeom prst="rect">
            <a:avLst/>
          </a:prstGeom>
          <a:noFill/>
          <a:ln/>
        </p:spPr>
        <p:txBody>
          <a:bodyPr wrap="square" lIns="0" tIns="0" rIns="0" bIns="0" rtlCol="0" anchor="ctr"/>
          <a:lstStyle/>
          <a:p>
            <a:pPr algn="ctr" indent="0" marL="0">
              <a:buNone/>
            </a:pPr>
            <a:r>
              <a:rPr lang="en-US" sz="1500" b="1" dirty="0">
                <a:solidFill>
                  <a:srgbClr val="1F9D63"/>
                </a:solidFill>
                <a:latin typeface="Calibri" pitchFamily="34" charset="0"/>
                <a:ea typeface="Calibri" pitchFamily="34" charset="-122"/>
                <a:cs typeface="Calibri" pitchFamily="34" charset="-120"/>
              </a:rPr>
              <a:t>✓</a:t>
            </a:r>
            <a:endParaRPr lang="en-US" sz="1500" dirty="0"/>
          </a:p>
        </p:txBody>
      </p:sp>
      <p:sp>
        <p:nvSpPr>
          <p:cNvPr id="73" name="Text 71"/>
          <p:cNvSpPr txBox="1"/>
          <p:nvPr/>
        </p:nvSpPr>
        <p:spPr>
          <a:xfrm>
            <a:off x="9372600" y="5248656"/>
            <a:ext cx="2093976" cy="320040"/>
          </a:xfrm>
          <a:prstGeom prst="rect">
            <a:avLst/>
          </a:prstGeom>
          <a:noFill/>
          <a:ln/>
        </p:spPr>
        <p:txBody>
          <a:bodyPr wrap="square" lIns="0" tIns="0" rIns="0" bIns="0" rtlCol="0" anchor="ctr"/>
          <a:lstStyle/>
          <a:p>
            <a:pPr algn="ctr" indent="0" marL="0">
              <a:buNone/>
            </a:pPr>
            <a:r>
              <a:rPr lang="en-US" sz="800" dirty="0">
                <a:solidFill>
                  <a:srgbClr val="5B6472"/>
                </a:solidFill>
                <a:latin typeface="Calibri" pitchFamily="34" charset="0"/>
                <a:ea typeface="Calibri" pitchFamily="34" charset="-122"/>
                <a:cs typeface="Calibri" pitchFamily="34" charset="-120"/>
              </a:rPr>
              <a:t>6 sources</a:t>
            </a:r>
            <a:endParaRPr lang="en-US" sz="800" dirty="0"/>
          </a:p>
        </p:txBody>
      </p:sp>
      <p:sp>
        <p:nvSpPr>
          <p:cNvPr id="74" name="Text 72"/>
          <p:cNvSpPr txBox="1"/>
          <p:nvPr/>
        </p:nvSpPr>
        <p:spPr>
          <a:xfrm>
            <a:off x="548640" y="5788152"/>
            <a:ext cx="11064240" cy="640080"/>
          </a:xfrm>
          <a:prstGeom prst="rect">
            <a:avLst/>
          </a:prstGeom>
          <a:noFill/>
          <a:ln/>
        </p:spPr>
        <p:txBody>
          <a:bodyPr wrap="square" lIns="0" tIns="0" rIns="0" bIns="0" rtlCol="0" anchor="ctr"/>
          <a:lstStyle/>
          <a:p>
            <a:pPr indent="0" marL="0">
              <a:lnSpc>
                <a:spcPts val="1500"/>
              </a:lnSpc>
              <a:buNone/>
            </a:pPr>
            <a:r>
              <a:rPr lang="en-US" sz="1100" i="1" dirty="0">
                <a:solidFill>
                  <a:srgbClr val="5B6472"/>
                </a:solidFill>
                <a:latin typeface="Calibri" pitchFamily="34" charset="0"/>
                <a:ea typeface="Calibri" pitchFamily="34" charset="-122"/>
                <a:cs typeface="Calibri" pitchFamily="34" charset="-120"/>
              </a:rPr>
              <a:t>Comparing The Verifier to SelfCheckGPT, AST-based code validation, and plain RAG — only ours catches both kinds of error, gives a checked fix, answers in under two seconds, and is built for the automotive domain.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7315200" cy="274320"/>
          </a:xfrm>
          <a:prstGeom prst="rect">
            <a:avLst/>
          </a:prstGeom>
          <a:noFill/>
          <a:ln/>
        </p:spPr>
        <p:txBody>
          <a:bodyPr wrap="square" lIns="0" tIns="0" rIns="0" bIns="0" rtlCol="0" anchor="ctr"/>
          <a:lstStyle/>
          <a:p>
            <a:pPr indent="0" marL="0">
              <a:buNone/>
            </a:pPr>
            <a:r>
              <a:rPr lang="en-US" sz="1050" b="1" spc="200" kern="0" dirty="0">
                <a:solidFill>
                  <a:srgbClr val="2C5FB8"/>
                </a:solidFill>
                <a:latin typeface="Calibri" pitchFamily="34" charset="0"/>
                <a:ea typeface="Calibri" pitchFamily="34" charset="-122"/>
                <a:cs typeface="Calibri" pitchFamily="34" charset="-120"/>
              </a:rPr>
              <a:t>CONCLUSION AND FUTURE DIRECTIONS</a:t>
            </a:r>
            <a:endParaRPr lang="en-US" sz="1050" dirty="0"/>
          </a:p>
        </p:txBody>
      </p:sp>
      <p:sp>
        <p:nvSpPr>
          <p:cNvPr id="3" name="Text 1"/>
          <p:cNvSpPr txBox="1"/>
          <p:nvPr/>
        </p:nvSpPr>
        <p:spPr>
          <a:xfrm>
            <a:off x="457200" y="566928"/>
            <a:ext cx="9601200" cy="640080"/>
          </a:xfrm>
          <a:prstGeom prst="rect">
            <a:avLst/>
          </a:prstGeom>
          <a:noFill/>
          <a:ln/>
        </p:spPr>
        <p:txBody>
          <a:bodyPr wrap="square" lIns="0" tIns="0" rIns="0" bIns="0" rtlCol="0" anchor="ctr"/>
          <a:lstStyle/>
          <a:p>
            <a:pPr indent="0" marL="0">
              <a:buNone/>
            </a:pPr>
            <a:r>
              <a:rPr lang="en-US" sz="2600" b="1" dirty="0">
                <a:solidFill>
                  <a:srgbClr val="16255E"/>
                </a:solidFill>
                <a:latin typeface="Cambria" pitchFamily="34" charset="0"/>
                <a:ea typeface="Cambria" pitchFamily="34" charset="-122"/>
                <a:cs typeface="Cambria" pitchFamily="34" charset="-120"/>
              </a:rPr>
              <a:t>Comparison</a:t>
            </a:r>
            <a:endParaRPr lang="en-US" sz="2600" dirty="0"/>
          </a:p>
        </p:txBody>
      </p:sp>
      <p:sp>
        <p:nvSpPr>
          <p:cNvPr id="4" name="Shape 2"/>
          <p:cNvSpPr/>
          <p:nvPr/>
        </p:nvSpPr>
        <p:spPr>
          <a:xfrm>
            <a:off x="11109960" y="256032"/>
            <a:ext cx="685800" cy="685800"/>
          </a:xfrm>
          <a:prstGeom prst="ellipse">
            <a:avLst/>
          </a:prstGeom>
          <a:solidFill>
            <a:srgbClr val="FFFFFF"/>
          </a:solidFill>
          <a:ln w="19050">
            <a:solidFill>
              <a:srgbClr val="13205C"/>
            </a:solidFill>
            <a:prstDash val="solid"/>
          </a:ln>
        </p:spPr>
      </p:sp>
      <p:sp>
        <p:nvSpPr>
          <p:cNvPr id="5" name="Text 3"/>
          <p:cNvSpPr txBox="1"/>
          <p:nvPr/>
        </p:nvSpPr>
        <p:spPr>
          <a:xfrm>
            <a:off x="11109960" y="256032"/>
            <a:ext cx="685800" cy="685800"/>
          </a:xfrm>
          <a:prstGeom prst="rect">
            <a:avLst/>
          </a:prstGeom>
          <a:noFill/>
          <a:ln/>
        </p:spPr>
        <p:txBody>
          <a:bodyPr wrap="square" lIns="0" tIns="0" rIns="0" bIns="0" rtlCol="0" anchor="ctr"/>
          <a:lstStyle/>
          <a:p>
            <a:pPr algn="ctr" indent="0" marL="0">
              <a:lnSpc>
                <a:spcPts val="800"/>
              </a:lnSpc>
              <a:buNone/>
            </a:pPr>
            <a:r>
              <a:rPr lang="en-US" sz="700" b="1" dirty="0">
                <a:solidFill>
                  <a:srgbClr val="13205C"/>
                </a:solidFill>
                <a:latin typeface="Calibri" pitchFamily="34" charset="0"/>
                <a:ea typeface="Calibri" pitchFamily="34" charset="-122"/>
                <a:cs typeface="Calibri" pitchFamily="34" charset="-120"/>
              </a:rPr>
              <a:t>AIB</a:t>
            </a:r>
            <a:endParaRPr lang="en-US" sz="700" dirty="0"/>
          </a:p>
          <a:p>
            <a:pPr algn="ctr" indent="0" marL="0">
              <a:lnSpc>
                <a:spcPts val="800"/>
              </a:lnSpc>
              <a:buNone/>
            </a:pPr>
            <a:r>
              <a:rPr lang="en-US" sz="700" b="1" dirty="0">
                <a:solidFill>
                  <a:srgbClr val="13205C"/>
                </a:solidFill>
                <a:latin typeface="Calibri" pitchFamily="34" charset="0"/>
                <a:ea typeface="Calibri" pitchFamily="34" charset="-122"/>
                <a:cs typeface="Calibri" pitchFamily="34" charset="-120"/>
              </a:rPr>
              <a:t>THINGS</a:t>
            </a:r>
            <a:endParaRPr lang="en-US" sz="700" dirty="0"/>
          </a:p>
        </p:txBody>
      </p:sp>
      <p:sp>
        <p:nvSpPr>
          <p:cNvPr id="6" name="Shape 4"/>
          <p:cNvSpPr/>
          <p:nvPr/>
        </p:nvSpPr>
        <p:spPr>
          <a:xfrm>
            <a:off x="0" y="6400800"/>
            <a:ext cx="12191695" cy="457200"/>
          </a:xfrm>
          <a:prstGeom prst="rect">
            <a:avLst/>
          </a:prstGeom>
          <a:solidFill>
            <a:srgbClr val="13205C"/>
          </a:solidFill>
          <a:ln/>
        </p:spPr>
      </p:sp>
      <p:sp>
        <p:nvSpPr>
          <p:cNvPr id="7" name="Text 5"/>
          <p:cNvSpPr txBox="1"/>
          <p:nvPr/>
        </p:nvSpPr>
        <p:spPr>
          <a:xfrm>
            <a:off x="457200" y="6400800"/>
            <a:ext cx="5486400"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AIBTHINGS 2026  •  PAPER #465</a:t>
            </a:r>
            <a:endParaRPr lang="en-US" sz="1000" dirty="0"/>
          </a:p>
        </p:txBody>
      </p:sp>
      <p:sp>
        <p:nvSpPr>
          <p:cNvPr id="8" name="Shape 6"/>
          <p:cNvSpPr/>
          <p:nvPr/>
        </p:nvSpPr>
        <p:spPr>
          <a:xfrm>
            <a:off x="11475720" y="6199632"/>
            <a:ext cx="566928" cy="566928"/>
          </a:xfrm>
          <a:prstGeom prst="ellipse">
            <a:avLst/>
          </a:prstGeom>
          <a:solidFill>
            <a:srgbClr val="FFFFFF"/>
          </a:solidFill>
          <a:ln w="19050">
            <a:solidFill>
              <a:srgbClr val="13205C"/>
            </a:solidFill>
            <a:prstDash val="solid"/>
          </a:ln>
        </p:spPr>
      </p:sp>
      <p:sp>
        <p:nvSpPr>
          <p:cNvPr id="9" name="Text 7"/>
          <p:cNvSpPr txBox="1"/>
          <p:nvPr/>
        </p:nvSpPr>
        <p:spPr>
          <a:xfrm>
            <a:off x="11475720" y="6199632"/>
            <a:ext cx="566928" cy="566928"/>
          </a:xfrm>
          <a:prstGeom prst="rect">
            <a:avLst/>
          </a:prstGeom>
          <a:noFill/>
          <a:ln/>
        </p:spPr>
        <p:txBody>
          <a:bodyPr wrap="square" lIns="0" tIns="0" rIns="0" bIns="0" rtlCol="0" anchor="ctr"/>
          <a:lstStyle/>
          <a:p>
            <a:pPr algn="ctr" indent="0" marL="0">
              <a:buNone/>
            </a:pPr>
            <a:r>
              <a:rPr lang="en-US" sz="1500" b="1" dirty="0">
                <a:solidFill>
                  <a:srgbClr val="13205C"/>
                </a:solidFill>
                <a:latin typeface="Cambria" pitchFamily="34" charset="0"/>
                <a:ea typeface="Cambria" pitchFamily="34" charset="-122"/>
                <a:cs typeface="Cambria" pitchFamily="34" charset="-120"/>
              </a:rPr>
              <a:t>11</a:t>
            </a:r>
            <a:endParaRPr lang="en-US" sz="1500" dirty="0"/>
          </a:p>
        </p:txBody>
      </p:sp>
      <p:graphicFrame>
        <p:nvGraphicFramePr>
          <p:cNvPr id="10" name="Chart 0" descr=""/>
          <p:cNvGraphicFramePr/>
          <p:nvPr/>
        </p:nvGraphicFramePr>
        <p:xfrm>
          <a:off x="1371600" y="1554480"/>
          <a:ext cx="9418320" cy="329184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txBox="1"/>
          <p:nvPr/>
        </p:nvSpPr>
        <p:spPr>
          <a:xfrm>
            <a:off x="548640" y="5120640"/>
            <a:ext cx="11064240" cy="1005840"/>
          </a:xfrm>
          <a:prstGeom prst="rect">
            <a:avLst/>
          </a:prstGeom>
          <a:noFill/>
          <a:ln/>
        </p:spPr>
        <p:txBody>
          <a:bodyPr wrap="square" lIns="0" tIns="0" rIns="0" bIns="0" rtlCol="0" anchor="ctr"/>
          <a:lstStyle/>
          <a:p>
            <a:pPr indent="0" marL="0">
              <a:lnSpc>
                <a:spcPts val="1600"/>
              </a:lnSpc>
              <a:buNone/>
            </a:pPr>
            <a:r>
              <a:rPr lang="en-US" sz="1200" dirty="0">
                <a:solidFill>
                  <a:srgbClr val="5B6472"/>
                </a:solidFill>
                <a:latin typeface="Calibri" pitchFamily="34" charset="0"/>
                <a:ea typeface="Calibri" pitchFamily="34" charset="-122"/>
                <a:cs typeface="Calibri" pitchFamily="34" charset="-120"/>
              </a:rPr>
              <a:t>Our recall (0.76) is lower than SelfCheckGPT's (0.91) — but their number comes from one small area, is slower, and is an easier task. These are two separate tests, not one shared test run on the same data; running that shared test is planned next.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7315200" cy="274320"/>
          </a:xfrm>
          <a:prstGeom prst="rect">
            <a:avLst/>
          </a:prstGeom>
          <a:noFill/>
          <a:ln/>
        </p:spPr>
        <p:txBody>
          <a:bodyPr wrap="square" lIns="0" tIns="0" rIns="0" bIns="0" rtlCol="0" anchor="ctr"/>
          <a:lstStyle/>
          <a:p>
            <a:pPr indent="0" marL="0">
              <a:buNone/>
            </a:pPr>
            <a:r>
              <a:rPr lang="en-US" sz="1050" b="1" spc="200" kern="0" dirty="0">
                <a:solidFill>
                  <a:srgbClr val="2C5FB8"/>
                </a:solidFill>
                <a:latin typeface="Calibri" pitchFamily="34" charset="0"/>
                <a:ea typeface="Calibri" pitchFamily="34" charset="-122"/>
                <a:cs typeface="Calibri" pitchFamily="34" charset="-120"/>
              </a:rPr>
              <a:t>CONCLUSION AND FUTURE DIRECTIONS</a:t>
            </a:r>
            <a:endParaRPr lang="en-US" sz="1050" dirty="0"/>
          </a:p>
        </p:txBody>
      </p:sp>
      <p:sp>
        <p:nvSpPr>
          <p:cNvPr id="3" name="Text 1"/>
          <p:cNvSpPr txBox="1"/>
          <p:nvPr/>
        </p:nvSpPr>
        <p:spPr>
          <a:xfrm>
            <a:off x="457200" y="566928"/>
            <a:ext cx="9601200" cy="640080"/>
          </a:xfrm>
          <a:prstGeom prst="rect">
            <a:avLst/>
          </a:prstGeom>
          <a:noFill/>
          <a:ln/>
        </p:spPr>
        <p:txBody>
          <a:bodyPr wrap="square" lIns="0" tIns="0" rIns="0" bIns="0" rtlCol="0" anchor="ctr"/>
          <a:lstStyle/>
          <a:p>
            <a:pPr indent="0" marL="0">
              <a:buNone/>
            </a:pPr>
            <a:r>
              <a:rPr lang="en-US" sz="2600" b="1" dirty="0">
                <a:solidFill>
                  <a:srgbClr val="16255E"/>
                </a:solidFill>
                <a:latin typeface="Cambria" pitchFamily="34" charset="0"/>
                <a:ea typeface="Cambria" pitchFamily="34" charset="-122"/>
                <a:cs typeface="Cambria" pitchFamily="34" charset="-120"/>
              </a:rPr>
              <a:t>Conclusion</a:t>
            </a:r>
            <a:endParaRPr lang="en-US" sz="2600" dirty="0"/>
          </a:p>
        </p:txBody>
      </p:sp>
      <p:sp>
        <p:nvSpPr>
          <p:cNvPr id="4" name="Shape 2"/>
          <p:cNvSpPr/>
          <p:nvPr/>
        </p:nvSpPr>
        <p:spPr>
          <a:xfrm>
            <a:off x="11109960" y="256032"/>
            <a:ext cx="685800" cy="685800"/>
          </a:xfrm>
          <a:prstGeom prst="ellipse">
            <a:avLst/>
          </a:prstGeom>
          <a:solidFill>
            <a:srgbClr val="FFFFFF"/>
          </a:solidFill>
          <a:ln w="19050">
            <a:solidFill>
              <a:srgbClr val="13205C"/>
            </a:solidFill>
            <a:prstDash val="solid"/>
          </a:ln>
        </p:spPr>
      </p:sp>
      <p:sp>
        <p:nvSpPr>
          <p:cNvPr id="5" name="Text 3"/>
          <p:cNvSpPr txBox="1"/>
          <p:nvPr/>
        </p:nvSpPr>
        <p:spPr>
          <a:xfrm>
            <a:off x="11109960" y="256032"/>
            <a:ext cx="685800" cy="685800"/>
          </a:xfrm>
          <a:prstGeom prst="rect">
            <a:avLst/>
          </a:prstGeom>
          <a:noFill/>
          <a:ln/>
        </p:spPr>
        <p:txBody>
          <a:bodyPr wrap="square" lIns="0" tIns="0" rIns="0" bIns="0" rtlCol="0" anchor="ctr"/>
          <a:lstStyle/>
          <a:p>
            <a:pPr algn="ctr" indent="0" marL="0">
              <a:lnSpc>
                <a:spcPts val="800"/>
              </a:lnSpc>
              <a:buNone/>
            </a:pPr>
            <a:r>
              <a:rPr lang="en-US" sz="700" b="1" dirty="0">
                <a:solidFill>
                  <a:srgbClr val="13205C"/>
                </a:solidFill>
                <a:latin typeface="Calibri" pitchFamily="34" charset="0"/>
                <a:ea typeface="Calibri" pitchFamily="34" charset="-122"/>
                <a:cs typeface="Calibri" pitchFamily="34" charset="-120"/>
              </a:rPr>
              <a:t>AIB</a:t>
            </a:r>
            <a:endParaRPr lang="en-US" sz="700" dirty="0"/>
          </a:p>
          <a:p>
            <a:pPr algn="ctr" indent="0" marL="0">
              <a:lnSpc>
                <a:spcPts val="800"/>
              </a:lnSpc>
              <a:buNone/>
            </a:pPr>
            <a:r>
              <a:rPr lang="en-US" sz="700" b="1" dirty="0">
                <a:solidFill>
                  <a:srgbClr val="13205C"/>
                </a:solidFill>
                <a:latin typeface="Calibri" pitchFamily="34" charset="0"/>
                <a:ea typeface="Calibri" pitchFamily="34" charset="-122"/>
                <a:cs typeface="Calibri" pitchFamily="34" charset="-120"/>
              </a:rPr>
              <a:t>THINGS</a:t>
            </a:r>
            <a:endParaRPr lang="en-US" sz="700" dirty="0"/>
          </a:p>
        </p:txBody>
      </p:sp>
      <p:sp>
        <p:nvSpPr>
          <p:cNvPr id="6" name="Shape 4"/>
          <p:cNvSpPr/>
          <p:nvPr/>
        </p:nvSpPr>
        <p:spPr>
          <a:xfrm>
            <a:off x="0" y="6400800"/>
            <a:ext cx="12191695" cy="457200"/>
          </a:xfrm>
          <a:prstGeom prst="rect">
            <a:avLst/>
          </a:prstGeom>
          <a:solidFill>
            <a:srgbClr val="13205C"/>
          </a:solidFill>
          <a:ln/>
        </p:spPr>
      </p:sp>
      <p:sp>
        <p:nvSpPr>
          <p:cNvPr id="7" name="Text 5"/>
          <p:cNvSpPr txBox="1"/>
          <p:nvPr/>
        </p:nvSpPr>
        <p:spPr>
          <a:xfrm>
            <a:off x="457200" y="6400800"/>
            <a:ext cx="5486400"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AIBTHINGS 2026  •  PAPER #465</a:t>
            </a:r>
            <a:endParaRPr lang="en-US" sz="1000" dirty="0"/>
          </a:p>
        </p:txBody>
      </p:sp>
      <p:sp>
        <p:nvSpPr>
          <p:cNvPr id="8" name="Shape 6"/>
          <p:cNvSpPr/>
          <p:nvPr/>
        </p:nvSpPr>
        <p:spPr>
          <a:xfrm>
            <a:off x="11475720" y="6199632"/>
            <a:ext cx="566928" cy="566928"/>
          </a:xfrm>
          <a:prstGeom prst="ellipse">
            <a:avLst/>
          </a:prstGeom>
          <a:solidFill>
            <a:srgbClr val="FFFFFF"/>
          </a:solidFill>
          <a:ln w="19050">
            <a:solidFill>
              <a:srgbClr val="13205C"/>
            </a:solidFill>
            <a:prstDash val="solid"/>
          </a:ln>
        </p:spPr>
      </p:sp>
      <p:sp>
        <p:nvSpPr>
          <p:cNvPr id="9" name="Text 7"/>
          <p:cNvSpPr txBox="1"/>
          <p:nvPr/>
        </p:nvSpPr>
        <p:spPr>
          <a:xfrm>
            <a:off x="11475720" y="6199632"/>
            <a:ext cx="566928" cy="566928"/>
          </a:xfrm>
          <a:prstGeom prst="rect">
            <a:avLst/>
          </a:prstGeom>
          <a:noFill/>
          <a:ln/>
        </p:spPr>
        <p:txBody>
          <a:bodyPr wrap="square" lIns="0" tIns="0" rIns="0" bIns="0" rtlCol="0" anchor="ctr"/>
          <a:lstStyle/>
          <a:p>
            <a:pPr algn="ctr" indent="0" marL="0">
              <a:buNone/>
            </a:pPr>
            <a:r>
              <a:rPr lang="en-US" sz="1500" b="1" dirty="0">
                <a:solidFill>
                  <a:srgbClr val="13205C"/>
                </a:solidFill>
                <a:latin typeface="Cambria" pitchFamily="34" charset="0"/>
                <a:ea typeface="Cambria" pitchFamily="34" charset="-122"/>
                <a:cs typeface="Cambria" pitchFamily="34" charset="-120"/>
              </a:rPr>
              <a:t>12</a:t>
            </a:r>
            <a:endParaRPr lang="en-US" sz="1500" dirty="0"/>
          </a:p>
        </p:txBody>
      </p:sp>
      <p:sp>
        <p:nvSpPr>
          <p:cNvPr id="10" name="Shape 8"/>
          <p:cNvSpPr/>
          <p:nvPr/>
        </p:nvSpPr>
        <p:spPr>
          <a:xfrm>
            <a:off x="1280160" y="1691640"/>
            <a:ext cx="4480560" cy="2743200"/>
          </a:xfrm>
          <a:prstGeom prst="roundRect">
            <a:avLst>
              <a:gd name="adj" fmla="val 2667"/>
            </a:avLst>
          </a:prstGeom>
          <a:solidFill>
            <a:srgbClr val="F5F6FA"/>
          </a:solidFill>
          <a:ln w="12700">
            <a:solidFill>
              <a:srgbClr val="E4E9F5"/>
            </a:solidFill>
            <a:prstDash val="solid"/>
          </a:ln>
        </p:spPr>
      </p:sp>
      <p:sp>
        <p:nvSpPr>
          <p:cNvPr id="11" name="Text 9"/>
          <p:cNvSpPr txBox="1"/>
          <p:nvPr/>
        </p:nvSpPr>
        <p:spPr>
          <a:xfrm>
            <a:off x="1554480" y="2286000"/>
            <a:ext cx="3931920" cy="548640"/>
          </a:xfrm>
          <a:prstGeom prst="rect">
            <a:avLst/>
          </a:prstGeom>
          <a:noFill/>
          <a:ln/>
        </p:spPr>
        <p:txBody>
          <a:bodyPr wrap="square" lIns="0" tIns="0" rIns="0" bIns="0" rtlCol="0" anchor="ctr"/>
          <a:lstStyle/>
          <a:p>
            <a:pPr algn="ctr" indent="0" marL="0">
              <a:buNone/>
            </a:pPr>
            <a:r>
              <a:rPr lang="en-US" sz="2200" b="1" dirty="0">
                <a:solidFill>
                  <a:srgbClr val="1E49E2"/>
                </a:solidFill>
                <a:latin typeface="Cambria" pitchFamily="34" charset="0"/>
                <a:ea typeface="Cambria" pitchFamily="34" charset="-122"/>
                <a:cs typeface="Cambria" pitchFamily="34" charset="-120"/>
              </a:rPr>
              <a:t>TRUST, BUT VERIFY</a:t>
            </a:r>
            <a:endParaRPr lang="en-US" sz="2200" dirty="0"/>
          </a:p>
        </p:txBody>
      </p:sp>
      <p:sp>
        <p:nvSpPr>
          <p:cNvPr id="12" name="Text 10"/>
          <p:cNvSpPr txBox="1"/>
          <p:nvPr/>
        </p:nvSpPr>
        <p:spPr>
          <a:xfrm>
            <a:off x="1554480" y="2880360"/>
            <a:ext cx="3931920" cy="1097280"/>
          </a:xfrm>
          <a:prstGeom prst="rect">
            <a:avLst/>
          </a:prstGeom>
          <a:noFill/>
          <a:ln/>
        </p:spPr>
        <p:txBody>
          <a:bodyPr wrap="square" lIns="0" tIns="0" rIns="0" bIns="0" rtlCol="0" anchor="ctr"/>
          <a:lstStyle/>
          <a:p>
            <a:pPr algn="ctr" indent="0" marL="0">
              <a:lnSpc>
                <a:spcPts val="1400"/>
              </a:lnSpc>
              <a:buNone/>
            </a:pPr>
            <a:r>
              <a:rPr lang="en-US" sz="1050" i="1" dirty="0">
                <a:solidFill>
                  <a:srgbClr val="5B6472"/>
                </a:solidFill>
                <a:latin typeface="Calibri" pitchFamily="34" charset="0"/>
                <a:ea typeface="Calibri" pitchFamily="34" charset="-122"/>
                <a:cs typeface="Calibri" pitchFamily="34" charset="-120"/>
              </a:rPr>
              <a:t>A Hybrid RAG System for Real-Time Detection and Correction of</a:t>
            </a:r>
            <a:endParaRPr lang="en-US" sz="1050" dirty="0"/>
          </a:p>
          <a:p>
            <a:pPr algn="ctr" indent="0" marL="0">
              <a:lnSpc>
                <a:spcPts val="1400"/>
              </a:lnSpc>
              <a:buNone/>
            </a:pPr>
            <a:r>
              <a:rPr lang="en-US" sz="1050" i="1" dirty="0">
                <a:solidFill>
                  <a:srgbClr val="5B6472"/>
                </a:solidFill>
                <a:latin typeface="Calibri" pitchFamily="34" charset="0"/>
                <a:ea typeface="Calibri" pitchFamily="34" charset="-122"/>
                <a:cs typeface="Calibri" pitchFamily="34" charset="-120"/>
              </a:rPr>
              <a:t>LLM Hallucinations in Automotive Engineering.</a:t>
            </a:r>
            <a:endParaRPr lang="en-US" sz="1050" dirty="0"/>
          </a:p>
        </p:txBody>
      </p:sp>
      <p:sp>
        <p:nvSpPr>
          <p:cNvPr id="13" name="Shape 11"/>
          <p:cNvSpPr/>
          <p:nvPr/>
        </p:nvSpPr>
        <p:spPr>
          <a:xfrm>
            <a:off x="6126480" y="1691640"/>
            <a:ext cx="4617720" cy="2743200"/>
          </a:xfrm>
          <a:prstGeom prst="roundRect">
            <a:avLst>
              <a:gd name="adj" fmla="val 2667"/>
            </a:avLst>
          </a:prstGeom>
          <a:solidFill>
            <a:srgbClr val="0F1B44"/>
          </a:solidFill>
          <a:ln/>
        </p:spPr>
      </p:sp>
      <p:sp>
        <p:nvSpPr>
          <p:cNvPr id="14" name="Text 12"/>
          <p:cNvSpPr txBox="1"/>
          <p:nvPr/>
        </p:nvSpPr>
        <p:spPr>
          <a:xfrm>
            <a:off x="6400800" y="2880360"/>
            <a:ext cx="4069080" cy="822960"/>
          </a:xfrm>
          <a:prstGeom prst="rect">
            <a:avLst/>
          </a:prstGeom>
          <a:noFill/>
          <a:ln/>
        </p:spPr>
        <p:txBody>
          <a:bodyPr wrap="square" lIns="0" tIns="0" rIns="0" bIns="0" rtlCol="0" anchor="ctr"/>
          <a:lstStyle/>
          <a:p>
            <a:pPr algn="ctr" indent="0" marL="0">
              <a:lnSpc>
                <a:spcPts val="2000"/>
              </a:lnSpc>
              <a:buNone/>
            </a:pPr>
            <a:r>
              <a:rPr lang="en-US" sz="1500" b="1" dirty="0">
                <a:solidFill>
                  <a:srgbClr val="F3C94D"/>
                </a:solidFill>
                <a:latin typeface="Cambria" pitchFamily="34" charset="0"/>
                <a:ea typeface="Cambria" pitchFamily="34" charset="-122"/>
                <a:cs typeface="Cambria" pitchFamily="34" charset="-120"/>
              </a:rPr>
              <a:t>0.840 Acc  •  0.972 Prec</a:t>
            </a:r>
            <a:endParaRPr lang="en-US" sz="1500" dirty="0"/>
          </a:p>
          <a:p>
            <a:pPr algn="ctr" indent="0" marL="0">
              <a:lnSpc>
                <a:spcPts val="2000"/>
              </a:lnSpc>
              <a:buNone/>
            </a:pPr>
            <a:r>
              <a:rPr lang="en-US" sz="1500" b="1" dirty="0">
                <a:solidFill>
                  <a:srgbClr val="F3C94D"/>
                </a:solidFill>
                <a:latin typeface="Cambria" pitchFamily="34" charset="0"/>
                <a:ea typeface="Cambria" pitchFamily="34" charset="-122"/>
                <a:cs typeface="Cambria" pitchFamily="34" charset="-120"/>
              </a:rPr>
              <a:t>0.761 Recall  •  0.854 F1</a:t>
            </a:r>
            <a:endParaRPr lang="en-US" sz="1500" dirty="0"/>
          </a:p>
        </p:txBody>
      </p:sp>
      <p:sp>
        <p:nvSpPr>
          <p:cNvPr id="15" name="Text 13"/>
          <p:cNvSpPr txBox="1"/>
          <p:nvPr/>
        </p:nvSpPr>
        <p:spPr>
          <a:xfrm>
            <a:off x="640080" y="4754880"/>
            <a:ext cx="10881360" cy="1188720"/>
          </a:xfrm>
          <a:prstGeom prst="rect">
            <a:avLst/>
          </a:prstGeom>
          <a:noFill/>
          <a:ln/>
        </p:spPr>
        <p:txBody>
          <a:bodyPr wrap="square" lIns="0" tIns="0" rIns="0" bIns="0" rtlCol="0" anchor="ctr"/>
          <a:lstStyle/>
          <a:p>
            <a:pPr indent="0" marL="0">
              <a:lnSpc>
                <a:spcPts val="1800"/>
              </a:lnSpc>
              <a:buNone/>
            </a:pPr>
            <a:r>
              <a:rPr lang="en-US" sz="1300" b="1" dirty="0">
                <a:solidFill>
                  <a:srgbClr val="13205C"/>
                </a:solidFill>
                <a:latin typeface="Calibri" pitchFamily="34" charset="0"/>
                <a:ea typeface="Calibri" pitchFamily="34" charset="-122"/>
                <a:cs typeface="Calibri" pitchFamily="34" charset="-120"/>
              </a:rPr>
              <a:t>In summary: </a:t>
            </a:r>
            <a:pPr indent="0" marL="0">
              <a:lnSpc>
                <a:spcPts val="1800"/>
              </a:lnSpc>
              <a:buNone/>
            </a:pPr>
            <a:r>
              <a:rPr lang="en-US" sz="1300" dirty="0">
                <a:solidFill>
                  <a:srgbClr val="5B6472"/>
                </a:solidFill>
                <a:latin typeface="Calibri" pitchFamily="34" charset="0"/>
                <a:ea typeface="Calibri" pitchFamily="34" charset="-122"/>
                <a:cs typeface="Calibri" pitchFamily="34" charset="-120"/>
              </a:rPr>
              <a:t>a fast rule check stops clear, well-known mistakes right away, and a language model, grounded in our sources, catches the harder mistakes that need reasoning — both working inside the engineer's normal workflow, and tested fairly against an independent, standards-based check, not the system's own judgment.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5394960" y="502920"/>
            <a:ext cx="548640" cy="548640"/>
          </a:xfrm>
          <a:prstGeom prst="ellipse">
            <a:avLst/>
          </a:prstGeom>
          <a:solidFill>
            <a:srgbClr val="FFFFFF"/>
          </a:solidFill>
          <a:ln w="19050">
            <a:solidFill>
              <a:srgbClr val="13205C"/>
            </a:solidFill>
            <a:prstDash val="solid"/>
          </a:ln>
        </p:spPr>
      </p:sp>
      <p:sp>
        <p:nvSpPr>
          <p:cNvPr id="3" name="Text 1"/>
          <p:cNvSpPr txBox="1"/>
          <p:nvPr/>
        </p:nvSpPr>
        <p:spPr>
          <a:xfrm>
            <a:off x="5394960" y="502920"/>
            <a:ext cx="548640" cy="548640"/>
          </a:xfrm>
          <a:prstGeom prst="rect">
            <a:avLst/>
          </a:prstGeom>
          <a:noFill/>
          <a:ln/>
        </p:spPr>
        <p:txBody>
          <a:bodyPr wrap="square" lIns="0" tIns="0" rIns="0" bIns="0" rtlCol="0" anchor="ctr"/>
          <a:lstStyle/>
          <a:p>
            <a:pPr algn="ctr" indent="0" marL="0">
              <a:lnSpc>
                <a:spcPts val="700"/>
              </a:lnSpc>
              <a:buNone/>
            </a:pPr>
            <a:r>
              <a:rPr lang="en-US" sz="650" b="1" dirty="0">
                <a:solidFill>
                  <a:srgbClr val="13205C"/>
                </a:solidFill>
                <a:latin typeface="Calibri" pitchFamily="34" charset="0"/>
                <a:ea typeface="Calibri" pitchFamily="34" charset="-122"/>
                <a:cs typeface="Calibri" pitchFamily="34" charset="-120"/>
              </a:rPr>
              <a:t>AIB</a:t>
            </a:r>
            <a:endParaRPr lang="en-US" sz="650" dirty="0"/>
          </a:p>
          <a:p>
            <a:pPr algn="ctr" indent="0" marL="0">
              <a:lnSpc>
                <a:spcPts val="700"/>
              </a:lnSpc>
              <a:buNone/>
            </a:pPr>
            <a:r>
              <a:rPr lang="en-US" sz="650" b="1" dirty="0">
                <a:solidFill>
                  <a:srgbClr val="13205C"/>
                </a:solidFill>
                <a:latin typeface="Calibri" pitchFamily="34" charset="0"/>
                <a:ea typeface="Calibri" pitchFamily="34" charset="-122"/>
                <a:cs typeface="Calibri" pitchFamily="34" charset="-120"/>
              </a:rPr>
              <a:t>THINGS</a:t>
            </a:r>
            <a:endParaRPr lang="en-US" sz="650" dirty="0"/>
          </a:p>
        </p:txBody>
      </p:sp>
      <p:sp>
        <p:nvSpPr>
          <p:cNvPr id="4" name="Text 2"/>
          <p:cNvSpPr txBox="1"/>
          <p:nvPr/>
        </p:nvSpPr>
        <p:spPr>
          <a:xfrm>
            <a:off x="0" y="1188720"/>
            <a:ext cx="12191695" cy="274320"/>
          </a:xfrm>
          <a:prstGeom prst="rect">
            <a:avLst/>
          </a:prstGeom>
          <a:noFill/>
          <a:ln/>
        </p:spPr>
        <p:txBody>
          <a:bodyPr wrap="square" lIns="0" tIns="0" rIns="0" bIns="0" rtlCol="0" anchor="ctr"/>
          <a:lstStyle/>
          <a:p>
            <a:pPr algn="ctr" indent="0" marL="0">
              <a:buNone/>
            </a:pPr>
            <a:r>
              <a:rPr lang="en-US" sz="1100" b="1" spc="200" kern="0" dirty="0">
                <a:solidFill>
                  <a:srgbClr val="5B6472"/>
                </a:solidFill>
                <a:latin typeface="Calibri" pitchFamily="34" charset="0"/>
                <a:ea typeface="Calibri" pitchFamily="34" charset="-122"/>
                <a:cs typeface="Calibri" pitchFamily="34" charset="-120"/>
              </a:rPr>
              <a:t>AIBTHINGS 2026  •  PAPER #465</a:t>
            </a:r>
            <a:endParaRPr lang="en-US" sz="1100" dirty="0"/>
          </a:p>
        </p:txBody>
      </p:sp>
      <p:sp>
        <p:nvSpPr>
          <p:cNvPr id="5" name="Shape 3"/>
          <p:cNvSpPr/>
          <p:nvPr/>
        </p:nvSpPr>
        <p:spPr>
          <a:xfrm>
            <a:off x="1005840" y="1737360"/>
            <a:ext cx="640080" cy="1234440"/>
          </a:xfrm>
          <a:prstGeom prst="rect">
            <a:avLst/>
          </a:prstGeom>
          <a:solidFill>
            <a:srgbClr val="13205C"/>
          </a:solidFill>
          <a:ln/>
        </p:spPr>
      </p:sp>
      <p:sp>
        <p:nvSpPr>
          <p:cNvPr id="6" name="Shape 4"/>
          <p:cNvSpPr/>
          <p:nvPr/>
        </p:nvSpPr>
        <p:spPr>
          <a:xfrm>
            <a:off x="10545775" y="1737360"/>
            <a:ext cx="640080" cy="1234440"/>
          </a:xfrm>
          <a:prstGeom prst="rect">
            <a:avLst/>
          </a:prstGeom>
          <a:solidFill>
            <a:srgbClr val="13205C"/>
          </a:solidFill>
          <a:ln/>
        </p:spPr>
      </p:sp>
      <p:sp>
        <p:nvSpPr>
          <p:cNvPr id="7" name="Text 5"/>
          <p:cNvSpPr txBox="1"/>
          <p:nvPr/>
        </p:nvSpPr>
        <p:spPr>
          <a:xfrm>
            <a:off x="1645920" y="1737360"/>
            <a:ext cx="8899855" cy="914400"/>
          </a:xfrm>
          <a:prstGeom prst="rect">
            <a:avLst/>
          </a:prstGeom>
          <a:noFill/>
          <a:ln/>
        </p:spPr>
        <p:txBody>
          <a:bodyPr wrap="square" lIns="0" tIns="0" rIns="0" bIns="0" rtlCol="0" anchor="ctr"/>
          <a:lstStyle/>
          <a:p>
            <a:pPr algn="ctr" indent="0" marL="0">
              <a:buNone/>
            </a:pPr>
            <a:r>
              <a:rPr lang="en-US" sz="4800" b="1" dirty="0">
                <a:solidFill>
                  <a:srgbClr val="1E49E2"/>
                </a:solidFill>
                <a:latin typeface="Cambria" pitchFamily="34" charset="0"/>
                <a:ea typeface="Cambria" pitchFamily="34" charset="-122"/>
                <a:cs typeface="Cambria" pitchFamily="34" charset="-120"/>
              </a:rPr>
              <a:t>THANK YOU</a:t>
            </a:r>
            <a:endParaRPr lang="en-US" sz="4800" dirty="0"/>
          </a:p>
        </p:txBody>
      </p:sp>
      <p:sp>
        <p:nvSpPr>
          <p:cNvPr id="8" name="Text 6"/>
          <p:cNvSpPr txBox="1"/>
          <p:nvPr/>
        </p:nvSpPr>
        <p:spPr>
          <a:xfrm>
            <a:off x="1645920" y="2651760"/>
            <a:ext cx="8899855" cy="457200"/>
          </a:xfrm>
          <a:prstGeom prst="rect">
            <a:avLst/>
          </a:prstGeom>
          <a:noFill/>
          <a:ln/>
        </p:spPr>
        <p:txBody>
          <a:bodyPr wrap="square" lIns="0" tIns="0" rIns="0" bIns="0" rtlCol="0" anchor="ctr"/>
          <a:lstStyle/>
          <a:p>
            <a:pPr algn="ctr" indent="0" marL="0">
              <a:buNone/>
            </a:pPr>
            <a:r>
              <a:rPr lang="en-US" sz="1300" i="1" dirty="0">
                <a:solidFill>
                  <a:srgbClr val="5B6472"/>
                </a:solidFill>
                <a:latin typeface="Calibri" pitchFamily="34" charset="0"/>
                <a:ea typeface="Calibri" pitchFamily="34" charset="-122"/>
                <a:cs typeface="Calibri" pitchFamily="34" charset="-120"/>
              </a:rPr>
              <a:t>Questions and discussion welcome.</a:t>
            </a:r>
            <a:endParaRPr lang="en-US" sz="1300" dirty="0"/>
          </a:p>
        </p:txBody>
      </p:sp>
      <p:sp>
        <p:nvSpPr>
          <p:cNvPr id="9" name="Shape 7"/>
          <p:cNvSpPr/>
          <p:nvPr/>
        </p:nvSpPr>
        <p:spPr>
          <a:xfrm>
            <a:off x="5821528" y="3566160"/>
            <a:ext cx="548640" cy="548640"/>
          </a:xfrm>
          <a:prstGeom prst="ellipse">
            <a:avLst/>
          </a:prstGeom>
          <a:solidFill>
            <a:srgbClr val="FFFFFF"/>
          </a:solidFill>
          <a:ln w="25400">
            <a:solidFill>
              <a:srgbClr val="1F4FD8"/>
            </a:solidFill>
            <a:prstDash val="solid"/>
          </a:ln>
        </p:spPr>
      </p:sp>
      <p:sp>
        <p:nvSpPr>
          <p:cNvPr id="10" name="Text 8"/>
          <p:cNvSpPr txBox="1"/>
          <p:nvPr/>
        </p:nvSpPr>
        <p:spPr>
          <a:xfrm>
            <a:off x="5821528" y="3566160"/>
            <a:ext cx="548640" cy="548640"/>
          </a:xfrm>
          <a:prstGeom prst="rect">
            <a:avLst/>
          </a:prstGeom>
          <a:noFill/>
          <a:ln/>
        </p:spPr>
        <p:txBody>
          <a:bodyPr wrap="square" lIns="0" tIns="0" rIns="0" bIns="0" rtlCol="0" anchor="ctr"/>
          <a:lstStyle/>
          <a:p>
            <a:pPr algn="ctr" indent="0" marL="0">
              <a:buNone/>
            </a:pPr>
            <a:r>
              <a:rPr lang="en-US" sz="1300" b="1" dirty="0">
                <a:solidFill>
                  <a:srgbClr val="1F4FD8"/>
                </a:solidFill>
                <a:latin typeface="Calibri" pitchFamily="34" charset="0"/>
                <a:ea typeface="Calibri" pitchFamily="34" charset="-122"/>
                <a:cs typeface="Calibri" pitchFamily="34" charset="-120"/>
              </a:rPr>
              <a:t>GV</a:t>
            </a:r>
            <a:endParaRPr lang="en-US" sz="1300" dirty="0"/>
          </a:p>
        </p:txBody>
      </p:sp>
      <p:sp>
        <p:nvSpPr>
          <p:cNvPr id="11" name="Text 9"/>
          <p:cNvSpPr txBox="1"/>
          <p:nvPr/>
        </p:nvSpPr>
        <p:spPr>
          <a:xfrm>
            <a:off x="0" y="4206240"/>
            <a:ext cx="12191695" cy="274320"/>
          </a:xfrm>
          <a:prstGeom prst="rect">
            <a:avLst/>
          </a:prstGeom>
          <a:noFill/>
          <a:ln/>
        </p:spPr>
        <p:txBody>
          <a:bodyPr wrap="square" lIns="0" tIns="0" rIns="0" bIns="0" rtlCol="0" anchor="ctr"/>
          <a:lstStyle/>
          <a:p>
            <a:pPr algn="ctr" indent="0" marL="0">
              <a:buNone/>
            </a:pPr>
            <a:r>
              <a:rPr lang="en-US" sz="900" b="1" dirty="0">
                <a:solidFill>
                  <a:srgbClr val="13205C"/>
                </a:solidFill>
                <a:latin typeface="Calibri" pitchFamily="34" charset="0"/>
                <a:ea typeface="Calibri" pitchFamily="34" charset="-122"/>
                <a:cs typeface="Calibri" pitchFamily="34" charset="-120"/>
              </a:rPr>
              <a:t>GRAND VALLEY STATE UNIVERSITY</a:t>
            </a:r>
            <a:endParaRPr lang="en-US" sz="900" dirty="0"/>
          </a:p>
        </p:txBody>
      </p:sp>
      <p:sp>
        <p:nvSpPr>
          <p:cNvPr id="12" name="Text 10"/>
          <p:cNvSpPr txBox="1"/>
          <p:nvPr/>
        </p:nvSpPr>
        <p:spPr>
          <a:xfrm>
            <a:off x="0" y="4663440"/>
            <a:ext cx="12191695" cy="365760"/>
          </a:xfrm>
          <a:prstGeom prst="rect">
            <a:avLst/>
          </a:prstGeom>
          <a:noFill/>
          <a:ln/>
        </p:spPr>
        <p:txBody>
          <a:bodyPr wrap="square" lIns="0" tIns="0" rIns="0" bIns="0" rtlCol="0" anchor="ctr"/>
          <a:lstStyle/>
          <a:p>
            <a:pPr algn="ctr" indent="0" marL="0">
              <a:buNone/>
            </a:pPr>
            <a:r>
              <a:rPr lang="en-US" sz="1600" b="1" dirty="0">
                <a:solidFill>
                  <a:srgbClr val="13205C"/>
                </a:solidFill>
                <a:latin typeface="Cambria" pitchFamily="34" charset="0"/>
                <a:ea typeface="Cambria" pitchFamily="34" charset="-122"/>
                <a:cs typeface="Cambria" pitchFamily="34" charset="-120"/>
              </a:rPr>
              <a:t>Hichri Jaweher &amp; Dr. Samah Mansour</a:t>
            </a:r>
            <a:endParaRPr lang="en-US" sz="1600" dirty="0"/>
          </a:p>
        </p:txBody>
      </p:sp>
      <p:sp>
        <p:nvSpPr>
          <p:cNvPr id="13" name="Text 11"/>
          <p:cNvSpPr txBox="1"/>
          <p:nvPr/>
        </p:nvSpPr>
        <p:spPr>
          <a:xfrm>
            <a:off x="0" y="5029200"/>
            <a:ext cx="12191695" cy="274320"/>
          </a:xfrm>
          <a:prstGeom prst="rect">
            <a:avLst/>
          </a:prstGeom>
          <a:noFill/>
          <a:ln/>
        </p:spPr>
        <p:txBody>
          <a:bodyPr wrap="square" lIns="0" tIns="0" rIns="0" bIns="0" rtlCol="0" anchor="ctr"/>
          <a:lstStyle/>
          <a:p>
            <a:pPr algn="ctr" indent="0" marL="0">
              <a:buNone/>
            </a:pPr>
            <a:r>
              <a:rPr lang="en-US" sz="1050" dirty="0">
                <a:solidFill>
                  <a:srgbClr val="5B6472"/>
                </a:solidFill>
                <a:latin typeface="Calibri" pitchFamily="34" charset="0"/>
                <a:ea typeface="Calibri" pitchFamily="34" charset="-122"/>
                <a:cs typeface="Calibri" pitchFamily="34" charset="-120"/>
              </a:rPr>
              <a:t>Grand Valley State University</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2026-09-06T20:36:35Z</dcterms:created>
  <dcterms:modified xsi:type="dcterms:W3CDTF">2026-09-06T20:36:36Z</dcterms:modified>
</cp:coreProperties>
</file>