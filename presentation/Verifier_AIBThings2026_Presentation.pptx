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AIBThings 2026</a:t>
            </a:r>
            <a:pPr indent="0" marL="0">
              <a:buNone/>
            </a:pPr>
            <a:r>
              <a:rPr lang="en-US" sz="12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Paper #465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868680" cy="8686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6" name="Image 0" descr="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1460297"/>
            <a:ext cx="416966" cy="4169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317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But Verify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3375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RAG System for Real-Time Detection and Correction of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Hallucinations in Automotive Engineering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58368" y="4892040"/>
            <a:ext cx="292608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51206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Jaweher Hichri</a:t>
            </a:r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&amp;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Sameh Mansour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5532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Valley State University, MI, USA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" name="Image 0" descr="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44168" y="457200"/>
            <a:ext cx="9838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LLMs Get Automotive Facts Wrong</a:t>
            </a:r>
            <a:endParaRPr lang="en-US" sz="2800" dirty="0"/>
          </a:p>
        </p:txBody>
      </p:sp>
      <p:pic>
        <p:nvPicPr>
          <p:cNvPr id="5" name="Image 1" descr="shiel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11503152" y="320040"/>
            <a:ext cx="310896" cy="3108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17320"/>
            <a:ext cx="5623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increasingly use LLMs (GPT-4, Claude, LLaMA) to draft code, parse requirements, and check ADAS / standards compliance.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LLMs hallucinate — they generate confident, fluent, and wrong output.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safety-critical domain, that isn't a nuisance — it's an ISO 26262 compliance risk.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492240" y="1371600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76656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“Vehicle.Motor.Velocity”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766560" y="1847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VSS path — the real one is Vehicle.Speed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766560" y="2267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COVESA VSS 4.0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492240" y="2852928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766560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“ABS responds in 1 ms”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766560" y="33284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validated range is 50–150 ms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92240" y="4334256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766560" y="44256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“ASIL Z”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766560" y="480974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exist — only A, B, C, D are valid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766560" y="5230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26262:2018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VSS example is reused in Sec. IV-A to construct our evaluation corpus; related VSS hallucinations in code generation are also reported by Pavel et al.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" name="Image 0" descr="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44168" y="457200"/>
            <a:ext cx="9838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Gaps the Literature Hasn't Closed</a:t>
            </a:r>
            <a:endParaRPr lang="en-US" sz="2800" dirty="0"/>
          </a:p>
        </p:txBody>
      </p:sp>
      <p:pic>
        <p:nvPicPr>
          <p:cNvPr id="5" name="Image 1" descr="shiel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11503152" y="320040"/>
            <a:ext cx="310896" cy="3108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of 14 papers on LLM hallucination (2022–2026)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196596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6868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Subdomain Gap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2004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benchmark evaluates LLM hallucinations across all four critical automotive subdomains at once: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68680" y="416052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2C378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68680" y="41605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200400" y="416052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2C378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200400" y="41605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68680" y="4727448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2C378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68680" y="47274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AD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200400" y="4727448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2C3785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200400" y="47274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172200" y="196596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922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B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49224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Usability Gap</a:t>
            </a:r>
            <a:endParaRPr lang="en-US" sz="2100" dirty="0"/>
          </a:p>
        </p:txBody>
      </p:sp>
      <p:sp>
        <p:nvSpPr>
          <p:cNvPr id="22" name="Text 18"/>
          <p:cNvSpPr txBox="1"/>
          <p:nvPr/>
        </p:nvSpPr>
        <p:spPr>
          <a:xfrm>
            <a:off x="6492240" y="324612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deployable, real-time tool actually detects, tests, AND fixes these errors.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SelfCheckGPT: 1.5–4 s latency — too slow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AST parsing: code only, not natural language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Most tools flag errors but don't fix them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" name="Image 0" descr="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44168" y="457200"/>
            <a:ext cx="9838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2800" dirty="0"/>
          </a:p>
        </p:txBody>
      </p:sp>
      <p:pic>
        <p:nvPicPr>
          <p:cNvPr id="5" name="Image 1" descr="shiel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11503152" y="320040"/>
            <a:ext cx="310896" cy="3108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1732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1600200" y="1417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literature review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600200" y="18288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Gap A and Gap B across 14 recent papers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56032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2560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29718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end-to-end, real-time detect-and-correct pipeline — Chrome extension + Streamlit dashboard, built into the engineer's existing workflow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703320"/>
            <a:ext cx="1005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3703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cross-subdomain evaluation corpus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600200" y="41148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standards-traced cases across 4 subdomains — the first of its kind in automotive hallucination research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68680" y="4892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detection algorithm — a deployable mapping of a causal hallucination taxonomy onto a working, two-layer architecture.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" name="Image 0" descr="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44168" y="457200"/>
            <a:ext cx="9838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Seven-Stage Hybrid Pipeline</a:t>
            </a:r>
            <a:endParaRPr lang="en-US" sz="2800" dirty="0"/>
          </a:p>
        </p:txBody>
      </p:sp>
      <p:pic>
        <p:nvPicPr>
          <p:cNvPr id="5" name="Image 1" descr="shiel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11503152" y="320040"/>
            <a:ext cx="310896" cy="310896"/>
          </a:xfrm>
          <a:prstGeom prst="rect">
            <a:avLst/>
          </a:prstGeom>
        </p:spPr>
      </p:pic>
      <p:pic>
        <p:nvPicPr>
          <p:cNvPr id="6" name="Image 2" descr="pipeline_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11155680" cy="427939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run first (S1–S2); the LLM judge (S3) only sees what survives them; a critical rule match always overrides the judge (S4).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" name="Image 0" descr="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44168" y="457200"/>
            <a:ext cx="9838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Six Authoritative Sources</a:t>
            </a:r>
            <a:endParaRPr lang="en-US" sz="2800" dirty="0"/>
          </a:p>
        </p:txBody>
      </p:sp>
      <p:pic>
        <p:nvPicPr>
          <p:cNvPr id="5" name="Image 1" descr="shiel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11503152" y="320040"/>
            <a:ext cx="310896" cy="310896"/>
          </a:xfrm>
          <a:prstGeom prst="rect">
            <a:avLst/>
          </a:prstGeom>
        </p:spPr>
      </p:pic>
      <p:pic>
        <p:nvPicPr>
          <p:cNvPr id="6" name="Image 2" descr="architecture_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10515600" cy="491032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" name="Image 0" descr="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44168" y="457200"/>
            <a:ext cx="9838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 Fixed Before Any System Run</a:t>
            </a:r>
            <a:endParaRPr lang="en-US" sz="2800" dirty="0"/>
          </a:p>
        </p:txBody>
      </p:sp>
      <p:pic>
        <p:nvPicPr>
          <p:cNvPr id="5" name="Image 1" descr="shiel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11503152" y="320040"/>
            <a:ext cx="310896" cy="3108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evaluation flaw: grading a system against its own risk score. Our corpus's labels are fixed by construction, before any system run — eliminating that circularity.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48640" y="23317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548640" y="2468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246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cases,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per subdomain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43400" y="23317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343400" y="2468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 / 116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246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vs.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control statements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38160" y="233172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138160" y="2468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8412480" y="3246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alert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 hallucinated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140 clearly corrupted facts  +  44 borderline / hedged-wording variants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label traces to one of six reference standards — auditable, not a single expert's unstructured judgment.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" name="Image 0" descr="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44168" y="457200"/>
            <a:ext cx="9838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 Accuracy, 0.76 Recall, Four False Alarms</a:t>
            </a:r>
            <a:endParaRPr lang="en-US" sz="2800" dirty="0"/>
          </a:p>
        </p:txBody>
      </p:sp>
      <p:pic>
        <p:nvPicPr>
          <p:cNvPr id="5" name="Image 1" descr="shiel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11503152" y="320040"/>
            <a:ext cx="310896" cy="310896"/>
          </a:xfrm>
          <a:prstGeom prst="rect">
            <a:avLst/>
          </a:prstGeom>
        </p:spPr>
      </p:pic>
      <p:pic>
        <p:nvPicPr>
          <p:cNvPr id="6" name="Image 2" descr="fig1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17320"/>
            <a:ext cx="6949440" cy="312724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22960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 / 184</a:t>
            </a:r>
            <a:endParaRPr lang="en-US" sz="2600" dirty="0"/>
          </a:p>
        </p:txBody>
      </p:sp>
      <p:sp>
        <p:nvSpPr>
          <p:cNvPr id="8" name="Text 3"/>
          <p:cNvSpPr txBox="1"/>
          <p:nvPr/>
        </p:nvSpPr>
        <p:spPr>
          <a:xfrm>
            <a:off x="8229600" y="20756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caught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8229600" y="27706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5"/>
          <p:cNvSpPr txBox="1"/>
          <p:nvPr/>
        </p:nvSpPr>
        <p:spPr>
          <a:xfrm>
            <a:off x="8229600" y="3246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alarms, out of 116 correct statements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8229600" y="39410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1.26 s</a:t>
            </a:r>
            <a:endParaRPr lang="en-US" sz="2600" dirty="0"/>
          </a:p>
        </p:txBody>
      </p:sp>
      <p:sp>
        <p:nvSpPr>
          <p:cNvPr id="12" name="Text 7"/>
          <p:cNvSpPr txBox="1"/>
          <p:nvPr/>
        </p:nvSpPr>
        <p:spPr>
          <a:xfrm>
            <a:off x="8229600" y="44165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latency (deployed config.)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calibrated 40% alert threshold, n = 300, 95% Wilson confidence intervals.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" name="Image 0" descr="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44168" y="457200"/>
            <a:ext cx="9838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Subdomain Covered — Layer by Layer</a:t>
            </a:r>
            <a:endParaRPr lang="en-US" sz="2800" dirty="0"/>
          </a:p>
        </p:txBody>
      </p:sp>
      <p:pic>
        <p:nvPicPr>
          <p:cNvPr id="5" name="Image 1" descr="shiel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11503152" y="320040"/>
            <a:ext cx="310896" cy="3108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Per-subdomain accuracy (full system)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874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2743200" y="1929384"/>
            <a:ext cx="2926080" cy="27432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0" y="1929384"/>
            <a:ext cx="257495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806440" y="18745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0.880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4963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2743200" y="2551176"/>
            <a:ext cx="2926080" cy="27432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3" name="Shape 9"/>
          <p:cNvSpPr/>
          <p:nvPr/>
        </p:nvSpPr>
        <p:spPr>
          <a:xfrm>
            <a:off x="2743200" y="2551176"/>
            <a:ext cx="2302825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806440" y="24963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0.787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31181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AD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2743200" y="3172968"/>
            <a:ext cx="2926080" cy="27432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17" name="Shape 13"/>
          <p:cNvSpPr/>
          <p:nvPr/>
        </p:nvSpPr>
        <p:spPr>
          <a:xfrm>
            <a:off x="2743200" y="3172968"/>
            <a:ext cx="2378903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806440" y="311810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0.813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37398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2743200" y="3794760"/>
            <a:ext cx="2926080" cy="27432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/>
        </p:spPr>
      </p:sp>
      <p:sp>
        <p:nvSpPr>
          <p:cNvPr id="21" name="Shape 17"/>
          <p:cNvSpPr/>
          <p:nvPr/>
        </p:nvSpPr>
        <p:spPr>
          <a:xfrm>
            <a:off x="2743200" y="3794760"/>
            <a:ext cx="2574950" cy="27432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5806440" y="37398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0.880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903720" y="1417320"/>
            <a:ext cx="4709160" cy="4709160"/>
          </a:xfrm>
          <a:prstGeom prst="roundRect">
            <a:avLst>
              <a:gd name="adj" fmla="val 1942"/>
            </a:avLst>
          </a:prstGeom>
          <a:solidFill>
            <a:srgbClr val="1E276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223760" y="1645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does the hybrid design matter?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722376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only (S1)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7223760" y="26700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A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0.033 recall</a:t>
            </a:r>
            <a:endParaRPr lang="en-US" sz="2600" dirty="0"/>
          </a:p>
        </p:txBody>
      </p:sp>
      <p:sp>
        <p:nvSpPr>
          <p:cNvPr id="27" name="Text 23"/>
          <p:cNvSpPr txBox="1"/>
          <p:nvPr/>
        </p:nvSpPr>
        <p:spPr>
          <a:xfrm>
            <a:off x="722376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precision, zero false positives — but narrow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7223760" y="3794760"/>
            <a:ext cx="411480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223760" y="3977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(S1 + S3)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7223760" y="42702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0.761 recall</a:t>
            </a:r>
            <a:endParaRPr lang="en-US" sz="2600" dirty="0"/>
          </a:p>
        </p:txBody>
      </p:sp>
      <p:sp>
        <p:nvSpPr>
          <p:cNvPr id="31" name="Text 27"/>
          <p:cNvSpPr txBox="1"/>
          <p:nvPr/>
        </p:nvSpPr>
        <p:spPr>
          <a:xfrm>
            <a:off x="7223760" y="4800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judge provides the large majority of detection coverage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" name="Image 0" descr="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44168" y="457200"/>
            <a:ext cx="9838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Threshold Recalibration, Made Transparent</a:t>
            </a:r>
            <a:endParaRPr lang="en-US" sz="2800" dirty="0"/>
          </a:p>
        </p:txBody>
      </p:sp>
      <p:pic>
        <p:nvPicPr>
          <p:cNvPr id="5" name="Image 1" descr="shiel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11503152" y="320040"/>
            <a:ext cx="310896" cy="3108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6304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judge's scoring rubric concentrates single-violation detections at 45%.</a:t>
            </a:r>
            <a:endParaRPr lang="en-US" sz="1550" dirty="0"/>
          </a:p>
          <a:p>
            <a:pPr indent="0" marL="0">
              <a:lnSpc>
                <a:spcPts val="2300"/>
              </a:lnSpc>
              <a:buNone/>
            </a:pPr>
            <a:endParaRPr lang="en-US" sz="15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original 50% threshold:  </a:t>
            </a:r>
            <a:pPr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0.060 recall (11 cases caught)</a:t>
            </a:r>
            <a:endParaRPr lang="en-US" sz="15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Recalibrated to 40%:  </a:t>
            </a:r>
            <a:pPr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0.761 recall (140 cases caught)</a:t>
            </a:r>
            <a:endParaRPr lang="en-US" sz="15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5720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 a transparent, fixable calibration effect — not hidden in the headline numbers.</a:t>
            </a:r>
            <a:endParaRPr lang="en-US" sz="1300" dirty="0"/>
          </a:p>
        </p:txBody>
      </p:sp>
      <p:pic>
        <p:nvPicPr>
          <p:cNvPr id="8" name="Image 2" descr="fig1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5212080" cy="23500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0" y="41605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lower than single-domain tools — but they don't cover four subdomains at once, and this is context, not a controlled re-run on the same data.</a:t>
            </a:r>
            <a:endParaRPr lang="en-US" sz="1250" dirty="0"/>
          </a:p>
        </p:txBody>
      </p:sp>
      <p:sp>
        <p:nvSpPr>
          <p:cNvPr id="10" name="Text 5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" name="Image 0" descr="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44168" y="457200"/>
            <a:ext cx="9838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800" dirty="0"/>
          </a:p>
        </p:txBody>
      </p:sp>
      <p:pic>
        <p:nvPicPr>
          <p:cNvPr id="5" name="Image 1" descr="shiel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11503152" y="320040"/>
            <a:ext cx="310896" cy="31089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stated plainly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1031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is constructed (fault-injected), not harvested from live LLM output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from a single annotator — though each is auditable against a published standard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base: 146 curated entries, a slice of the full standards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217920" y="14173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9224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21031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(ChromaDB) to resist paraphrase evasion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local LLaMA 8B — removing reliance on external cloud APIs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private knowledge bases for OEM-specific guidelines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architecture to aerospace and medical devices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669280" cy="566928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54864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4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7150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Scalable Template for Trustworthy AI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33172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stop Data-Driven errors in under 1 ms, with zero false alarms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retrieval-grounded LLM judge catches Reasoning-Driven errors and drafts standards-backed repairs</a:t>
            </a:r>
            <a:endParaRPr lang="en-US" sz="155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entirely inside the engineer's existing workflow, in real time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434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0.840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9560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4434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0.972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49560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4434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0.761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49560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4434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0.854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49560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4360" y="5532120"/>
            <a:ext cx="1097280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5715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jaweherhichri07@gmail.com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2026-09-04T23:16:29Z</dcterms:created>
  <dcterms:modified xsi:type="dcterms:W3CDTF">2026-09-04T23:16:29Z</dcterms:modified>
</cp:coreProperties>
</file>