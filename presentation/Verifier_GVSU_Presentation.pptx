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0698480" y="-1005840"/>
            <a:ext cx="2743200" cy="2743200"/>
          </a:xfrm>
          <a:prstGeom prst="rect">
            <a:avLst/>
          </a:prstGeom>
        </p:spPr>
      </p:pic>
      <p:pic>
        <p:nvPicPr>
          <p:cNvPr id="3" name="Image 1" descr="/tmp/claude-0/-home-claude/58921499-5e30-5e49-a717-63e63c139736/scratchpad/gvsu_deck/orb_lin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188720" y="539496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40080" y="231343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0080" y="2313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SLIDE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2651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657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&amp; Correction of LLM Hallucinations in Automotive AI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507492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914400" y="5074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 Hichri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9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Dr. Sameh Mansour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600" dirty="0"/>
          </a:p>
        </p:txBody>
      </p:sp>
      <p:pic>
        <p:nvPicPr>
          <p:cNvPr id="14" name="Image 2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166360"/>
            <a:ext cx="868680" cy="868680"/>
          </a:xfrm>
          <a:prstGeom prst="rect">
            <a:avLst/>
          </a:prstGeom>
        </p:spPr>
      </p:pic>
      <p:pic>
        <p:nvPicPr>
          <p:cNvPr id="15" name="Image 3" descr="/tmp/claude-0/-home-claude/58921499-5e30-5e49-a717-63e63c139736/scratchpad/gvsu_deck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615" y="5287975"/>
            <a:ext cx="625450" cy="62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MOTIVATION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AI Sounds Sure — But Isn't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entering safety-critical engineering work. They can also be confidently wrong.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0" name="Image 0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76" y="2404872"/>
            <a:ext cx="621792" cy="621792"/>
          </a:xfrm>
          <a:prstGeom prst="rect">
            <a:avLst/>
          </a:prstGeom>
        </p:spPr>
      </p:pic>
      <p:pic>
        <p:nvPicPr>
          <p:cNvPr id="11" name="Image 1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927" y="2491923"/>
            <a:ext cx="447690" cy="4476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Vehicle.Motor.Velocity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Vehicle.Speed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67784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7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2404872"/>
            <a:ext cx="621792" cy="621792"/>
          </a:xfrm>
          <a:prstGeom prst="rect">
            <a:avLst/>
          </a:prstGeom>
        </p:spPr>
      </p:pic>
      <p:pic>
        <p:nvPicPr>
          <p:cNvPr id="18" name="Image 3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631" y="2491923"/>
            <a:ext cx="447690" cy="4476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50664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50664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Latency, Fabricated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4550664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550664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such spec exists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095488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24" name="Image 4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1284" y="2404872"/>
            <a:ext cx="621792" cy="621792"/>
          </a:xfrm>
          <a:prstGeom prst="rect">
            <a:avLst/>
          </a:prstGeom>
        </p:spPr>
      </p:pic>
      <p:pic>
        <p:nvPicPr>
          <p:cNvPr id="25" name="Image 5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8335" y="2491923"/>
            <a:ext cx="447690" cy="44769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78368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278368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Z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8278368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278368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– D exist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640080" y="502920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1005840" y="50292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35–60%</a:t>
            </a:r>
            <a:endParaRPr lang="en-US" sz="3800" dirty="0"/>
          </a:p>
        </p:txBody>
      </p:sp>
      <p:sp>
        <p:nvSpPr>
          <p:cNvPr id="32" name="Text 24"/>
          <p:cNvSpPr txBox="1"/>
          <p:nvPr/>
        </p:nvSpPr>
        <p:spPr>
          <a:xfrm>
            <a:off x="4114800" y="502920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hallucination errors with hybrid RAG systems like ours, compared to a language model alone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0195560" y="50292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[Joshi, 2025]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 KEY CONTRIBUTIONS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Papers Reviewed. Two Gaps Found.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606040"/>
            <a:ext cx="1371600" cy="1371600"/>
          </a:xfrm>
          <a:prstGeom prst="rect">
            <a:avLst/>
          </a:prstGeom>
        </p:spPr>
      </p:pic>
      <p:pic>
        <p:nvPicPr>
          <p:cNvPr id="10" name="Image 1" descr="/tmp/claude-0/-home-claude/58921499-5e30-5e49-a717-63e63c139736/scratchpad/gvsu_deck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798064"/>
            <a:ext cx="987552" cy="9875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Subdomain Gap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6217920" y="210312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4" name="Image 2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606040"/>
            <a:ext cx="1371600" cy="1371600"/>
          </a:xfrm>
          <a:prstGeom prst="rect">
            <a:avLst/>
          </a:prstGeom>
        </p:spPr>
      </p:pic>
      <p:pic>
        <p:nvPicPr>
          <p:cNvPr id="15" name="Image 3" descr="/tmp/claude-0/-home-claude/58921499-5e30-5e49-a717-63e63c139736/scratchpad/gvsu_deck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798064"/>
            <a:ext cx="987552" cy="98755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2940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76656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Usability Gap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 KEY CONTRIBUTIONS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Contributions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2697480"/>
            <a:ext cx="914400" cy="914400"/>
          </a:xfrm>
          <a:prstGeom prst="rect">
            <a:avLst/>
          </a:prstGeom>
        </p:spPr>
      </p:pic>
      <p:pic>
        <p:nvPicPr>
          <p:cNvPr id="10" name="Image 1" descr="/tmp/claude-0/-home-claude/58921499-5e30-5e49-a717-63e63c139736/scratchpad/gvsu_deck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82549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papers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4" name="Image 2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697480"/>
            <a:ext cx="914400" cy="914400"/>
          </a:xfrm>
          <a:prstGeom prst="rect">
            <a:avLst/>
          </a:prstGeom>
        </p:spPr>
      </p:pic>
      <p:pic>
        <p:nvPicPr>
          <p:cNvPr id="15" name="Image 3" descr="/tmp/claude-0/-home-claude/58921499-5e30-5e49-a717-63e63c139736/scratchpad/gvsu_deck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825496"/>
            <a:ext cx="658368" cy="6583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+ Dashboard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9552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9" name="Image 4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2697480"/>
            <a:ext cx="914400" cy="914400"/>
          </a:xfrm>
          <a:prstGeom prst="rect">
            <a:avLst/>
          </a:prstGeom>
        </p:spPr>
      </p:pic>
      <p:pic>
        <p:nvPicPr>
          <p:cNvPr id="20" name="Image 5" descr="/tmp/claude-0/-home-claude/58921499-5e30-5e49-a717-63e63c139736/scratchpad/gvsu_deck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2825496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300-Case Corpus</a:t>
            </a:r>
            <a:endParaRPr lang="en-US" sz="1750" dirty="0"/>
          </a:p>
        </p:txBody>
      </p:sp>
      <p:sp>
        <p:nvSpPr>
          <p:cNvPr id="22" name="Text 14"/>
          <p:cNvSpPr txBox="1"/>
          <p:nvPr/>
        </p:nvSpPr>
        <p:spPr>
          <a:xfrm>
            <a:off x="82296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subdomains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Seven-Stage Hybrid Pipeline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pipeline_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965960"/>
            <a:ext cx="64008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precision — 25 rules + 7 regexes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1757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8216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8216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5 ms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8216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retrieval, top-5 KB matches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9506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5965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35965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300–400 ms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5965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model-agnostic (gpt-oss-120B via Groq)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7255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13714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3714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Fusion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3714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rule-layer match always overrides the judge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Six Automotive Standards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0574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32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267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COVESA VSS 4.0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2491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signal paths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8640" y="182880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7240" y="20574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15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7240" y="2267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26262:2018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87240" y="272491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safety, ASIL A–D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77200" y="182880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5800" y="20574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DD1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5800" y="226771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SOTIF ISO 21448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05800" y="272491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 the intended function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703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32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9136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SAE J1979 / CAN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3708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diagnostic codes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58640" y="34747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7240" y="3703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15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87240" y="39136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AUTOSAR R22-11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87240" y="43708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specs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77200" y="34747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05800" y="3703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DD1C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05800" y="3913632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HaluEval catalog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05800" y="43708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overconfidence patterns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5840" y="52120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3383280" y="52120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curated, bidirectional knowledge-base entries — each pairs the correct fact with its common hallucinated variant, retrieved via TF-IDF in about 5 ms and reindexed instantly whenever a standard updates.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Truth, Fixed in Advance</a:t>
            </a:r>
            <a:endParaRPr lang="en-US" sz="3000" dirty="0"/>
          </a:p>
        </p:txBody>
      </p:sp>
      <p:pic>
        <p:nvPicPr>
          <p:cNvPr id="8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43200"/>
            <a:ext cx="1737360" cy="1737360"/>
          </a:xfrm>
          <a:prstGeom prst="rect">
            <a:avLst/>
          </a:prstGeom>
        </p:spPr>
      </p:pic>
      <p:pic>
        <p:nvPicPr>
          <p:cNvPr id="9" name="Image 1" descr="/tmp/claude-0/-home-claude/58921499-5e30-5e49-a717-63e63c139736/scratchpad/gvsu_deck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06" y="3160166"/>
            <a:ext cx="903427" cy="9034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Fixed Before Any Run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auditable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92240" y="178308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9224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98280" y="178308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09828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90982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subdomain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492240" y="3977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098280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9098280" y="3977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000" dirty="0"/>
          </a:p>
        </p:txBody>
      </p:sp>
      <p:sp>
        <p:nvSpPr>
          <p:cNvPr id="23" name="Text 19"/>
          <p:cNvSpPr txBox="1"/>
          <p:nvPr/>
        </p:nvSpPr>
        <p:spPr>
          <a:xfrm>
            <a:off x="909828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controls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— All 300 Cases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64992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9904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089904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14816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814816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814816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/ 184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34340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C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1.26s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Across Subdomains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by Subdomain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83464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2834640"/>
            <a:ext cx="2494483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356616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3566160"/>
            <a:ext cx="2494483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2356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429768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4297680"/>
            <a:ext cx="2381098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2356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502920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7480" y="5029200"/>
            <a:ext cx="2230862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23560" y="4983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Hybrid Matters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0.033 recall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System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 recall</a:t>
            </a:r>
            <a:endParaRPr lang="en-US" sz="42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Calibration Finding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194560"/>
            <a:ext cx="868680" cy="868680"/>
          </a:xfrm>
          <a:prstGeom prst="rect">
            <a:avLst/>
          </a:prstGeom>
        </p:spPr>
      </p:pic>
      <p:pic>
        <p:nvPicPr>
          <p:cNvPr id="10" name="Image 1" descr="/tmp/claude-0/-home-claude/58921499-5e30-5e49-a717-63e63c139736/scratchpad/gvsu_deck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055" y="2316175"/>
            <a:ext cx="625450" cy="6254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012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Recalibration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 →  11 caught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 →  140 caught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openly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192024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6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4560"/>
            <a:ext cx="777240" cy="777240"/>
          </a:xfrm>
          <a:prstGeom prst="rect">
            <a:avLst/>
          </a:prstGeom>
        </p:spPr>
      </p:pic>
      <p:pic>
        <p:nvPicPr>
          <p:cNvPr id="17" name="Image 3" descr="/tmp/claude-0/-home-claude/58921499-5e30-5e49-a717-63e63c139736/scratchpad/gvsu_deck/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494" y="2303374"/>
            <a:ext cx="559613" cy="55961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9808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583680" y="3200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Fault-injected, not live-harvested cases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37673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Single-reviewer labels (standards-auditable)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83680" y="4334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146-entry KB — a curated slice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0" y="5212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dense retrieval  •  local model  •  new domains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Verifier Compares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14350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9546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4231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SelfCheckGPT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check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14350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4350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only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1.5–4 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39546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9546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only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3154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Validation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14350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4350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fixes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39546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39546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code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388620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3886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RAG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14350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14350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26948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39546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39546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46177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AF7F5"/>
          </a:solidFill>
          <a:ln w="12700">
            <a:solidFill>
              <a:srgbClr val="3DD1CC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68680" y="46177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01752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01752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Reasoning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14350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14350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scored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26948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26948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 s mean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39546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39546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standards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 reports 91.43% recall, but on one subdomain (ADAS) at 1.5–4 s latency — a simpler, single-category task. Figures above are each measured on the original authors' own datasets, not a controlled re-run on our corpus; that re-run is planned future work.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DIRECTIONS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Trust,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speed. A grounded LLM for judgment.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3063240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9244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55548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555480" y="4142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4846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4919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5623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5696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9692640" y="-1280160"/>
            <a:ext cx="3291840" cy="3291840"/>
          </a:xfrm>
          <a:prstGeom prst="rect">
            <a:avLst/>
          </a:prstGeom>
        </p:spPr>
      </p:pic>
      <p:pic>
        <p:nvPicPr>
          <p:cNvPr id="3" name="Image 1" descr="/tmp/claude-0/-home-claude/58921499-5e30-5e49-a717-63e63c139736/scratchpad/gvsu_deck/orb_lin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463040" y="4846320"/>
            <a:ext cx="2926080" cy="2926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245059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640080" y="24505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621792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4892040"/>
            <a:ext cx="7498080" cy="1234440"/>
          </a:xfrm>
          <a:prstGeom prst="roundRect">
            <a:avLst>
              <a:gd name="adj" fmla="val 8889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914400" y="48920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 Hichri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500" dirty="0"/>
          </a:p>
        </p:txBody>
      </p:sp>
      <p:pic>
        <p:nvPicPr>
          <p:cNvPr id="11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074920"/>
            <a:ext cx="868680" cy="868680"/>
          </a:xfrm>
          <a:prstGeom prst="rect">
            <a:avLst/>
          </a:prstGeom>
        </p:spPr>
      </p:pic>
      <p:pic>
        <p:nvPicPr>
          <p:cNvPr id="12" name="Image 3" descr="/tmp/claude-0/-home-claude/58921499-5e30-5e49-a717-63e63c139736/scratchpad/gvsu_deck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975" y="5196535"/>
            <a:ext cx="625450" cy="6254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2026-09-05T06:11:38Z</dcterms:created>
  <dcterms:modified xsi:type="dcterms:W3CDTF">2026-09-05T06:11:38Z</dcterms:modified>
</cp:coreProperties>
</file>